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82" r:id="rId3"/>
    <p:sldId id="383" r:id="rId4"/>
    <p:sldId id="408" r:id="rId5"/>
    <p:sldId id="395" r:id="rId6"/>
    <p:sldId id="396" r:id="rId7"/>
    <p:sldId id="397" r:id="rId8"/>
    <p:sldId id="398" r:id="rId9"/>
    <p:sldId id="407" r:id="rId10"/>
    <p:sldId id="400" r:id="rId11"/>
    <p:sldId id="409" r:id="rId12"/>
    <p:sldId id="344" r:id="rId13"/>
    <p:sldId id="399" r:id="rId14"/>
    <p:sldId id="401" r:id="rId15"/>
    <p:sldId id="402" r:id="rId16"/>
    <p:sldId id="403" r:id="rId17"/>
    <p:sldId id="404" r:id="rId18"/>
    <p:sldId id="405" r:id="rId19"/>
    <p:sldId id="406" r:id="rId20"/>
    <p:sldId id="410" r:id="rId21"/>
    <p:sldId id="411" r:id="rId22"/>
    <p:sldId id="412" r:id="rId23"/>
    <p:sldId id="413" r:id="rId24"/>
    <p:sldId id="414" r:id="rId25"/>
    <p:sldId id="415" r:id="rId26"/>
    <p:sldId id="394" r:id="rId27"/>
    <p:sldId id="416" r:id="rId28"/>
    <p:sldId id="417" r:id="rId29"/>
    <p:sldId id="418" r:id="rId30"/>
    <p:sldId id="421" r:id="rId31"/>
    <p:sldId id="419" r:id="rId32"/>
    <p:sldId id="420" r:id="rId33"/>
    <p:sldId id="422" r:id="rId34"/>
    <p:sldId id="423" r:id="rId35"/>
    <p:sldId id="38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7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A79B-8D90-0032-7B7E-76ACFC287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F4A53-5AD9-7607-10FC-3D6ABB378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B2BCE-4663-667C-97D5-F22B09EC3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4FBC3-2749-E0B2-4BE1-45DB1EA8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BCBF0-E8AF-9B4E-DF4B-8C98A25E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09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3812-F905-0AA8-7124-F75AA1702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5E0BA-F046-2E0C-35BB-7EBAAB650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C332-DECD-952A-1BF5-DF02CEBE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7FEE2-E409-9B6A-3D0D-C28C68BEC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DD662-E9F2-4AFF-64C5-5EA25234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99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67CD-6C45-1E06-93A4-A231ACB8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1465A-D66F-123F-9CDB-5EB0CC20A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9FD8E-2268-6EA7-860C-D3261B282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8EBA-E8F9-B918-23A3-97D6C162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6F4D3-E9E9-99CD-0B9F-5BCEFF9DF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262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CF6A6-855A-307D-9C9B-201E809F4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951A4-9654-E374-430B-5A7A50355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FEBBB-FCC4-EF10-4965-28A1DF5D6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66659-0120-9CA1-9701-93281F5F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1ABDE-296C-D6F7-818B-366FB9A58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26AFF-0989-A19A-4568-1C34AA10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780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A987-0C8A-58C0-86C8-F9AE4B971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86FF1-8CDF-C809-B2A2-D348285D3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83746-73AA-9945-6196-E68C1306A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D6CF4-C098-6086-68BB-CD0FF6386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73EDB-2E5A-7A28-3C2D-0707A0AA74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F60E9-3A11-C541-9834-977705C4C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0A9C0D-1A38-5636-A895-33DC0E17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A6F596-39CA-CA2F-3327-4CC29BCE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46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93CE-2814-74C0-0E02-F39AB720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445FC-CD21-085A-1345-12D92EB9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842D2-6B0D-991E-65D4-D49760B8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7A0A0-C622-C66C-E03B-1614D9FE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37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5065D2-0FEC-8403-698F-50B9B5EB0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B6308-850B-ECC0-FAA8-15945B26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684FE-ADD5-146B-0BD8-C2111704B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02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F2DF6-FC15-99B0-3489-FC27A5EB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0A04-B767-813A-1501-949E6F79B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69D2C-8099-CD29-CFEF-346AAFF5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6B68B-BE52-C5B6-4A17-500CF87B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0653A-51DD-1201-C689-FDDB359B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BB92D-F061-D0BC-22CB-13E1932E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14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D712-3395-8C32-6769-CCB0EF07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7ADE9-9566-B50C-123A-4D4D33EFE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1EC1A-3737-C9F2-7AD1-5BE3C47D9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FF3EF-C560-F103-28CA-0138F1A7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C64BD-38B6-6052-9A9A-1EE92B5D5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4048A-6FC9-F8EE-4A28-A2DC3BABD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38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8A7D-4BBA-48D4-9AD1-EE0D73E7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AF6BA-C491-1E5B-71E7-91D383E0A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7AFAC-0C0B-184F-02F3-39F25335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028E1-D201-B656-04C7-C39878231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9C0C1-97B5-1B98-F697-FC5257C0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2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A0DF1-7A64-FAA7-35B8-B03E3C6F5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03528-AED9-FF4F-E96E-B11EB8519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53D39-74EA-82FE-F0D1-E30071FA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09BF6-079B-4621-A323-2EBB53410A5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CB163-FAC8-989D-BCEC-1F3D4657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9D036-ED79-CB56-4D64-E1D8BA0B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346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835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01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762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206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262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6480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6645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2950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3513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1440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98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087E1-D7DF-0293-F1F5-E1FEF1F0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44925-0BB4-47C3-EDA8-EE41F3145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63BF8-4B28-ADB7-F3C2-8D276CB3A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09BF6-079B-4621-A323-2EBB53410A5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85AB2-201A-C8BB-7AB3-DBC81BA34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E9A0-367B-8EDA-9089-1D940DE3B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32062-3600-4424-BB22-6A5CDF1F2A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033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3F8FD-3D08-4B41-A4DD-60A424B58212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206A-C2CE-41BA-9A8E-8072E846E6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77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127.0.0.1:5000/insert/C1/120/RO/14" TargetMode="Externa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1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1.png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3EFA-73EC-A37F-B587-7224042C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me NBD - NBD">
            <a:extLst>
              <a:ext uri="{FF2B5EF4-FFF2-40B4-BE49-F238E27FC236}">
                <a16:creationId xmlns:a16="http://schemas.microsoft.com/office/drawing/2014/main" id="{B09779A1-4EF4-C538-3552-707F683FB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27" y="5885049"/>
            <a:ext cx="2228545" cy="67901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AAE83C2-6F4E-1D30-2930-3222BE0AD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0050" y="1528763"/>
            <a:ext cx="8743950" cy="1995487"/>
          </a:xfrm>
        </p:spPr>
        <p:txBody>
          <a:bodyPr>
            <a:normAutofit/>
          </a:bodyPr>
          <a:lstStyle/>
          <a:p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Flask - MySQL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5D2FA-B3EA-22D0-53EC-C9DD160709BF}"/>
              </a:ext>
            </a:extLst>
          </p:cNvPr>
          <p:cNvSpPr txBox="1"/>
          <p:nvPr/>
        </p:nvSpPr>
        <p:spPr>
          <a:xfrm>
            <a:off x="4533900" y="3524250"/>
            <a:ext cx="2813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Paul A. Gagniuc</a:t>
            </a:r>
          </a:p>
        </p:txBody>
      </p:sp>
    </p:spTree>
    <p:extLst>
      <p:ext uri="{BB962C8B-B14F-4D97-AF65-F5344CB8AC3E}">
        <p14:creationId xmlns:p14="http://schemas.microsoft.com/office/powerpoint/2010/main" val="373512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F0CA6-6912-2BF8-75A3-5D9E8D555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E4A30-D031-0415-0CD8-F12312120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Cuprins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0A723-73F7-30EE-F906-A670FF78B30C}"/>
              </a:ext>
            </a:extLst>
          </p:cNvPr>
          <p:cNvSpPr txBox="1"/>
          <p:nvPr/>
        </p:nvSpPr>
        <p:spPr>
          <a:xfrm>
            <a:off x="751206" y="1508759"/>
            <a:ext cx="643255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MySQL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Instalare</a:t>
            </a:r>
            <a:r>
              <a:rPr lang="en-GB" sz="1400" dirty="0"/>
              <a:t> </a:t>
            </a:r>
            <a:r>
              <a:rPr lang="en-GB" sz="1400" dirty="0" err="1">
                <a:latin typeface="Courier New" panose="02070309020205020404" pitchFamily="49" charset="0"/>
              </a:rPr>
              <a:t>mysql</a:t>
            </a:r>
            <a:r>
              <a:rPr lang="en-GB" sz="1400" dirty="0">
                <a:latin typeface="Courier New" panose="02070309020205020404" pitchFamily="49" charset="0"/>
              </a:rPr>
              <a:t>-connector-python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Conectare</a:t>
            </a:r>
            <a:r>
              <a:rPr lang="en-GB" sz="1400" dirty="0"/>
              <a:t> Python la MySQL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Creare</a:t>
            </a:r>
            <a:r>
              <a:rPr lang="en-GB" sz="1400" dirty="0"/>
              <a:t> </a:t>
            </a:r>
            <a:r>
              <a:rPr lang="en-GB" sz="1400" dirty="0" err="1"/>
              <a:t>bază</a:t>
            </a:r>
            <a:r>
              <a:rPr lang="en-GB" sz="1400" dirty="0"/>
              <a:t> de date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Creare</a:t>
            </a:r>
            <a:r>
              <a:rPr lang="en-GB" sz="1400" dirty="0"/>
              <a:t> </a:t>
            </a:r>
            <a:r>
              <a:rPr lang="en-GB" sz="1400" dirty="0" err="1"/>
              <a:t>tabelă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Inserare</a:t>
            </a:r>
            <a:r>
              <a:rPr lang="en-GB" sz="1400" dirty="0"/>
              <a:t> date de test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Citire</a:t>
            </a:r>
            <a:r>
              <a:rPr lang="en-GB" sz="1400" dirty="0"/>
              <a:t> date din </a:t>
            </a:r>
            <a:r>
              <a:rPr lang="en-GB" sz="1400" dirty="0" err="1"/>
              <a:t>tabelă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Verificări</a:t>
            </a:r>
            <a:r>
              <a:rPr lang="en-GB" sz="1400" dirty="0"/>
              <a:t> </a:t>
            </a:r>
            <a:r>
              <a:rPr lang="en-GB" sz="1400" dirty="0" err="1"/>
              <a:t>activități</a:t>
            </a:r>
            <a:r>
              <a:rPr lang="en-GB" sz="1400" dirty="0"/>
              <a:t> </a:t>
            </a:r>
            <a:r>
              <a:rPr lang="en-GB" sz="1400" dirty="0" err="1"/>
              <a:t>suspecte</a:t>
            </a:r>
            <a:r>
              <a:rPr lang="en-GB" sz="1400" dirty="0"/>
              <a:t> MySQL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Flask + MySQL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Instalare</a:t>
            </a:r>
            <a:r>
              <a:rPr lang="en-GB" sz="1400" dirty="0"/>
              <a:t> Flask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0 — </a:t>
            </a:r>
            <a:r>
              <a:rPr lang="en-GB" sz="1400" dirty="0" err="1"/>
              <a:t>scheletul</a:t>
            </a:r>
            <a:r>
              <a:rPr lang="en-GB" sz="1400" dirty="0"/>
              <a:t> minim Flask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1 — endpoint pentru </a:t>
            </a:r>
            <a:r>
              <a:rPr lang="en-GB" sz="1400" dirty="0" err="1"/>
              <a:t>creare</a:t>
            </a:r>
            <a:r>
              <a:rPr lang="en-GB" sz="1400" dirty="0"/>
              <a:t> </a:t>
            </a:r>
            <a:r>
              <a:rPr lang="en-GB" sz="1400" dirty="0" err="1"/>
              <a:t>bază</a:t>
            </a:r>
            <a:r>
              <a:rPr lang="en-GB" sz="1400" dirty="0"/>
              <a:t> </a:t>
            </a:r>
            <a:r>
              <a:rPr lang="en-GB" sz="1400" dirty="0" err="1"/>
              <a:t>și</a:t>
            </a:r>
            <a:r>
              <a:rPr lang="en-GB" sz="1400" dirty="0"/>
              <a:t> </a:t>
            </a:r>
            <a:r>
              <a:rPr lang="en-GB" sz="1400" dirty="0" err="1"/>
              <a:t>tabelă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2 — endpoint pentru </a:t>
            </a:r>
            <a:r>
              <a:rPr lang="en-GB" sz="1400" dirty="0" err="1"/>
              <a:t>afișarea</a:t>
            </a:r>
            <a:r>
              <a:rPr lang="en-GB" sz="1400" dirty="0"/>
              <a:t> </a:t>
            </a:r>
            <a:r>
              <a:rPr lang="en-GB" sz="1400" dirty="0" err="1"/>
              <a:t>datelor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3 — endpoint pentru </a:t>
            </a:r>
            <a:r>
              <a:rPr lang="en-GB" sz="1400" dirty="0" err="1"/>
              <a:t>inserare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4 — endpoint pentru </a:t>
            </a:r>
            <a:r>
              <a:rPr lang="en-GB" sz="1400" dirty="0" err="1"/>
              <a:t>căutare</a:t>
            </a:r>
            <a:r>
              <a:rPr lang="en-GB" sz="1400" dirty="0"/>
              <a:t> client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5 — endpoint pentru </a:t>
            </a:r>
            <a:r>
              <a:rPr lang="en-GB" sz="1400" dirty="0" err="1"/>
              <a:t>ștergere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6 — endpoint pentru </a:t>
            </a:r>
            <a:r>
              <a:rPr lang="en-GB" sz="1400" dirty="0" err="1"/>
              <a:t>modificare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7 — </a:t>
            </a:r>
            <a:r>
              <a:rPr lang="en-GB" sz="1400" dirty="0" err="1"/>
              <a:t>ștergere</a:t>
            </a:r>
            <a:r>
              <a:rPr lang="en-GB" sz="1400" dirty="0"/>
              <a:t> </a:t>
            </a:r>
            <a:r>
              <a:rPr lang="en-GB" sz="1400" dirty="0" err="1"/>
              <a:t>rapidă</a:t>
            </a:r>
            <a:r>
              <a:rPr lang="en-GB" sz="1400" dirty="0"/>
              <a:t> a </a:t>
            </a:r>
            <a:r>
              <a:rPr lang="en-GB" sz="1400" dirty="0" err="1"/>
              <a:t>tuturor</a:t>
            </a:r>
            <a:r>
              <a:rPr lang="en-GB" sz="1400" dirty="0"/>
              <a:t> </a:t>
            </a:r>
            <a:r>
              <a:rPr lang="en-GB" sz="1400" dirty="0" err="1"/>
              <a:t>rândurilor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8 — endpoint insert </a:t>
            </a:r>
            <a:r>
              <a:rPr lang="en-GB" sz="1400" dirty="0" err="1"/>
              <a:t>corect</a:t>
            </a:r>
            <a:r>
              <a:rPr lang="en-GB" sz="1400" dirty="0"/>
              <a:t>/</a:t>
            </a:r>
            <a:r>
              <a:rPr lang="en-GB" sz="1400" dirty="0" err="1"/>
              <a:t>complet</a:t>
            </a:r>
            <a:r>
              <a:rPr lang="en-GB" sz="1400" dirty="0"/>
              <a:t> pentru </a:t>
            </a:r>
            <a:r>
              <a:rPr lang="en-GB" sz="1400" dirty="0" err="1"/>
              <a:t>tabela</a:t>
            </a:r>
            <a:r>
              <a:rPr lang="en-GB" sz="1400" dirty="0"/>
              <a:t> </a:t>
            </a:r>
            <a:r>
              <a:rPr lang="en-GB" sz="1400" dirty="0" err="1"/>
              <a:t>actuală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9 — </a:t>
            </a:r>
            <a:r>
              <a:rPr lang="en-GB" sz="1400" dirty="0" err="1"/>
              <a:t>încărcare</a:t>
            </a:r>
            <a:r>
              <a:rPr lang="en-GB" sz="1400" dirty="0"/>
              <a:t> </a:t>
            </a:r>
            <a:r>
              <a:rPr lang="en-GB" sz="1400" dirty="0" err="1"/>
              <a:t>automată</a:t>
            </a:r>
            <a:r>
              <a:rPr lang="en-GB" sz="1400" dirty="0"/>
              <a:t> date de test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10 — </a:t>
            </a:r>
            <a:r>
              <a:rPr lang="en-GB" sz="1400" dirty="0" err="1"/>
              <a:t>tranzacții</a:t>
            </a:r>
            <a:r>
              <a:rPr lang="en-GB" sz="1400" dirty="0"/>
              <a:t> </a:t>
            </a:r>
            <a:r>
              <a:rPr lang="en-GB" sz="1400" dirty="0" err="1"/>
              <a:t>suspecte</a:t>
            </a:r>
            <a:r>
              <a:rPr lang="en-GB" sz="1400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9A4A76-B672-EAD7-1D23-77BA8ACBEE1A}"/>
              </a:ext>
            </a:extLst>
          </p:cNvPr>
          <p:cNvSpPr/>
          <p:nvPr/>
        </p:nvSpPr>
        <p:spPr>
          <a:xfrm>
            <a:off x="6224504" y="2278428"/>
            <a:ext cx="45719" cy="374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3FF956-0CD8-3DCC-BE57-510B32EA6579}"/>
              </a:ext>
            </a:extLst>
          </p:cNvPr>
          <p:cNvSpPr/>
          <p:nvPr/>
        </p:nvSpPr>
        <p:spPr>
          <a:xfrm>
            <a:off x="654050" y="1485900"/>
            <a:ext cx="1136014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011F2A-1C52-B3D5-3720-D5A98BB18B95}"/>
              </a:ext>
            </a:extLst>
          </p:cNvPr>
          <p:cNvSpPr/>
          <p:nvPr/>
        </p:nvSpPr>
        <p:spPr>
          <a:xfrm>
            <a:off x="751206" y="6633546"/>
            <a:ext cx="1136014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1EEBB-9873-1BDE-DDDE-AFA6C8039A68}"/>
              </a:ext>
            </a:extLst>
          </p:cNvPr>
          <p:cNvSpPr txBox="1"/>
          <p:nvPr/>
        </p:nvSpPr>
        <p:spPr>
          <a:xfrm>
            <a:off x="6486884" y="1824314"/>
            <a:ext cx="52566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11 — </a:t>
            </a:r>
            <a:r>
              <a:rPr lang="en-GB" sz="1400" dirty="0" err="1"/>
              <a:t>raport</a:t>
            </a:r>
            <a:r>
              <a:rPr lang="en-GB" sz="1400" dirty="0"/>
              <a:t> rapid din </a:t>
            </a:r>
            <a:r>
              <a:rPr lang="en-GB" sz="1400" dirty="0" err="1"/>
              <a:t>baza</a:t>
            </a:r>
            <a:r>
              <a:rPr lang="en-GB" sz="1400" dirty="0"/>
              <a:t> de date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/>
              <a:t>Pasul 12 — total pe client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Criptare</a:t>
            </a:r>
            <a:r>
              <a:rPr lang="en-GB" sz="1400" dirty="0"/>
              <a:t> date    </a:t>
            </a:r>
            <a:r>
              <a:rPr lang="en-GB" sz="1400" dirty="0" err="1"/>
              <a:t>în</a:t>
            </a:r>
            <a:r>
              <a:rPr lang="en-GB" sz="1400" dirty="0"/>
              <a:t> MySQL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Instalare</a:t>
            </a:r>
            <a:r>
              <a:rPr lang="en-GB" sz="1400" dirty="0"/>
              <a:t> </a:t>
            </a:r>
            <a:r>
              <a:rPr lang="en-GB" sz="1400" dirty="0">
                <a:latin typeface="Courier New" panose="02070309020205020404" pitchFamily="49" charset="0"/>
              </a:rPr>
              <a:t>cryptography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Funcții</a:t>
            </a:r>
            <a:r>
              <a:rPr lang="en-GB" sz="1400" dirty="0"/>
              <a:t> de </a:t>
            </a:r>
            <a:r>
              <a:rPr lang="en-GB" sz="1400" dirty="0" err="1"/>
              <a:t>criptare</a:t>
            </a:r>
            <a:r>
              <a:rPr lang="en-GB" sz="1400" dirty="0"/>
              <a:t> </a:t>
            </a:r>
            <a:r>
              <a:rPr lang="en-GB" sz="1400" dirty="0" err="1"/>
              <a:t>și</a:t>
            </a:r>
            <a:r>
              <a:rPr lang="en-GB" sz="1400" dirty="0"/>
              <a:t> </a:t>
            </a:r>
            <a:r>
              <a:rPr lang="en-GB" sz="1400" dirty="0" err="1"/>
              <a:t>decriptare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Tabelă</a:t>
            </a:r>
            <a:r>
              <a:rPr lang="en-GB" sz="1400" dirty="0"/>
              <a:t> pentru date </a:t>
            </a:r>
            <a:r>
              <a:rPr lang="en-GB" sz="1400" dirty="0" err="1"/>
              <a:t>criptate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Inserare</a:t>
            </a:r>
            <a:r>
              <a:rPr lang="en-GB" sz="1400" dirty="0"/>
              <a:t> </a:t>
            </a:r>
            <a:r>
              <a:rPr lang="en-GB" sz="1400" dirty="0" err="1"/>
              <a:t>criptată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Vizualizare</a:t>
            </a:r>
            <a:r>
              <a:rPr lang="en-GB" sz="1400" dirty="0"/>
              <a:t> date </a:t>
            </a:r>
            <a:r>
              <a:rPr lang="en-GB" sz="1400" dirty="0" err="1"/>
              <a:t>criptate</a:t>
            </a:r>
            <a:r>
              <a:rPr lang="en-GB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 err="1"/>
              <a:t>Decriptare</a:t>
            </a:r>
            <a:r>
              <a:rPr lang="en-GB" sz="1400" dirty="0"/>
              <a:t> date </a:t>
            </a:r>
            <a:r>
              <a:rPr lang="en-GB" sz="1400" dirty="0" err="1"/>
              <a:t>în</a:t>
            </a:r>
            <a:r>
              <a:rPr lang="en-GB" sz="1400" dirty="0"/>
              <a:t> browser</a:t>
            </a:r>
          </a:p>
        </p:txBody>
      </p:sp>
    </p:spTree>
    <p:extLst>
      <p:ext uri="{BB962C8B-B14F-4D97-AF65-F5344CB8AC3E}">
        <p14:creationId xmlns:p14="http://schemas.microsoft.com/office/powerpoint/2010/main" val="254499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B502F-6914-2C73-8514-CEDDBED0F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B1F5DA26-A76A-9620-A6F4-73604C83D929}"/>
              </a:ext>
            </a:extLst>
          </p:cNvPr>
          <p:cNvSpPr/>
          <p:nvPr/>
        </p:nvSpPr>
        <p:spPr>
          <a:xfrm>
            <a:off x="1885242" y="1647825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80D65-2DFF-A962-BCF4-DB2010586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442" y="2788443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MySQL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09042-5293-A4E1-5246-90F16DFE2EAB}"/>
              </a:ext>
            </a:extLst>
          </p:cNvPr>
          <p:cNvSpPr txBox="1"/>
          <p:nvPr/>
        </p:nvSpPr>
        <p:spPr>
          <a:xfrm>
            <a:off x="4637967" y="3929340"/>
            <a:ext cx="358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Structured Query Language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AE0AB-BB0D-5D71-6CF1-B8CB50F92464}"/>
              </a:ext>
            </a:extLst>
          </p:cNvPr>
          <p:cNvSpPr txBox="1"/>
          <p:nvPr/>
        </p:nvSpPr>
        <p:spPr>
          <a:xfrm>
            <a:off x="1822450" y="52965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SQL este limbajul prin care dai comenzi unei baze de date.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4758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280BB3F2-D257-F30B-229E-3EF2467AFFCF}"/>
              </a:ext>
            </a:extLst>
          </p:cNvPr>
          <p:cNvSpPr/>
          <p:nvPr/>
        </p:nvSpPr>
        <p:spPr>
          <a:xfrm>
            <a:off x="482600" y="3824010"/>
            <a:ext cx="6642100" cy="2792174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A35B1B5D-F071-9991-8899-C54CD21B4DC1}"/>
              </a:ext>
            </a:extLst>
          </p:cNvPr>
          <p:cNvSpPr/>
          <p:nvPr/>
        </p:nvSpPr>
        <p:spPr>
          <a:xfrm>
            <a:off x="7124700" y="636826"/>
            <a:ext cx="4705350" cy="3187184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6D90A-C90D-0A58-5E1D-1BBD4D609C75}"/>
              </a:ext>
            </a:extLst>
          </p:cNvPr>
          <p:cNvSpPr txBox="1"/>
          <p:nvPr/>
        </p:nvSpPr>
        <p:spPr>
          <a:xfrm>
            <a:off x="711200" y="4012684"/>
            <a:ext cx="442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pip install </a:t>
            </a:r>
            <a:r>
              <a:rPr lang="en-GB" dirty="0" err="1"/>
              <a:t>mysql</a:t>
            </a:r>
            <a:r>
              <a:rPr lang="en-GB" dirty="0"/>
              <a:t>-connector-python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4EF341-AB5F-D1EA-7CB9-91C0EB362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4614636"/>
            <a:ext cx="6096000" cy="17417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563CB7-6AA0-4997-B875-0DE7B5B0D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869446"/>
            <a:ext cx="4272402" cy="27082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F61881-073C-EE7E-15E7-8C4064D81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4261738"/>
            <a:ext cx="3697632" cy="20946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7B9CB7-CDEF-0622-6CAD-C8F980EC9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284" y="948239"/>
            <a:ext cx="3818281" cy="1912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CDF2D4-7A87-6DDD-F9CD-BD2085B17838}"/>
              </a:ext>
            </a:extLst>
          </p:cNvPr>
          <p:cNvSpPr txBox="1"/>
          <p:nvPr/>
        </p:nvSpPr>
        <p:spPr>
          <a:xfrm>
            <a:off x="361950" y="461215"/>
            <a:ext cx="6242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Dacă</a:t>
            </a:r>
            <a:r>
              <a:rPr lang="en-GB" sz="1400" dirty="0"/>
              <a:t> nu </a:t>
            </a:r>
            <a:r>
              <a:rPr lang="en-GB" sz="1400" dirty="0" err="1"/>
              <a:t>scriem</a:t>
            </a:r>
            <a:r>
              <a:rPr lang="en-GB" sz="1400" dirty="0"/>
              <a:t> </a:t>
            </a:r>
            <a:r>
              <a:rPr lang="en-GB" sz="1400" dirty="0" err="1"/>
              <a:t>portul</a:t>
            </a:r>
            <a:r>
              <a:rPr lang="en-GB" sz="1400" dirty="0"/>
              <a:t>, MySQL Connector </a:t>
            </a:r>
            <a:r>
              <a:rPr lang="en-GB" sz="1400" dirty="0" err="1"/>
              <a:t>folosește</a:t>
            </a:r>
            <a:r>
              <a:rPr lang="en-GB" sz="1400" dirty="0"/>
              <a:t> implicit 3306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32F320-8C40-27E6-07F5-3F97B533B7BE}"/>
              </a:ext>
            </a:extLst>
          </p:cNvPr>
          <p:cNvSpPr txBox="1"/>
          <p:nvPr/>
        </p:nvSpPr>
        <p:spPr>
          <a:xfrm>
            <a:off x="282573" y="3049760"/>
            <a:ext cx="6721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Connector = </a:t>
            </a:r>
            <a:r>
              <a:rPr lang="en-GB" sz="1400" dirty="0" err="1"/>
              <a:t>biblioteca</a:t>
            </a:r>
            <a:r>
              <a:rPr lang="en-GB" sz="1400" dirty="0"/>
              <a:t>/</a:t>
            </a:r>
            <a:r>
              <a:rPr lang="en-GB" sz="1400" dirty="0" err="1"/>
              <a:t>driverul</a:t>
            </a:r>
            <a:r>
              <a:rPr lang="en-GB" sz="1400" dirty="0"/>
              <a:t> care face </a:t>
            </a:r>
            <a:r>
              <a:rPr lang="en-GB" sz="1400" dirty="0" err="1"/>
              <a:t>legătura</a:t>
            </a:r>
            <a:r>
              <a:rPr lang="en-GB" sz="1400" dirty="0"/>
              <a:t> </a:t>
            </a:r>
            <a:r>
              <a:rPr lang="en-GB" sz="1400" dirty="0" err="1"/>
              <a:t>între</a:t>
            </a:r>
            <a:r>
              <a:rPr lang="en-GB" sz="1400" dirty="0"/>
              <a:t> Python </a:t>
            </a:r>
            <a:r>
              <a:rPr lang="en-GB" sz="1400" dirty="0" err="1"/>
              <a:t>și</a:t>
            </a:r>
            <a:r>
              <a:rPr lang="en-GB" sz="1400" dirty="0"/>
              <a:t> MySQL.</a:t>
            </a:r>
          </a:p>
        </p:txBody>
      </p:sp>
    </p:spTree>
    <p:extLst>
      <p:ext uri="{BB962C8B-B14F-4D97-AF65-F5344CB8AC3E}">
        <p14:creationId xmlns:p14="http://schemas.microsoft.com/office/powerpoint/2010/main" val="2206029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3B246-A21F-B111-B53F-2C652707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66EF39-FD24-77CF-E0EA-6ABCBFD4A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0911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5DEC87-F0A4-50B5-C90C-FF99A8C4A9E3}"/>
              </a:ext>
            </a:extLst>
          </p:cNvPr>
          <p:cNvSpPr txBox="1"/>
          <p:nvPr/>
        </p:nvSpPr>
        <p:spPr>
          <a:xfrm>
            <a:off x="6756400" y="3669784"/>
            <a:ext cx="4527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“transactions”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numele</a:t>
            </a:r>
            <a:r>
              <a:rPr lang="en-GB" dirty="0"/>
              <a:t> </a:t>
            </a:r>
            <a:r>
              <a:rPr lang="en-GB" dirty="0" err="1"/>
              <a:t>tabelului</a:t>
            </a:r>
            <a:r>
              <a:rPr lang="en-GB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D09CE1-B875-1952-B0EC-8BCB5177961E}"/>
              </a:ext>
            </a:extLst>
          </p:cNvPr>
          <p:cNvSpPr txBox="1"/>
          <p:nvPr/>
        </p:nvSpPr>
        <p:spPr>
          <a:xfrm>
            <a:off x="6742695" y="4914215"/>
            <a:ext cx="43624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Creează</a:t>
            </a:r>
            <a:r>
              <a:rPr lang="en-GB" dirty="0"/>
              <a:t> </a:t>
            </a:r>
            <a:r>
              <a:rPr lang="en-GB" dirty="0" err="1"/>
              <a:t>coloana</a:t>
            </a:r>
            <a:r>
              <a:rPr lang="en-GB" dirty="0"/>
              <a:t> client. VARCHAR(50) </a:t>
            </a:r>
            <a:r>
              <a:rPr lang="en-GB" dirty="0" err="1"/>
              <a:t>înseamnă</a:t>
            </a:r>
            <a:r>
              <a:rPr lang="en-GB" dirty="0"/>
              <a:t> text de maximum 50 de </a:t>
            </a:r>
            <a:r>
              <a:rPr lang="en-GB" dirty="0" err="1"/>
              <a:t>caractere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 err="1"/>
              <a:t>număr</a:t>
            </a:r>
            <a:r>
              <a:rPr lang="en-GB" dirty="0"/>
              <a:t> real, cu </a:t>
            </a:r>
            <a:r>
              <a:rPr lang="en-GB" dirty="0" err="1"/>
              <a:t>zecimale</a:t>
            </a:r>
            <a:r>
              <a:rPr lang="en-GB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7FA2C-D209-35A2-3891-CD8458D1DBE4}"/>
              </a:ext>
            </a:extLst>
          </p:cNvPr>
          <p:cNvSpPr txBox="1"/>
          <p:nvPr/>
        </p:nvSpPr>
        <p:spPr>
          <a:xfrm>
            <a:off x="6742695" y="6371292"/>
            <a:ext cx="401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număr</a:t>
            </a:r>
            <a:r>
              <a:rPr lang="en-GB" dirty="0"/>
              <a:t> </a:t>
            </a:r>
            <a:r>
              <a:rPr lang="en-GB" dirty="0" err="1"/>
              <a:t>întreg</a:t>
            </a:r>
            <a:r>
              <a:rPr lang="en-GB" dirty="0"/>
              <a:t>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C7C2EC-0B8D-520B-54EC-8F9F9B61236C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485424" y="3854450"/>
            <a:ext cx="2270976" cy="10287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93A6F6-C2C8-E2FE-18C9-2E1CD5D969B0}"/>
              </a:ext>
            </a:extLst>
          </p:cNvPr>
          <p:cNvCxnSpPr>
            <a:cxnSpLocks/>
          </p:cNvCxnSpPr>
          <p:nvPr/>
        </p:nvCxnSpPr>
        <p:spPr>
          <a:xfrm flipH="1">
            <a:off x="3060700" y="5141268"/>
            <a:ext cx="3681995" cy="3895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F4C6F64-0DA5-1823-B880-CEA41C4F7732}"/>
              </a:ext>
            </a:extLst>
          </p:cNvPr>
          <p:cNvCxnSpPr>
            <a:cxnSpLocks/>
          </p:cNvCxnSpPr>
          <p:nvPr/>
        </p:nvCxnSpPr>
        <p:spPr>
          <a:xfrm flipH="1" flipV="1">
            <a:off x="2476500" y="5715516"/>
            <a:ext cx="4279900" cy="491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5E1253-3437-D001-1AED-4679B193CB7B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105150" y="6008395"/>
            <a:ext cx="3637545" cy="5475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74C4B68-B368-CEA9-B961-3FD3CB14956E}"/>
              </a:ext>
            </a:extLst>
          </p:cNvPr>
          <p:cNvSpPr txBox="1"/>
          <p:nvPr/>
        </p:nvSpPr>
        <p:spPr>
          <a:xfrm>
            <a:off x="6756400" y="4245918"/>
            <a:ext cx="2571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Creează</a:t>
            </a:r>
            <a:r>
              <a:rPr lang="en-GB" dirty="0"/>
              <a:t> </a:t>
            </a:r>
            <a:r>
              <a:rPr lang="en-GB" dirty="0" err="1"/>
              <a:t>coloana</a:t>
            </a:r>
            <a:r>
              <a:rPr lang="en-GB" dirty="0"/>
              <a:t> id.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CFD266-89D3-018B-1D54-3EAE50C04E50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4489450" y="4430584"/>
            <a:ext cx="2266950" cy="7764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EC82251-FE43-2280-F267-98E1F2815071}"/>
              </a:ext>
            </a:extLst>
          </p:cNvPr>
          <p:cNvSpPr txBox="1"/>
          <p:nvPr/>
        </p:nvSpPr>
        <p:spPr>
          <a:xfrm>
            <a:off x="6795585" y="324778"/>
            <a:ext cx="5065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“cursor” - </a:t>
            </a:r>
            <a:r>
              <a:rPr lang="en-GB" dirty="0" err="1"/>
              <a:t>numele</a:t>
            </a:r>
            <a:r>
              <a:rPr lang="en-GB" dirty="0"/>
              <a:t> vine de la </a:t>
            </a:r>
            <a:r>
              <a:rPr lang="en-GB" dirty="0" err="1"/>
              <a:t>ideea</a:t>
            </a:r>
            <a:r>
              <a:rPr lang="en-GB" dirty="0"/>
              <a:t> de indicator care se </a:t>
            </a:r>
            <a:r>
              <a:rPr lang="en-GB" dirty="0" err="1"/>
              <a:t>mută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rezultate</a:t>
            </a:r>
            <a:r>
              <a:rPr lang="en-GB" dirty="0"/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778199-2C11-845D-040D-E417E15BCA5C}"/>
              </a:ext>
            </a:extLst>
          </p:cNvPr>
          <p:cNvSpPr txBox="1"/>
          <p:nvPr/>
        </p:nvSpPr>
        <p:spPr>
          <a:xfrm>
            <a:off x="6795585" y="1298404"/>
            <a:ext cx="5396415" cy="152611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sz="1400" dirty="0"/>
              <a:t>INT                  -- </a:t>
            </a:r>
            <a:r>
              <a:rPr lang="en-GB" sz="1400" dirty="0" err="1"/>
              <a:t>număr</a:t>
            </a:r>
            <a:r>
              <a:rPr lang="en-GB" sz="1400" dirty="0"/>
              <a:t> </a:t>
            </a:r>
            <a:r>
              <a:rPr lang="en-GB" sz="1400" dirty="0" err="1"/>
              <a:t>întreg</a:t>
            </a:r>
            <a:endParaRPr lang="en-GB" sz="1400" dirty="0"/>
          </a:p>
          <a:p>
            <a:r>
              <a:rPr lang="en-GB" sz="1400" dirty="0"/>
              <a:t>FLOAT            -- </a:t>
            </a:r>
            <a:r>
              <a:rPr lang="en-GB" sz="1400" dirty="0" err="1"/>
              <a:t>număr</a:t>
            </a:r>
            <a:r>
              <a:rPr lang="en-GB" sz="1400" dirty="0"/>
              <a:t> cu </a:t>
            </a:r>
            <a:r>
              <a:rPr lang="en-GB" sz="1400" dirty="0" err="1"/>
              <a:t>zecimale</a:t>
            </a:r>
            <a:endParaRPr lang="en-GB" sz="1400" dirty="0"/>
          </a:p>
          <a:p>
            <a:r>
              <a:rPr lang="en-GB" sz="1400" dirty="0"/>
              <a:t>VARCHAR    -- text </a:t>
            </a:r>
            <a:r>
              <a:rPr lang="en-GB" sz="1400" dirty="0" err="1"/>
              <a:t>scurt</a:t>
            </a:r>
            <a:endParaRPr lang="en-GB" sz="1400" dirty="0"/>
          </a:p>
          <a:p>
            <a:r>
              <a:rPr lang="en-GB" sz="1400" dirty="0"/>
              <a:t>TEXT               -- text lung</a:t>
            </a:r>
          </a:p>
          <a:p>
            <a:r>
              <a:rPr lang="en-GB" sz="1400" dirty="0"/>
              <a:t>DATE              -- </a:t>
            </a:r>
            <a:r>
              <a:rPr lang="en-GB" sz="1400" dirty="0" err="1"/>
              <a:t>dată</a:t>
            </a:r>
            <a:endParaRPr lang="en-GB" sz="1400" dirty="0"/>
          </a:p>
          <a:p>
            <a:r>
              <a:rPr lang="en-GB" sz="1400" dirty="0"/>
              <a:t>DATETIME    -- </a:t>
            </a:r>
            <a:r>
              <a:rPr lang="en-GB" sz="1400" dirty="0" err="1"/>
              <a:t>dată</a:t>
            </a:r>
            <a:r>
              <a:rPr lang="en-GB" sz="1400" dirty="0"/>
              <a:t> + </a:t>
            </a:r>
            <a:r>
              <a:rPr lang="en-GB" sz="1400" dirty="0" err="1"/>
              <a:t>oră</a:t>
            </a:r>
            <a:endParaRPr lang="en-GB" sz="1400" dirty="0"/>
          </a:p>
          <a:p>
            <a:r>
              <a:rPr lang="en-GB" sz="1400" dirty="0"/>
              <a:t>BOOLEAN    -- true/false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68B74BA-0BD3-5CCD-ED21-BF315AF01CE2}"/>
              </a:ext>
            </a:extLst>
          </p:cNvPr>
          <p:cNvCxnSpPr>
            <a:cxnSpLocks/>
          </p:cNvCxnSpPr>
          <p:nvPr/>
        </p:nvCxnSpPr>
        <p:spPr>
          <a:xfrm flipH="1">
            <a:off x="2622550" y="516267"/>
            <a:ext cx="4173035" cy="19827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286732A-EC2C-5071-8E42-655F225231C4}"/>
              </a:ext>
            </a:extLst>
          </p:cNvPr>
          <p:cNvCxnSpPr>
            <a:cxnSpLocks/>
          </p:cNvCxnSpPr>
          <p:nvPr/>
        </p:nvCxnSpPr>
        <p:spPr>
          <a:xfrm flipH="1">
            <a:off x="2565400" y="3429000"/>
            <a:ext cx="4230185" cy="13451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694E0D8-70A8-16BD-3BC3-E0560F9D7FEE}"/>
              </a:ext>
            </a:extLst>
          </p:cNvPr>
          <p:cNvSpPr txBox="1"/>
          <p:nvPr/>
        </p:nvSpPr>
        <p:spPr>
          <a:xfrm>
            <a:off x="6795585" y="3197051"/>
            <a:ext cx="4839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execută </a:t>
            </a:r>
            <a:r>
              <a:rPr lang="en-GB" dirty="0" err="1"/>
              <a:t>această</a:t>
            </a:r>
            <a:r>
              <a:rPr lang="en-GB" dirty="0"/>
              <a:t> </a:t>
            </a:r>
            <a:r>
              <a:rPr lang="en-GB" dirty="0" err="1"/>
              <a:t>comandă</a:t>
            </a:r>
            <a:r>
              <a:rPr lang="en-GB" dirty="0"/>
              <a:t> SQL </a:t>
            </a:r>
            <a:r>
              <a:rPr lang="en-GB" dirty="0" err="1"/>
              <a:t>în</a:t>
            </a:r>
            <a:r>
              <a:rPr lang="en-GB" dirty="0"/>
              <a:t> MySQL.</a:t>
            </a:r>
          </a:p>
        </p:txBody>
      </p:sp>
    </p:spTree>
    <p:extLst>
      <p:ext uri="{BB962C8B-B14F-4D97-AF65-F5344CB8AC3E}">
        <p14:creationId xmlns:p14="http://schemas.microsoft.com/office/powerpoint/2010/main" val="340340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F51CC7D-EB6D-1ED9-5673-2739C604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E53BB5-B21E-5954-BE45-EC38F34D0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90" y="94784"/>
            <a:ext cx="9631119" cy="66684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2808BC-3FE9-5FAA-6881-9C9EA5B693A4}"/>
              </a:ext>
            </a:extLst>
          </p:cNvPr>
          <p:cNvSpPr txBox="1"/>
          <p:nvPr/>
        </p:nvSpPr>
        <p:spPr>
          <a:xfrm>
            <a:off x="6972300" y="463585"/>
            <a:ext cx="4737100" cy="25154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nbd_bank</a:t>
            </a:r>
            <a:r>
              <a:rPr lang="en-GB" dirty="0"/>
              <a:t>       = </a:t>
            </a:r>
            <a:r>
              <a:rPr lang="en-GB" dirty="0" err="1"/>
              <a:t>baza</a:t>
            </a:r>
            <a:r>
              <a:rPr lang="en-GB" dirty="0"/>
              <a:t> de date</a:t>
            </a:r>
          </a:p>
          <a:p>
            <a:r>
              <a:rPr lang="en-GB" dirty="0"/>
              <a:t>transactions  = </a:t>
            </a:r>
            <a:r>
              <a:rPr lang="en-GB" dirty="0" err="1"/>
              <a:t>tabela</a:t>
            </a:r>
            <a:endParaRPr lang="en-GB" dirty="0"/>
          </a:p>
          <a:p>
            <a:r>
              <a:rPr lang="en-GB" dirty="0"/>
              <a:t>client                = </a:t>
            </a:r>
            <a:r>
              <a:rPr lang="en-GB" dirty="0" err="1"/>
              <a:t>coloană</a:t>
            </a:r>
            <a:endParaRPr lang="en-GB" dirty="0"/>
          </a:p>
          <a:p>
            <a:r>
              <a:rPr lang="en-GB" dirty="0"/>
              <a:t>amount           = </a:t>
            </a:r>
            <a:r>
              <a:rPr lang="en-GB" dirty="0" err="1"/>
              <a:t>coloană</a:t>
            </a:r>
            <a:endParaRPr lang="en-GB" dirty="0"/>
          </a:p>
          <a:p>
            <a:r>
              <a:rPr lang="en-GB" dirty="0"/>
              <a:t>country           = </a:t>
            </a:r>
            <a:r>
              <a:rPr lang="en-GB" dirty="0" err="1"/>
              <a:t>coloană</a:t>
            </a:r>
            <a:endParaRPr lang="en-GB" dirty="0"/>
          </a:p>
          <a:p>
            <a:r>
              <a:rPr lang="en-GB" dirty="0"/>
              <a:t>hour                  = </a:t>
            </a:r>
            <a:r>
              <a:rPr lang="en-GB" dirty="0" err="1"/>
              <a:t>coloană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437348-197D-CBCB-F4A4-23E2F71EACDF}"/>
              </a:ext>
            </a:extLst>
          </p:cNvPr>
          <p:cNvSpPr txBox="1"/>
          <p:nvPr/>
        </p:nvSpPr>
        <p:spPr>
          <a:xfrm>
            <a:off x="5454650" y="3353683"/>
            <a:ext cx="6451600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executemany</a:t>
            </a:r>
            <a:r>
              <a:rPr lang="en-GB" dirty="0"/>
              <a:t>() </a:t>
            </a:r>
            <a:r>
              <a:rPr lang="en-GB" dirty="0" err="1"/>
              <a:t>înseamnă</a:t>
            </a:r>
            <a:r>
              <a:rPr lang="en-GB" dirty="0"/>
              <a:t>: execută INSERT-ul de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multe</a:t>
            </a:r>
            <a:r>
              <a:rPr lang="en-GB" dirty="0"/>
              <a:t> </a:t>
            </a:r>
            <a:r>
              <a:rPr lang="en-GB" dirty="0" err="1"/>
              <a:t>ori</a:t>
            </a:r>
            <a:r>
              <a:rPr lang="en-GB" dirty="0"/>
              <a:t>, </a:t>
            </a:r>
            <a:r>
              <a:rPr lang="en-GB" dirty="0" err="1"/>
              <a:t>câte</a:t>
            </a:r>
            <a:r>
              <a:rPr lang="en-GB" dirty="0"/>
              <a:t> o </a:t>
            </a:r>
            <a:r>
              <a:rPr lang="en-GB" dirty="0" err="1"/>
              <a:t>dată</a:t>
            </a:r>
            <a:r>
              <a:rPr lang="en-GB" dirty="0"/>
              <a:t> pentru </a:t>
            </a:r>
            <a:r>
              <a:rPr lang="en-GB" dirty="0" err="1"/>
              <a:t>fiecare</a:t>
            </a:r>
            <a:r>
              <a:rPr lang="en-GB" dirty="0"/>
              <a:t> </a:t>
            </a:r>
            <a:r>
              <a:rPr lang="en-GB" dirty="0" err="1"/>
              <a:t>rând</a:t>
            </a:r>
            <a:r>
              <a:rPr lang="en-GB" dirty="0"/>
              <a:t> din var.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5362B-EB5F-A1D9-25F8-E74ECB7A0C40}"/>
              </a:ext>
            </a:extLst>
          </p:cNvPr>
          <p:cNvSpPr txBox="1"/>
          <p:nvPr/>
        </p:nvSpPr>
        <p:spPr>
          <a:xfrm>
            <a:off x="5454650" y="5451916"/>
            <a:ext cx="6451600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%s sunt </a:t>
            </a:r>
            <a:r>
              <a:rPr lang="en-GB" dirty="0" err="1"/>
              <a:t>placeholdere</a:t>
            </a:r>
            <a:r>
              <a:rPr lang="en-GB" dirty="0"/>
              <a:t>, </a:t>
            </a:r>
            <a:r>
              <a:rPr lang="en-GB" dirty="0" err="1"/>
              <a:t>adica</a:t>
            </a:r>
            <a:r>
              <a:rPr lang="en-GB" dirty="0"/>
              <a:t> </a:t>
            </a:r>
            <a:r>
              <a:rPr lang="en-GB" dirty="0" err="1"/>
              <a:t>locuri</a:t>
            </a:r>
            <a:r>
              <a:rPr lang="en-GB" dirty="0"/>
              <a:t> </a:t>
            </a:r>
            <a:r>
              <a:rPr lang="en-GB" dirty="0" err="1"/>
              <a:t>rezervate</a:t>
            </a:r>
            <a:r>
              <a:rPr lang="en-GB" dirty="0"/>
              <a:t> pentru </a:t>
            </a:r>
            <a:r>
              <a:rPr lang="en-GB" dirty="0" err="1"/>
              <a:t>valorile</a:t>
            </a:r>
            <a:r>
              <a:rPr lang="en-GB" dirty="0"/>
              <a:t> din </a:t>
            </a:r>
            <a:r>
              <a:rPr lang="en-GB" dirty="0" err="1"/>
              <a:t>fiecare</a:t>
            </a:r>
            <a:r>
              <a:rPr lang="en-GB" dirty="0"/>
              <a:t> </a:t>
            </a:r>
            <a:r>
              <a:rPr lang="en-GB" dirty="0" err="1"/>
              <a:t>rând</a:t>
            </a:r>
            <a:r>
              <a:rPr lang="en-GB" dirty="0"/>
              <a:t> din data.</a:t>
            </a:r>
          </a:p>
        </p:txBody>
      </p:sp>
    </p:spTree>
    <p:extLst>
      <p:ext uri="{BB962C8B-B14F-4D97-AF65-F5344CB8AC3E}">
        <p14:creationId xmlns:p14="http://schemas.microsoft.com/office/powerpoint/2010/main" val="1006325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1A556-01CF-7A9A-10A7-E71605D5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DF0E3F-2E96-1683-58DD-2B614CE1D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078837" cy="410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8429EC-657B-1FC5-97E5-D8B76EE4B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350" y="4374284"/>
            <a:ext cx="8502650" cy="2483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0678E8-77C2-E750-C9A5-6123987B32D2}"/>
              </a:ext>
            </a:extLst>
          </p:cNvPr>
          <p:cNvSpPr txBox="1"/>
          <p:nvPr/>
        </p:nvSpPr>
        <p:spPr>
          <a:xfrm>
            <a:off x="6591300" y="2123259"/>
            <a:ext cx="4876800" cy="115321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pPr algn="l"/>
            <a:r>
              <a:rPr lang="en-GB" dirty="0"/>
              <a:t>RU = Rusia</a:t>
            </a:r>
          </a:p>
          <a:p>
            <a:pPr algn="l"/>
            <a:r>
              <a:rPr lang="en-GB" dirty="0"/>
              <a:t>NG = Nigeria</a:t>
            </a:r>
          </a:p>
          <a:p>
            <a:pPr algn="l"/>
            <a:r>
              <a:rPr lang="en-GB" dirty="0"/>
              <a:t>KP = </a:t>
            </a:r>
            <a:r>
              <a:rPr lang="en-GB" dirty="0" err="1"/>
              <a:t>Coreea</a:t>
            </a:r>
            <a:r>
              <a:rPr lang="en-GB" dirty="0"/>
              <a:t> de Nord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060EA0-D23A-492F-F540-3FC1EE4C2D1F}"/>
              </a:ext>
            </a:extLst>
          </p:cNvPr>
          <p:cNvSpPr txBox="1"/>
          <p:nvPr/>
        </p:nvSpPr>
        <p:spPr>
          <a:xfrm>
            <a:off x="6515100" y="1530664"/>
            <a:ext cx="5213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fetchall</a:t>
            </a:r>
            <a:r>
              <a:rPr lang="en-GB" dirty="0"/>
              <a:t>() = </a:t>
            </a:r>
            <a:r>
              <a:rPr lang="en-GB" dirty="0" err="1"/>
              <a:t>ia</a:t>
            </a:r>
            <a:r>
              <a:rPr lang="en-GB" dirty="0"/>
              <a:t> </a:t>
            </a:r>
            <a:r>
              <a:rPr lang="en-GB" dirty="0" err="1"/>
              <a:t>toate</a:t>
            </a:r>
            <a:r>
              <a:rPr lang="en-GB" dirty="0"/>
              <a:t> </a:t>
            </a:r>
            <a:r>
              <a:rPr lang="en-GB" dirty="0" err="1"/>
              <a:t>rândurile</a:t>
            </a:r>
            <a:r>
              <a:rPr lang="en-GB" dirty="0"/>
              <a:t> </a:t>
            </a:r>
            <a:r>
              <a:rPr lang="en-GB" dirty="0" err="1"/>
              <a:t>returnate</a:t>
            </a:r>
            <a:r>
              <a:rPr lang="en-GB" dirty="0"/>
              <a:t> de MySQL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71F1B9-0DE2-EC11-D634-7637C33E1D30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3740150" y="1307401"/>
            <a:ext cx="2774950" cy="4079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43C290-4D27-CD75-80F1-D06458A3A13A}"/>
              </a:ext>
            </a:extLst>
          </p:cNvPr>
          <p:cNvSpPr txBox="1"/>
          <p:nvPr/>
        </p:nvSpPr>
        <p:spPr>
          <a:xfrm>
            <a:off x="6515100" y="1073815"/>
            <a:ext cx="3030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SQL, * </a:t>
            </a:r>
            <a:r>
              <a:rPr lang="en-GB" dirty="0" err="1"/>
              <a:t>înseamnă</a:t>
            </a:r>
            <a:r>
              <a:rPr lang="en-GB" dirty="0"/>
              <a:t> tot.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2AF2A7-3359-9246-B86F-5B708A26BAF1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3556000" y="813357"/>
            <a:ext cx="2959100" cy="4451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C726283-5198-7911-D487-0F1EC73E0E78}"/>
              </a:ext>
            </a:extLst>
          </p:cNvPr>
          <p:cNvSpPr txBox="1"/>
          <p:nvPr/>
        </p:nvSpPr>
        <p:spPr>
          <a:xfrm>
            <a:off x="6078837" y="4565"/>
            <a:ext cx="6113163" cy="61295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sz="1400" dirty="0"/>
              <a:t>Daca nu </a:t>
            </a:r>
            <a:r>
              <a:rPr lang="en-GB" sz="1400" dirty="0" err="1"/>
              <a:t>vrem</a:t>
            </a:r>
            <a:r>
              <a:rPr lang="en-GB" sz="1400" dirty="0"/>
              <a:t> tot (*), </a:t>
            </a:r>
            <a:r>
              <a:rPr lang="en-GB" sz="1400" dirty="0" err="1"/>
              <a:t>putem</a:t>
            </a:r>
            <a:r>
              <a:rPr lang="en-GB" sz="1400" dirty="0"/>
              <a:t> </a:t>
            </a:r>
            <a:r>
              <a:rPr lang="en-GB" sz="1400" dirty="0" err="1"/>
              <a:t>scrie</a:t>
            </a:r>
            <a:r>
              <a:rPr lang="en-GB" sz="1400" dirty="0"/>
              <a:t> </a:t>
            </a:r>
            <a:r>
              <a:rPr lang="en-GB" sz="1400" dirty="0" err="1"/>
              <a:t>doar</a:t>
            </a:r>
            <a:r>
              <a:rPr lang="en-GB" sz="1400" dirty="0"/>
              <a:t> </a:t>
            </a:r>
            <a:r>
              <a:rPr lang="en-GB" sz="1400" dirty="0" err="1"/>
              <a:t>numele</a:t>
            </a:r>
            <a:r>
              <a:rPr lang="en-GB" sz="1400" dirty="0"/>
              <a:t> </a:t>
            </a:r>
            <a:r>
              <a:rPr lang="en-GB" sz="1400" dirty="0" err="1"/>
              <a:t>coloanelor</a:t>
            </a:r>
            <a:r>
              <a:rPr lang="en-GB" sz="1400" dirty="0"/>
              <a:t> </a:t>
            </a:r>
            <a:r>
              <a:rPr lang="en-GB" sz="1400" dirty="0" err="1"/>
              <a:t>dorite</a:t>
            </a:r>
            <a:r>
              <a:rPr lang="en-GB" sz="1400" dirty="0"/>
              <a:t>, ex:</a:t>
            </a:r>
          </a:p>
          <a:p>
            <a:r>
              <a:rPr lang="en-GB" sz="1400" dirty="0"/>
              <a:t>SELECT client, amount FROM transactions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59FC82-8316-2982-05FA-F7AE986B099A}"/>
              </a:ext>
            </a:extLst>
          </p:cNvPr>
          <p:cNvSpPr txBox="1"/>
          <p:nvPr/>
        </p:nvSpPr>
        <p:spPr>
          <a:xfrm>
            <a:off x="6515100" y="3456046"/>
            <a:ext cx="4152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row = o înregistrare / un rând din tabelă.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707129-AE70-6BF3-6D6A-E649434E857A}"/>
              </a:ext>
            </a:extLst>
          </p:cNvPr>
          <p:cNvSpPr txBox="1"/>
          <p:nvPr/>
        </p:nvSpPr>
        <p:spPr>
          <a:xfrm>
            <a:off x="133350" y="5199913"/>
            <a:ext cx="3556000" cy="34363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cursor = </a:t>
            </a:r>
            <a:r>
              <a:rPr lang="en-GB" dirty="0" err="1"/>
              <a:t>obiect</a:t>
            </a:r>
            <a:r>
              <a:rPr lang="en-GB" dirty="0"/>
              <a:t> local </a:t>
            </a:r>
            <a:r>
              <a:rPr lang="en-GB" dirty="0" err="1"/>
              <a:t>în</a:t>
            </a:r>
            <a:r>
              <a:rPr lang="en-GB" dirty="0"/>
              <a:t> Python</a:t>
            </a:r>
          </a:p>
        </p:txBody>
      </p:sp>
    </p:spTree>
    <p:extLst>
      <p:ext uri="{BB962C8B-B14F-4D97-AF65-F5344CB8AC3E}">
        <p14:creationId xmlns:p14="http://schemas.microsoft.com/office/powerpoint/2010/main" val="162299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20891-488B-6F80-CEDD-CF7231C7D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E9C1C0DD-DCAA-6ADB-CF87-DDE321BFE020}"/>
              </a:ext>
            </a:extLst>
          </p:cNvPr>
          <p:cNvSpPr/>
          <p:nvPr/>
        </p:nvSpPr>
        <p:spPr>
          <a:xfrm>
            <a:off x="1885242" y="1647825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23C09-7917-E3A2-E092-6E39E7A5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442" y="2788443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Verificari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activitati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suspecte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MySQL</a:t>
            </a:r>
          </a:p>
        </p:txBody>
      </p:sp>
    </p:spTree>
    <p:extLst>
      <p:ext uri="{BB962C8B-B14F-4D97-AF65-F5344CB8AC3E}">
        <p14:creationId xmlns:p14="http://schemas.microsoft.com/office/powerpoint/2010/main" val="3409976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DC29-91B4-6DFE-6B19-ED81953CF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6068EDA3-D909-A163-BE07-DEC84F26ADF9}"/>
              </a:ext>
            </a:extLst>
          </p:cNvPr>
          <p:cNvSpPr/>
          <p:nvPr/>
        </p:nvSpPr>
        <p:spPr>
          <a:xfrm>
            <a:off x="4832350" y="998776"/>
            <a:ext cx="6826250" cy="4976574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5E0685-8FC3-06A9-D21A-B96EE829D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0" y="3389911"/>
            <a:ext cx="5854700" cy="12413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AF2750-4605-7BB2-1F72-1FEA03D0A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431312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AB2F70-4EAD-A90D-0646-5A3ADFFEF69B}"/>
              </a:ext>
            </a:extLst>
          </p:cNvPr>
          <p:cNvSpPr txBox="1"/>
          <p:nvPr/>
        </p:nvSpPr>
        <p:spPr>
          <a:xfrm>
            <a:off x="5321300" y="4818450"/>
            <a:ext cx="5854700" cy="6001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sz="1200" dirty="0"/>
              <a:t>RU = Rusia</a:t>
            </a:r>
          </a:p>
          <a:p>
            <a:r>
              <a:rPr lang="en-GB" sz="1200" dirty="0"/>
              <a:t>NG = Nigeria</a:t>
            </a:r>
          </a:p>
          <a:p>
            <a:r>
              <a:rPr lang="en-GB" sz="1200" dirty="0"/>
              <a:t>KP = </a:t>
            </a:r>
            <a:r>
              <a:rPr lang="en-GB" sz="1200" dirty="0" err="1"/>
              <a:t>Coreea</a:t>
            </a:r>
            <a:r>
              <a:rPr lang="en-GB" sz="1200" dirty="0"/>
              <a:t> de Nord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5E3D3-3B2C-5745-EADD-D3297F4A448D}"/>
              </a:ext>
            </a:extLst>
          </p:cNvPr>
          <p:cNvSpPr txBox="1"/>
          <p:nvPr/>
        </p:nvSpPr>
        <p:spPr>
          <a:xfrm>
            <a:off x="5321300" y="1534636"/>
            <a:ext cx="5854700" cy="1475264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sz="1800" dirty="0" err="1"/>
              <a:t>Comanda</a:t>
            </a:r>
            <a:r>
              <a:rPr lang="en-GB" sz="1800" dirty="0"/>
              <a:t> </a:t>
            </a:r>
            <a:r>
              <a:rPr lang="en-GB" sz="1800" dirty="0" err="1"/>
              <a:t>selectează</a:t>
            </a:r>
            <a:r>
              <a:rPr lang="en-GB" sz="1800" dirty="0"/>
              <a:t> </a:t>
            </a:r>
            <a:r>
              <a:rPr lang="en-GB" sz="1800" dirty="0" err="1"/>
              <a:t>coloanele</a:t>
            </a:r>
            <a:r>
              <a:rPr lang="en-GB" sz="1800" dirty="0"/>
              <a:t> id, client, amount, country, hour din </a:t>
            </a:r>
            <a:r>
              <a:rPr lang="en-GB" sz="1800" dirty="0" err="1"/>
              <a:t>tabela</a:t>
            </a:r>
            <a:r>
              <a:rPr lang="en-GB" sz="1800" dirty="0"/>
              <a:t> transactions. </a:t>
            </a:r>
            <a:r>
              <a:rPr lang="en-GB" sz="1800" dirty="0" err="1"/>
              <a:t>Apoi</a:t>
            </a:r>
            <a:r>
              <a:rPr lang="en-GB" sz="1800" dirty="0"/>
              <a:t> </a:t>
            </a:r>
            <a:r>
              <a:rPr lang="en-GB" sz="1800" dirty="0" err="1"/>
              <a:t>filtrează</a:t>
            </a:r>
            <a:r>
              <a:rPr lang="en-GB" sz="1800" dirty="0"/>
              <a:t> </a:t>
            </a:r>
            <a:r>
              <a:rPr lang="en-GB" sz="1800" dirty="0" err="1"/>
              <a:t>doar</a:t>
            </a:r>
            <a:r>
              <a:rPr lang="en-GB" sz="1800" dirty="0"/>
              <a:t> </a:t>
            </a:r>
            <a:r>
              <a:rPr lang="en-GB" sz="1800" dirty="0" err="1"/>
              <a:t>tranzacțiile</a:t>
            </a:r>
            <a:r>
              <a:rPr lang="en-GB" sz="1800" dirty="0"/>
              <a:t> </a:t>
            </a:r>
            <a:r>
              <a:rPr lang="en-GB" sz="1800" dirty="0" err="1"/>
              <a:t>unde</a:t>
            </a:r>
            <a:r>
              <a:rPr lang="en-GB" sz="1800" dirty="0"/>
              <a:t> amount &gt; 5000, </a:t>
            </a:r>
            <a:r>
              <a:rPr lang="en-GB" sz="1800" dirty="0" err="1"/>
              <a:t>sau</a:t>
            </a:r>
            <a:r>
              <a:rPr lang="en-GB" sz="1800" dirty="0"/>
              <a:t> hour &lt; 5, </a:t>
            </a:r>
            <a:r>
              <a:rPr lang="en-GB" sz="1800" dirty="0" err="1"/>
              <a:t>sau</a:t>
            </a:r>
            <a:r>
              <a:rPr lang="en-GB" sz="1800" dirty="0"/>
              <a:t> country </a:t>
            </a:r>
            <a:r>
              <a:rPr lang="en-GB" sz="1800" dirty="0" err="1"/>
              <a:t>este</a:t>
            </a:r>
            <a:r>
              <a:rPr lang="en-GB" sz="1800" dirty="0"/>
              <a:t> </a:t>
            </a:r>
            <a:r>
              <a:rPr lang="en-GB" sz="1800" dirty="0" err="1"/>
              <a:t>una</a:t>
            </a:r>
            <a:r>
              <a:rPr lang="en-GB" sz="1800" dirty="0"/>
              <a:t> </a:t>
            </a:r>
            <a:r>
              <a:rPr lang="en-GB" sz="1800" dirty="0" err="1"/>
              <a:t>dintre</a:t>
            </a:r>
            <a:r>
              <a:rPr lang="en-GB" sz="1800" dirty="0"/>
              <a:t> </a:t>
            </a:r>
            <a:r>
              <a:rPr lang="en-GB" sz="1800" dirty="0" err="1"/>
              <a:t>valorile</a:t>
            </a:r>
            <a:r>
              <a:rPr lang="en-GB" sz="1800" dirty="0"/>
              <a:t> RU, NG, KP. Cu </a:t>
            </a:r>
            <a:r>
              <a:rPr lang="en-GB" sz="1800" dirty="0" err="1"/>
              <a:t>alte</a:t>
            </a:r>
            <a:r>
              <a:rPr lang="en-GB" sz="1800" dirty="0"/>
              <a:t> </a:t>
            </a:r>
            <a:r>
              <a:rPr lang="en-GB" sz="1800" dirty="0" err="1"/>
              <a:t>cuvinte</a:t>
            </a:r>
            <a:r>
              <a:rPr lang="en-GB" sz="1800" dirty="0"/>
              <a:t>, </a:t>
            </a:r>
            <a:r>
              <a:rPr lang="en-GB" sz="1800" dirty="0" err="1"/>
              <a:t>scoate</a:t>
            </a:r>
            <a:r>
              <a:rPr lang="en-GB" sz="1800" dirty="0"/>
              <a:t> </a:t>
            </a:r>
            <a:r>
              <a:rPr lang="en-GB" sz="1800" dirty="0" err="1"/>
              <a:t>tranzacțiile</a:t>
            </a:r>
            <a:r>
              <a:rPr lang="en-GB" sz="1800" dirty="0"/>
              <a:t> considerate </a:t>
            </a:r>
            <a:r>
              <a:rPr lang="en-GB" sz="1800" dirty="0" err="1"/>
              <a:t>suspecte</a:t>
            </a:r>
            <a:r>
              <a:rPr lang="en-GB" sz="1800" dirty="0"/>
              <a:t> </a:t>
            </a:r>
            <a:r>
              <a:rPr lang="en-GB" sz="1800" dirty="0" err="1"/>
              <a:t>după</a:t>
            </a:r>
            <a:r>
              <a:rPr lang="en-GB" sz="1800" dirty="0"/>
              <a:t> </a:t>
            </a:r>
            <a:r>
              <a:rPr lang="en-GB" sz="1800" dirty="0" err="1"/>
              <a:t>aceste</a:t>
            </a:r>
            <a:r>
              <a:rPr lang="en-GB" sz="1800" dirty="0"/>
              <a:t> reguli.</a:t>
            </a:r>
          </a:p>
        </p:txBody>
      </p:sp>
    </p:spTree>
    <p:extLst>
      <p:ext uri="{BB962C8B-B14F-4D97-AF65-F5344CB8AC3E}">
        <p14:creationId xmlns:p14="http://schemas.microsoft.com/office/powerpoint/2010/main" val="151927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F1457-E30A-44E3-1403-8D4E67D3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105B6C05-38C1-8AE0-37A0-26A12B5046DE}"/>
              </a:ext>
            </a:extLst>
          </p:cNvPr>
          <p:cNvSpPr/>
          <p:nvPr/>
        </p:nvSpPr>
        <p:spPr>
          <a:xfrm>
            <a:off x="1885242" y="1647825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C38D14-C41B-0895-D80C-51F058EA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442" y="2788443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Flask + MySQL</a:t>
            </a:r>
          </a:p>
        </p:txBody>
      </p:sp>
    </p:spTree>
    <p:extLst>
      <p:ext uri="{BB962C8B-B14F-4D97-AF65-F5344CB8AC3E}">
        <p14:creationId xmlns:p14="http://schemas.microsoft.com/office/powerpoint/2010/main" val="3206770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50B86-E32E-8660-8BCF-BD3360945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ECBB78A7-599B-1201-D8D2-82C5F5E009D3}"/>
              </a:ext>
            </a:extLst>
          </p:cNvPr>
          <p:cNvSpPr/>
          <p:nvPr/>
        </p:nvSpPr>
        <p:spPr>
          <a:xfrm>
            <a:off x="4393720" y="558800"/>
            <a:ext cx="7449029" cy="2578099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45C3FB-B944-D641-4A80-A335A26A0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5762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454418-364F-3937-4C35-EB3418DF905B}"/>
              </a:ext>
            </a:extLst>
          </p:cNvPr>
          <p:cNvSpPr txBox="1"/>
          <p:nvPr/>
        </p:nvSpPr>
        <p:spPr>
          <a:xfrm>
            <a:off x="4773515" y="989657"/>
            <a:ext cx="184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pip install flask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36AA6-7B79-5311-B344-7D46714E7C3D}"/>
              </a:ext>
            </a:extLst>
          </p:cNvPr>
          <p:cNvSpPr txBox="1"/>
          <p:nvPr/>
        </p:nvSpPr>
        <p:spPr>
          <a:xfrm>
            <a:off x="4773515" y="1541491"/>
            <a:ext cx="2724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python -m flask --version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6223D-A001-80CA-DED9-3CBED65AD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712" y="697557"/>
            <a:ext cx="3930509" cy="2273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39AE3C-30D9-A8E9-CA82-11A6146E7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904" y="4729434"/>
            <a:ext cx="7068317" cy="143100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A092A8-9532-EAF5-2600-5CFCD2DC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046" y="3850967"/>
            <a:ext cx="6307331" cy="878467"/>
          </a:xfrm>
        </p:spPr>
        <p:txBody>
          <a:bodyPr/>
          <a:lstStyle/>
          <a:p>
            <a:r>
              <a:rPr lang="en-US" dirty="0"/>
              <a:t>Flask </a:t>
            </a:r>
            <a:r>
              <a:rPr lang="en-US" dirty="0" err="1"/>
              <a:t>instalare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5190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7C0E7-9C39-7684-6017-ED752AC0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FF437D58-4804-E53F-6027-705FF0890AAA}"/>
              </a:ext>
            </a:extLst>
          </p:cNvPr>
          <p:cNvSpPr/>
          <p:nvPr/>
        </p:nvSpPr>
        <p:spPr>
          <a:xfrm>
            <a:off x="285271" y="310634"/>
            <a:ext cx="5372580" cy="5918716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28D86-C4E3-3D32-B821-A5919628E40D}"/>
              </a:ext>
            </a:extLst>
          </p:cNvPr>
          <p:cNvSpPr txBox="1"/>
          <p:nvPr/>
        </p:nvSpPr>
        <p:spPr>
          <a:xfrm>
            <a:off x="6096000" y="0"/>
            <a:ext cx="6096000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0 - </a:t>
            </a:r>
            <a:r>
              <a:rPr lang="en-GB" dirty="0" err="1"/>
              <a:t>scheletul</a:t>
            </a:r>
            <a:r>
              <a:rPr lang="en-GB" dirty="0"/>
              <a:t> minim Flask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D2047B-DA51-E06C-9FD2-D7E23BB50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03730"/>
            <a:ext cx="4896533" cy="2943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3B1BFC-D860-B1FB-6924-386871AB9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36559"/>
            <a:ext cx="3629532" cy="1657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5527E9-5F55-5FCF-D93B-249AD20E8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50" y="781050"/>
            <a:ext cx="4697805" cy="502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573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51D61-DF16-3B19-77D4-834C388B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6E632C-499A-7D6C-FEA4-36A032F5E3D9}"/>
              </a:ext>
            </a:extLst>
          </p:cNvPr>
          <p:cNvSpPr txBox="1"/>
          <p:nvPr/>
        </p:nvSpPr>
        <p:spPr>
          <a:xfrm>
            <a:off x="4965700" y="-5775"/>
            <a:ext cx="7226300" cy="62342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1 - endpoint pentru </a:t>
            </a:r>
            <a:r>
              <a:rPr lang="en-GB" dirty="0" err="1"/>
              <a:t>creare</a:t>
            </a:r>
            <a:r>
              <a:rPr lang="en-GB" dirty="0"/>
              <a:t> </a:t>
            </a:r>
            <a:r>
              <a:rPr lang="en-GB" dirty="0" err="1"/>
              <a:t>bază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tabelă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D6B49-1CCA-0438-FFED-D26E09CB9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0" y="1876208"/>
            <a:ext cx="3562847" cy="15527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12978C-583D-4210-B717-91E0A6CFE248}"/>
              </a:ext>
            </a:extLst>
          </p:cNvPr>
          <p:cNvSpPr txBox="1"/>
          <p:nvPr/>
        </p:nvSpPr>
        <p:spPr>
          <a:xfrm>
            <a:off x="5683250" y="1368872"/>
            <a:ext cx="332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http://127.0.0.1:5000/setup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88D74D-E03C-A0D0-6E70-D46071DD3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4530121"/>
            <a:ext cx="6050662" cy="19536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1AE09E-C53C-1083-5336-5B7F234AF546}"/>
              </a:ext>
            </a:extLst>
          </p:cNvPr>
          <p:cNvSpPr txBox="1"/>
          <p:nvPr/>
        </p:nvSpPr>
        <p:spPr>
          <a:xfrm>
            <a:off x="304800" y="309869"/>
            <a:ext cx="4984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Adaugati</a:t>
            </a:r>
            <a:r>
              <a:rPr lang="en-GB" sz="1400" dirty="0"/>
              <a:t> </a:t>
            </a:r>
            <a:r>
              <a:rPr lang="en-GB" sz="1400" dirty="0" err="1"/>
              <a:t>acest</a:t>
            </a:r>
            <a:r>
              <a:rPr lang="en-GB" sz="1400" dirty="0"/>
              <a:t> cod </a:t>
            </a:r>
            <a:r>
              <a:rPr lang="en-GB" sz="1400" dirty="0" err="1"/>
              <a:t>înainte</a:t>
            </a:r>
            <a:r>
              <a:rPr lang="en-GB" sz="1400" dirty="0"/>
              <a:t> de </a:t>
            </a:r>
            <a:r>
              <a:rPr lang="en-GB" sz="1400" b="1" dirty="0" err="1">
                <a:latin typeface="Courier New" panose="02070309020205020404" pitchFamily="49" charset="0"/>
              </a:rPr>
              <a:t>app.run</a:t>
            </a:r>
            <a:r>
              <a:rPr lang="en-GB" sz="1400" b="1" dirty="0">
                <a:latin typeface="Courier New" panose="02070309020205020404" pitchFamily="49" charset="0"/>
              </a:rPr>
              <a:t>(debug=True)</a:t>
            </a:r>
            <a:r>
              <a:rPr lang="en-GB" sz="1400" dirty="0"/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8E72F8-84F5-E0FA-95C9-67D92A247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54" y="755650"/>
            <a:ext cx="4853396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399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4915A-5DF7-3B46-F521-C0841454C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177704-981B-CB40-8A73-7BB7D537697F}"/>
              </a:ext>
            </a:extLst>
          </p:cNvPr>
          <p:cNvSpPr txBox="1"/>
          <p:nvPr/>
        </p:nvSpPr>
        <p:spPr>
          <a:xfrm>
            <a:off x="5626605" y="0"/>
            <a:ext cx="6565395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2 - endpoint pentru </a:t>
            </a:r>
            <a:r>
              <a:rPr lang="en-GB" dirty="0" err="1"/>
              <a:t>afișarea</a:t>
            </a:r>
            <a:r>
              <a:rPr lang="en-GB" dirty="0"/>
              <a:t> </a:t>
            </a:r>
            <a:r>
              <a:rPr lang="en-GB" dirty="0" err="1"/>
              <a:t>datelor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21FC4-40CE-516F-EF30-03762F9F2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61" y="1184013"/>
            <a:ext cx="4407389" cy="2359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CEDBBD-0D45-84A1-A027-EB468F6A2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020" y="4368880"/>
            <a:ext cx="8021169" cy="13051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B3D805-6336-2213-9A20-58B3D073E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6605" y="1184013"/>
            <a:ext cx="5631440" cy="23593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4BEF30-6424-F4DC-CA27-B9A55D57D065}"/>
              </a:ext>
            </a:extLst>
          </p:cNvPr>
          <p:cNvSpPr txBox="1"/>
          <p:nvPr/>
        </p:nvSpPr>
        <p:spPr>
          <a:xfrm>
            <a:off x="558800" y="575854"/>
            <a:ext cx="4984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Adaugati</a:t>
            </a:r>
            <a:r>
              <a:rPr lang="en-GB" sz="1400" dirty="0"/>
              <a:t> </a:t>
            </a:r>
            <a:r>
              <a:rPr lang="en-GB" sz="1400" dirty="0" err="1"/>
              <a:t>acest</a:t>
            </a:r>
            <a:r>
              <a:rPr lang="en-GB" sz="1400" dirty="0"/>
              <a:t> cod </a:t>
            </a:r>
            <a:r>
              <a:rPr lang="en-GB" sz="1400" dirty="0" err="1"/>
              <a:t>înainte</a:t>
            </a:r>
            <a:r>
              <a:rPr lang="en-GB" sz="1400" dirty="0"/>
              <a:t> de </a:t>
            </a:r>
            <a:r>
              <a:rPr lang="en-GB" sz="1400" b="1" dirty="0" err="1">
                <a:latin typeface="Courier New" panose="02070309020205020404" pitchFamily="49" charset="0"/>
              </a:rPr>
              <a:t>app.run</a:t>
            </a:r>
            <a:r>
              <a:rPr lang="en-GB" sz="1400" b="1" dirty="0">
                <a:latin typeface="Courier New" panose="02070309020205020404" pitchFamily="49" charset="0"/>
              </a:rPr>
              <a:t>(debug=True)</a:t>
            </a:r>
            <a:r>
              <a:rPr lang="en-GB" sz="1400" dirty="0"/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D47789-A9B2-7B5E-9FB3-B5C3180F79BB}"/>
              </a:ext>
            </a:extLst>
          </p:cNvPr>
          <p:cNvSpPr txBox="1"/>
          <p:nvPr/>
        </p:nvSpPr>
        <p:spPr>
          <a:xfrm>
            <a:off x="1530855" y="3866663"/>
            <a:ext cx="271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ED7548-C364-A6B4-2529-A9D4D8817B99}"/>
              </a:ext>
            </a:extLst>
          </p:cNvPr>
          <p:cNvSpPr txBox="1"/>
          <p:nvPr/>
        </p:nvSpPr>
        <p:spPr>
          <a:xfrm>
            <a:off x="304800" y="6051034"/>
            <a:ext cx="1122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La </a:t>
            </a:r>
            <a:r>
              <a:rPr lang="en-GB" dirty="0" err="1"/>
              <a:t>început</a:t>
            </a:r>
            <a:r>
              <a:rPr lang="en-GB" dirty="0"/>
              <a:t> </a:t>
            </a:r>
            <a:r>
              <a:rPr lang="en-GB" dirty="0" err="1"/>
              <a:t>trebuie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apară</a:t>
            </a:r>
            <a:r>
              <a:rPr lang="en-GB" dirty="0"/>
              <a:t>: [], </a:t>
            </a:r>
            <a:r>
              <a:rPr lang="en-GB" dirty="0" err="1"/>
              <a:t>dacă</a:t>
            </a:r>
            <a:r>
              <a:rPr lang="en-GB" dirty="0"/>
              <a:t> </a:t>
            </a:r>
            <a:r>
              <a:rPr lang="en-GB" dirty="0" err="1"/>
              <a:t>tabela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goală</a:t>
            </a:r>
            <a:r>
              <a:rPr lang="en-GB" dirty="0"/>
              <a:t>. </a:t>
            </a:r>
            <a:r>
              <a:rPr lang="en-GB" dirty="0" err="1"/>
              <a:t>Totuși</a:t>
            </a:r>
            <a:r>
              <a:rPr lang="en-GB" dirty="0"/>
              <a:t>,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cazul</a:t>
            </a:r>
            <a:r>
              <a:rPr lang="en-GB" dirty="0"/>
              <a:t> </a:t>
            </a:r>
            <a:r>
              <a:rPr lang="en-GB" dirty="0" err="1"/>
              <a:t>nostru</a:t>
            </a:r>
            <a:r>
              <a:rPr lang="en-GB" dirty="0"/>
              <a:t>, </a:t>
            </a:r>
            <a:r>
              <a:rPr lang="en-GB" dirty="0" err="1"/>
              <a:t>tabela</a:t>
            </a:r>
            <a:r>
              <a:rPr lang="en-GB" dirty="0"/>
              <a:t> </a:t>
            </a:r>
            <a:r>
              <a:rPr lang="en-GB" dirty="0" err="1"/>
              <a:t>există</a:t>
            </a:r>
            <a:r>
              <a:rPr lang="en-GB" dirty="0"/>
              <a:t> </a:t>
            </a:r>
            <a:r>
              <a:rPr lang="en-GB" dirty="0" err="1"/>
              <a:t>deja</a:t>
            </a:r>
            <a:r>
              <a:rPr lang="en-GB" dirty="0"/>
              <a:t> din </a:t>
            </a:r>
            <a:r>
              <a:rPr lang="en-GB" dirty="0" err="1"/>
              <a:t>exercițiul</a:t>
            </a:r>
            <a:r>
              <a:rPr lang="en-GB" dirty="0"/>
              <a:t> precedent, </a:t>
            </a:r>
            <a:r>
              <a:rPr lang="en-GB" dirty="0" err="1"/>
              <a:t>deci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posibil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apară</a:t>
            </a:r>
            <a:r>
              <a:rPr lang="en-GB" dirty="0"/>
              <a:t> </a:t>
            </a:r>
            <a:r>
              <a:rPr lang="en-GB" dirty="0" err="1"/>
              <a:t>înregistrările</a:t>
            </a:r>
            <a:r>
              <a:rPr lang="en-GB" dirty="0"/>
              <a:t> </a:t>
            </a:r>
            <a:r>
              <a:rPr lang="en-GB" dirty="0" err="1"/>
              <a:t>introduse</a:t>
            </a:r>
            <a:r>
              <a:rPr lang="en-GB" dirty="0"/>
              <a:t> anterior.</a:t>
            </a:r>
          </a:p>
        </p:txBody>
      </p:sp>
    </p:spTree>
    <p:extLst>
      <p:ext uri="{BB962C8B-B14F-4D97-AF65-F5344CB8AC3E}">
        <p14:creationId xmlns:p14="http://schemas.microsoft.com/office/powerpoint/2010/main" val="313427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E406E-2785-2E4C-1AC5-EC7C949A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A1C0E2-D164-FE3D-7ECA-11083CD0136C}"/>
              </a:ext>
            </a:extLst>
          </p:cNvPr>
          <p:cNvSpPr txBox="1"/>
          <p:nvPr/>
        </p:nvSpPr>
        <p:spPr>
          <a:xfrm>
            <a:off x="6788150" y="831334"/>
            <a:ext cx="5403850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3 - endpoint pentru </a:t>
            </a:r>
            <a:r>
              <a:rPr lang="en-GB" dirty="0" err="1"/>
              <a:t>inserare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0C99C-EA2B-D643-FADB-A271F27FEC08}"/>
              </a:ext>
            </a:extLst>
          </p:cNvPr>
          <p:cNvSpPr txBox="1"/>
          <p:nvPr/>
        </p:nvSpPr>
        <p:spPr>
          <a:xfrm>
            <a:off x="740716" y="218785"/>
            <a:ext cx="4984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Adaugati</a:t>
            </a:r>
            <a:r>
              <a:rPr lang="en-GB" sz="1400" dirty="0"/>
              <a:t> </a:t>
            </a:r>
            <a:r>
              <a:rPr lang="en-GB" sz="1400" dirty="0" err="1"/>
              <a:t>acest</a:t>
            </a:r>
            <a:r>
              <a:rPr lang="en-GB" sz="1400" dirty="0"/>
              <a:t> cod </a:t>
            </a:r>
            <a:r>
              <a:rPr lang="en-GB" sz="1400" dirty="0" err="1"/>
              <a:t>înainte</a:t>
            </a:r>
            <a:r>
              <a:rPr lang="en-GB" sz="1400" dirty="0"/>
              <a:t> de </a:t>
            </a:r>
            <a:r>
              <a:rPr lang="en-GB" sz="1400" b="1" dirty="0" err="1">
                <a:latin typeface="Courier New" panose="02070309020205020404" pitchFamily="49" charset="0"/>
              </a:rPr>
              <a:t>app.run</a:t>
            </a:r>
            <a:r>
              <a:rPr lang="en-GB" sz="1400" b="1" dirty="0">
                <a:latin typeface="Courier New" panose="02070309020205020404" pitchFamily="49" charset="0"/>
              </a:rPr>
              <a:t>(debug=True)</a:t>
            </a:r>
            <a:r>
              <a:rPr lang="en-GB" sz="1400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94EA56-45A6-388F-9C6C-449DF1264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87" y="578700"/>
            <a:ext cx="5227841" cy="2654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6E5B3F-EE68-EC37-0F17-0F5F875A6BCD}"/>
              </a:ext>
            </a:extLst>
          </p:cNvPr>
          <p:cNvSpPr txBox="1"/>
          <p:nvPr/>
        </p:nvSpPr>
        <p:spPr>
          <a:xfrm>
            <a:off x="6788150" y="2437884"/>
            <a:ext cx="4737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http://127.0.0.1:5000/insert/C1/14000000000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3C38E9C-B469-CEF0-9F30-D66B8A598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949" y="5697676"/>
            <a:ext cx="8320337" cy="7876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5BE74F-F120-F162-095A-33DEA842B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526" y="2921690"/>
            <a:ext cx="4105848" cy="11431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83E6C78-D1B4-75B4-2D95-EC60DBE31768}"/>
              </a:ext>
            </a:extLst>
          </p:cNvPr>
          <p:cNvSpPr txBox="1"/>
          <p:nvPr/>
        </p:nvSpPr>
        <p:spPr>
          <a:xfrm>
            <a:off x="7052616" y="5019076"/>
            <a:ext cx="4472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Deci “country” </a:t>
            </a:r>
            <a:r>
              <a:rPr lang="en-GB" dirty="0" err="1"/>
              <a:t>și</a:t>
            </a:r>
            <a:r>
              <a:rPr lang="en-GB" dirty="0"/>
              <a:t> “hour” </a:t>
            </a:r>
            <a:r>
              <a:rPr lang="en-GB" dirty="0" err="1"/>
              <a:t>rămân</a:t>
            </a:r>
            <a:r>
              <a:rPr lang="en-GB" dirty="0"/>
              <a:t> </a:t>
            </a:r>
            <a:r>
              <a:rPr lang="en-GB" dirty="0" err="1"/>
              <a:t>goale</a:t>
            </a:r>
            <a:r>
              <a:rPr lang="en-GB" dirty="0"/>
              <a:t>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06A0C5E-3E0D-85D2-05AC-FB71E69A3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187" y="3371897"/>
            <a:ext cx="5458994" cy="219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89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C2CE-E90A-47D6-6A81-955D81FB4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884D98-77A5-83D1-90BD-9906E04E8A3F}"/>
              </a:ext>
            </a:extLst>
          </p:cNvPr>
          <p:cNvSpPr txBox="1"/>
          <p:nvPr/>
        </p:nvSpPr>
        <p:spPr>
          <a:xfrm>
            <a:off x="6096000" y="480662"/>
            <a:ext cx="6096000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4 - endpoint pentru </a:t>
            </a:r>
            <a:r>
              <a:rPr lang="en-GB" dirty="0" err="1"/>
              <a:t>căutare</a:t>
            </a:r>
            <a:r>
              <a:rPr lang="en-GB" dirty="0"/>
              <a:t> client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2573E-FD0E-2DBA-A5CB-488E9847B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683862"/>
            <a:ext cx="4848761" cy="3170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110041-D769-29C9-25BC-6B773ABB3D9C}"/>
              </a:ext>
            </a:extLst>
          </p:cNvPr>
          <p:cNvSpPr txBox="1"/>
          <p:nvPr/>
        </p:nvSpPr>
        <p:spPr>
          <a:xfrm>
            <a:off x="6038850" y="1696502"/>
            <a:ext cx="356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http://127.0.0.1:5000/search/C1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419C4C-9D3C-9680-067C-13CFBF783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93844"/>
            <a:ext cx="5363555" cy="9737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E76189-4D0C-20B3-F22C-79F5BDF6151A}"/>
              </a:ext>
            </a:extLst>
          </p:cNvPr>
          <p:cNvSpPr txBox="1"/>
          <p:nvPr/>
        </p:nvSpPr>
        <p:spPr>
          <a:xfrm>
            <a:off x="6826250" y="4559850"/>
            <a:ext cx="393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http://127.0.0.1:5000/search/C99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DAC9CC-1DF2-B197-7FE8-8A20FF432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850" y="5113837"/>
            <a:ext cx="3591426" cy="10955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BBE96C-FCDB-78E3-16DD-52B340F1A401}"/>
              </a:ext>
            </a:extLst>
          </p:cNvPr>
          <p:cNvSpPr txBox="1"/>
          <p:nvPr/>
        </p:nvSpPr>
        <p:spPr>
          <a:xfrm>
            <a:off x="6870700" y="4192066"/>
            <a:ext cx="3790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Dacă</a:t>
            </a:r>
            <a:r>
              <a:rPr lang="en-GB" dirty="0"/>
              <a:t> nu </a:t>
            </a:r>
            <a:r>
              <a:rPr lang="en-GB" dirty="0" err="1"/>
              <a:t>există</a:t>
            </a:r>
            <a:r>
              <a:rPr lang="en-GB" dirty="0"/>
              <a:t>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D13DB2-B2BD-CB32-2543-2CD6E4C0B8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" y="4297098"/>
            <a:ext cx="5256921" cy="196949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EF3B357-4003-B893-246D-425F154CEA9A}"/>
              </a:ext>
            </a:extLst>
          </p:cNvPr>
          <p:cNvSpPr txBox="1"/>
          <p:nvPr/>
        </p:nvSpPr>
        <p:spPr>
          <a:xfrm>
            <a:off x="535255" y="172885"/>
            <a:ext cx="4984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Adaugati</a:t>
            </a:r>
            <a:r>
              <a:rPr lang="en-GB" sz="1400" dirty="0"/>
              <a:t> </a:t>
            </a:r>
            <a:r>
              <a:rPr lang="en-GB" sz="1400" dirty="0" err="1"/>
              <a:t>acest</a:t>
            </a:r>
            <a:r>
              <a:rPr lang="en-GB" sz="1400" dirty="0"/>
              <a:t> cod </a:t>
            </a:r>
            <a:r>
              <a:rPr lang="en-GB" sz="1400" dirty="0" err="1"/>
              <a:t>înainte</a:t>
            </a:r>
            <a:r>
              <a:rPr lang="en-GB" sz="1400" dirty="0"/>
              <a:t> de </a:t>
            </a:r>
            <a:r>
              <a:rPr lang="en-GB" sz="1400" b="1" dirty="0" err="1">
                <a:latin typeface="Courier New" panose="02070309020205020404" pitchFamily="49" charset="0"/>
              </a:rPr>
              <a:t>app.run</a:t>
            </a:r>
            <a:r>
              <a:rPr lang="en-GB" sz="1400" b="1" dirty="0">
                <a:latin typeface="Courier New" panose="02070309020205020404" pitchFamily="49" charset="0"/>
              </a:rPr>
              <a:t>(debug=True)</a:t>
            </a:r>
            <a:r>
              <a:rPr lang="en-GB" sz="1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380823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6A82F-BA45-885F-18C0-FE3656A92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B7DCEF-2E85-37AC-4F36-71E04A546003}"/>
              </a:ext>
            </a:extLst>
          </p:cNvPr>
          <p:cNvSpPr txBox="1"/>
          <p:nvPr/>
        </p:nvSpPr>
        <p:spPr>
          <a:xfrm>
            <a:off x="5099050" y="1957"/>
            <a:ext cx="7092950" cy="74281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5 - endpoint pentru </a:t>
            </a:r>
            <a:r>
              <a:rPr lang="en-GB" dirty="0" err="1"/>
              <a:t>ștergere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649ED-46B2-0ED2-3B4E-DA0FB263A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28" y="295859"/>
            <a:ext cx="4228958" cy="2907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7EAC45-B871-82CA-B7CD-6E887D867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147" y="1426592"/>
            <a:ext cx="3591426" cy="1267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378ECE-10BF-B6F6-E30F-43CA3FBFCFE9}"/>
              </a:ext>
            </a:extLst>
          </p:cNvPr>
          <p:cNvSpPr txBox="1"/>
          <p:nvPr/>
        </p:nvSpPr>
        <p:spPr>
          <a:xfrm>
            <a:off x="5221260" y="962034"/>
            <a:ext cx="3289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http://127.0.0.1:5000/delete/1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2D6E29-9953-D76C-FC33-1F3F5E0C7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60" y="3839969"/>
            <a:ext cx="5622980" cy="9149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825CF82-6EBB-0D20-9BF8-7ADFFDBB27F5}"/>
              </a:ext>
            </a:extLst>
          </p:cNvPr>
          <p:cNvSpPr txBox="1"/>
          <p:nvPr/>
        </p:nvSpPr>
        <p:spPr>
          <a:xfrm>
            <a:off x="5163605" y="3150223"/>
            <a:ext cx="2711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Inainte</a:t>
            </a:r>
            <a:r>
              <a:rPr lang="en-GB" dirty="0"/>
              <a:t>:</a:t>
            </a:r>
          </a:p>
          <a:p>
            <a:r>
              <a:rPr lang="en-GB" dirty="0"/>
              <a:t>http://127.0.0.1:5000/all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56C3C5-7A20-0353-4D35-CC0D70325FA5}"/>
              </a:ext>
            </a:extLst>
          </p:cNvPr>
          <p:cNvSpPr txBox="1"/>
          <p:nvPr/>
        </p:nvSpPr>
        <p:spPr>
          <a:xfrm>
            <a:off x="359028" y="5009353"/>
            <a:ext cx="2711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Dupa:</a:t>
            </a:r>
          </a:p>
          <a:p>
            <a:r>
              <a:rPr lang="en-GB" dirty="0"/>
              <a:t>http://127.0.0.1:5000/all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37A9E1-5223-F70B-43BC-AE2556A07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028" y="5742514"/>
            <a:ext cx="8550023" cy="9363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D741582-1F13-0D0D-5EE7-9F3FFAAEC04F}"/>
              </a:ext>
            </a:extLst>
          </p:cNvPr>
          <p:cNvSpPr txBox="1"/>
          <p:nvPr/>
        </p:nvSpPr>
        <p:spPr>
          <a:xfrm>
            <a:off x="5581650" y="5332518"/>
            <a:ext cx="361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Tranzacția cu id = 1 nu mai apare.</a:t>
            </a:r>
            <a:endParaRPr lang="en-GB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C87049B-F11E-0B6B-F3E3-03EE4F7F88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028" y="3289733"/>
            <a:ext cx="4228958" cy="171962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EC69D6B-70FE-F364-B75B-F4167F9568C2}"/>
              </a:ext>
            </a:extLst>
          </p:cNvPr>
          <p:cNvSpPr txBox="1"/>
          <p:nvPr/>
        </p:nvSpPr>
        <p:spPr>
          <a:xfrm>
            <a:off x="236510" y="-11918"/>
            <a:ext cx="4984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Adaugati</a:t>
            </a:r>
            <a:r>
              <a:rPr lang="en-GB" sz="1400" dirty="0"/>
              <a:t> </a:t>
            </a:r>
            <a:r>
              <a:rPr lang="en-GB" sz="1400" dirty="0" err="1"/>
              <a:t>acest</a:t>
            </a:r>
            <a:r>
              <a:rPr lang="en-GB" sz="1400" dirty="0"/>
              <a:t> cod </a:t>
            </a:r>
            <a:r>
              <a:rPr lang="en-GB" sz="1400" dirty="0" err="1"/>
              <a:t>înainte</a:t>
            </a:r>
            <a:r>
              <a:rPr lang="en-GB" sz="1400" dirty="0"/>
              <a:t> de </a:t>
            </a:r>
            <a:r>
              <a:rPr lang="en-GB" sz="1400" b="1" dirty="0" err="1">
                <a:latin typeface="Courier New" panose="02070309020205020404" pitchFamily="49" charset="0"/>
              </a:rPr>
              <a:t>app.run</a:t>
            </a:r>
            <a:r>
              <a:rPr lang="en-GB" sz="1400" b="1" dirty="0">
                <a:latin typeface="Courier New" panose="02070309020205020404" pitchFamily="49" charset="0"/>
              </a:rPr>
              <a:t>(debug=True)</a:t>
            </a:r>
            <a:r>
              <a:rPr lang="en-GB" sz="1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6098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B5831-7364-8E3F-E9EC-30D66D6B7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59A2A695-7BE6-BAA4-9C94-11C083FE49BE}"/>
              </a:ext>
            </a:extLst>
          </p:cNvPr>
          <p:cNvSpPr/>
          <p:nvPr/>
        </p:nvSpPr>
        <p:spPr>
          <a:xfrm>
            <a:off x="6276975" y="1263908"/>
            <a:ext cx="4705350" cy="2762946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3AE81-78CB-1B6A-B03F-72D58E97C571}"/>
              </a:ext>
            </a:extLst>
          </p:cNvPr>
          <p:cNvSpPr txBox="1"/>
          <p:nvPr/>
        </p:nvSpPr>
        <p:spPr>
          <a:xfrm>
            <a:off x="6045201" y="0"/>
            <a:ext cx="6146799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6 - endpoint pentru </a:t>
            </a:r>
            <a:r>
              <a:rPr lang="en-GB" dirty="0" err="1"/>
              <a:t>modificare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43736-1090-08DC-C99F-DBA0F72BD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8554"/>
            <a:ext cx="4479882" cy="27629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E74536-239D-026B-5811-75A65F9D9AF1}"/>
              </a:ext>
            </a:extLst>
          </p:cNvPr>
          <p:cNvSpPr txBox="1"/>
          <p:nvPr/>
        </p:nvSpPr>
        <p:spPr>
          <a:xfrm>
            <a:off x="6756400" y="1673895"/>
            <a:ext cx="397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http://127.0.0.1:5000/update/2/999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1CD1A2-96BA-1137-F67F-A1BFA4C3D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937" y="2190657"/>
            <a:ext cx="3591426" cy="13336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37EEE8-8229-639B-6D7C-4E847D56C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26" y="5413299"/>
            <a:ext cx="10907647" cy="1086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41F288-1821-39A2-29EA-AF980BC699F9}"/>
              </a:ext>
            </a:extLst>
          </p:cNvPr>
          <p:cNvSpPr txBox="1"/>
          <p:nvPr/>
        </p:nvSpPr>
        <p:spPr>
          <a:xfrm>
            <a:off x="375476" y="4975595"/>
            <a:ext cx="265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http://127.0.0.1:5000/all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6B04CE-18B7-8742-A739-7FCEEFB71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79872"/>
            <a:ext cx="4476749" cy="15922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AC376D6-7FEF-448D-7E9D-61C59489F872}"/>
              </a:ext>
            </a:extLst>
          </p:cNvPr>
          <p:cNvSpPr txBox="1"/>
          <p:nvPr/>
        </p:nvSpPr>
        <p:spPr>
          <a:xfrm>
            <a:off x="6153150" y="4999439"/>
            <a:ext cx="533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Trebuie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vezi</a:t>
            </a:r>
            <a:r>
              <a:rPr lang="en-GB" dirty="0"/>
              <a:t> </a:t>
            </a:r>
            <a:r>
              <a:rPr lang="en-GB" dirty="0" err="1"/>
              <a:t>că</a:t>
            </a:r>
            <a:r>
              <a:rPr lang="en-GB" dirty="0"/>
              <a:t> </a:t>
            </a:r>
            <a:r>
              <a:rPr lang="en-GB" dirty="0" err="1"/>
              <a:t>suma</a:t>
            </a:r>
            <a:r>
              <a:rPr lang="en-GB" dirty="0"/>
              <a:t> pentru id = 2 a </a:t>
            </a:r>
            <a:r>
              <a:rPr lang="en-GB" dirty="0" err="1"/>
              <a:t>devenit</a:t>
            </a:r>
            <a:r>
              <a:rPr lang="en-GB" dirty="0"/>
              <a:t> 999.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12F2E6-E1C6-27DF-8BE4-9E8AC5D68753}"/>
              </a:ext>
            </a:extLst>
          </p:cNvPr>
          <p:cNvSpPr txBox="1"/>
          <p:nvPr/>
        </p:nvSpPr>
        <p:spPr>
          <a:xfrm>
            <a:off x="0" y="18513"/>
            <a:ext cx="4984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Adaugati</a:t>
            </a:r>
            <a:r>
              <a:rPr lang="en-GB" sz="1400" dirty="0"/>
              <a:t> </a:t>
            </a:r>
            <a:r>
              <a:rPr lang="en-GB" sz="1400" dirty="0" err="1"/>
              <a:t>acest</a:t>
            </a:r>
            <a:r>
              <a:rPr lang="en-GB" sz="1400" dirty="0"/>
              <a:t> cod </a:t>
            </a:r>
            <a:r>
              <a:rPr lang="en-GB" sz="1400" dirty="0" err="1"/>
              <a:t>înainte</a:t>
            </a:r>
            <a:r>
              <a:rPr lang="en-GB" sz="1400" dirty="0"/>
              <a:t> de </a:t>
            </a:r>
            <a:r>
              <a:rPr lang="en-GB" sz="1400" b="1" dirty="0" err="1">
                <a:latin typeface="Courier New" panose="02070309020205020404" pitchFamily="49" charset="0"/>
              </a:rPr>
              <a:t>app.run</a:t>
            </a:r>
            <a:r>
              <a:rPr lang="en-GB" sz="1400" b="1" dirty="0">
                <a:latin typeface="Courier New" panose="02070309020205020404" pitchFamily="49" charset="0"/>
              </a:rPr>
              <a:t>(debug=True)</a:t>
            </a:r>
            <a:r>
              <a:rPr lang="en-GB" sz="1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13447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2930863A-85FD-E276-DB91-F2429C1B0341}"/>
              </a:ext>
            </a:extLst>
          </p:cNvPr>
          <p:cNvSpPr/>
          <p:nvPr/>
        </p:nvSpPr>
        <p:spPr>
          <a:xfrm>
            <a:off x="6172200" y="1122352"/>
            <a:ext cx="4667250" cy="5118054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B04B2B-03B1-AF5D-80F3-D694CE6BC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32" y="1648213"/>
            <a:ext cx="4392052" cy="24291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53E411-9A5E-9ECE-1676-9A7D857DDBE2}"/>
              </a:ext>
            </a:extLst>
          </p:cNvPr>
          <p:cNvSpPr txBox="1"/>
          <p:nvPr/>
        </p:nvSpPr>
        <p:spPr>
          <a:xfrm>
            <a:off x="6683125" y="1465123"/>
            <a:ext cx="3790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Inainte</a:t>
            </a:r>
            <a:r>
              <a:rPr lang="en-GB" dirty="0"/>
              <a:t>:</a:t>
            </a:r>
          </a:p>
          <a:p>
            <a:r>
              <a:rPr lang="en-GB" dirty="0"/>
              <a:t>http://127.0.0.1:5000/clear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205FC4-3B6B-313F-CFC4-D84C04731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925" y="2170973"/>
            <a:ext cx="3581900" cy="1267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02C295-B57D-D2B4-1F65-234B41867872}"/>
              </a:ext>
            </a:extLst>
          </p:cNvPr>
          <p:cNvSpPr txBox="1"/>
          <p:nvPr/>
        </p:nvSpPr>
        <p:spPr>
          <a:xfrm>
            <a:off x="0" y="0"/>
            <a:ext cx="12192001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7 - </a:t>
            </a:r>
            <a:r>
              <a:rPr lang="it-IT" dirty="0"/>
              <a:t>ștergere rapidă a tuturor rândurilor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3DBB4E-D823-7179-91CE-10D004977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925" y="4576177"/>
            <a:ext cx="2781688" cy="12193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CC3BE5-F437-B01D-8BF4-829A602BC467}"/>
              </a:ext>
            </a:extLst>
          </p:cNvPr>
          <p:cNvSpPr txBox="1"/>
          <p:nvPr/>
        </p:nvSpPr>
        <p:spPr>
          <a:xfrm>
            <a:off x="6683125" y="3810808"/>
            <a:ext cx="3790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Dupa:</a:t>
            </a:r>
          </a:p>
          <a:p>
            <a:r>
              <a:rPr lang="en-GB" dirty="0"/>
              <a:t>http://127.0.0.1:5000/clear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0711DF-90B0-044C-9FBA-1DDBF5CA0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932" y="4350522"/>
            <a:ext cx="4392052" cy="18898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B3AB164-E27D-AD2E-EC3F-AA49686BB433}"/>
              </a:ext>
            </a:extLst>
          </p:cNvPr>
          <p:cNvSpPr txBox="1"/>
          <p:nvPr/>
        </p:nvSpPr>
        <p:spPr>
          <a:xfrm>
            <a:off x="524126" y="1122352"/>
            <a:ext cx="4984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Adaugati</a:t>
            </a:r>
            <a:r>
              <a:rPr lang="en-GB" sz="1400" dirty="0"/>
              <a:t> </a:t>
            </a:r>
            <a:r>
              <a:rPr lang="en-GB" sz="1400" dirty="0" err="1"/>
              <a:t>acest</a:t>
            </a:r>
            <a:r>
              <a:rPr lang="en-GB" sz="1400" dirty="0"/>
              <a:t> cod </a:t>
            </a:r>
            <a:r>
              <a:rPr lang="en-GB" sz="1400" dirty="0" err="1"/>
              <a:t>înainte</a:t>
            </a:r>
            <a:r>
              <a:rPr lang="en-GB" sz="1400" dirty="0"/>
              <a:t> de </a:t>
            </a:r>
            <a:r>
              <a:rPr lang="en-GB" sz="1400" b="1" dirty="0" err="1">
                <a:latin typeface="Courier New" panose="02070309020205020404" pitchFamily="49" charset="0"/>
              </a:rPr>
              <a:t>app.run</a:t>
            </a:r>
            <a:r>
              <a:rPr lang="en-GB" sz="1400" b="1" dirty="0">
                <a:latin typeface="Courier New" panose="02070309020205020404" pitchFamily="49" charset="0"/>
              </a:rPr>
              <a:t>(debug=True)</a:t>
            </a:r>
            <a:r>
              <a:rPr lang="en-GB" sz="1400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9B6C0-907D-6394-FEE7-2094FD695DC3}"/>
              </a:ext>
            </a:extLst>
          </p:cNvPr>
          <p:cNvSpPr txBox="1"/>
          <p:nvPr/>
        </p:nvSpPr>
        <p:spPr>
          <a:xfrm>
            <a:off x="524126" y="6426885"/>
            <a:ext cx="10931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TRUNCATE TABLE transactions </a:t>
            </a:r>
            <a:r>
              <a:rPr lang="en-GB" dirty="0" err="1"/>
              <a:t>șterge</a:t>
            </a:r>
            <a:r>
              <a:rPr lang="en-GB" dirty="0"/>
              <a:t> </a:t>
            </a:r>
            <a:r>
              <a:rPr lang="en-GB" b="1" dirty="0" err="1"/>
              <a:t>toate</a:t>
            </a:r>
            <a:r>
              <a:rPr lang="en-GB" b="1" dirty="0"/>
              <a:t> </a:t>
            </a:r>
            <a:r>
              <a:rPr lang="en-GB" b="1" dirty="0" err="1"/>
              <a:t>rândurile</a:t>
            </a:r>
            <a:r>
              <a:rPr lang="en-GB" dirty="0"/>
              <a:t> din </a:t>
            </a:r>
            <a:r>
              <a:rPr lang="en-GB" dirty="0" err="1"/>
              <a:t>tabela</a:t>
            </a:r>
            <a:r>
              <a:rPr lang="en-GB" dirty="0"/>
              <a:t>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798395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B51B80-3868-BB7C-38FB-833AA66ABA96}"/>
              </a:ext>
            </a:extLst>
          </p:cNvPr>
          <p:cNvSpPr txBox="1"/>
          <p:nvPr/>
        </p:nvSpPr>
        <p:spPr>
          <a:xfrm>
            <a:off x="0" y="1"/>
            <a:ext cx="12192001" cy="6858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8 - </a:t>
            </a:r>
            <a:r>
              <a:rPr lang="fr-FR" dirty="0" err="1"/>
              <a:t>endpoint</a:t>
            </a:r>
            <a:r>
              <a:rPr lang="fr-FR" dirty="0"/>
              <a:t> insert </a:t>
            </a:r>
            <a:r>
              <a:rPr lang="fr-FR" dirty="0" err="1"/>
              <a:t>corect</a:t>
            </a:r>
            <a:r>
              <a:rPr lang="fr-FR" dirty="0"/>
              <a:t>/complet </a:t>
            </a:r>
            <a:r>
              <a:rPr lang="fr-FR" dirty="0" err="1"/>
              <a:t>pentru</a:t>
            </a:r>
            <a:r>
              <a:rPr lang="fr-FR" dirty="0"/>
              <a:t> </a:t>
            </a:r>
            <a:r>
              <a:rPr lang="fr-FR" dirty="0" err="1"/>
              <a:t>tabela</a:t>
            </a:r>
            <a:r>
              <a:rPr lang="fr-FR" dirty="0"/>
              <a:t> </a:t>
            </a:r>
            <a:r>
              <a:rPr lang="fr-FR" dirty="0" err="1"/>
              <a:t>actuală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C1483D-D8F7-D4ED-F890-E008AF34A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9874"/>
            <a:ext cx="6777278" cy="23748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277565-9639-7FE0-0560-6076E65DDA00}"/>
              </a:ext>
            </a:extLst>
          </p:cNvPr>
          <p:cNvSpPr txBox="1"/>
          <p:nvPr/>
        </p:nvSpPr>
        <p:spPr>
          <a:xfrm>
            <a:off x="0" y="824122"/>
            <a:ext cx="4984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Adaugati</a:t>
            </a:r>
            <a:r>
              <a:rPr lang="en-GB" sz="1400" dirty="0"/>
              <a:t> </a:t>
            </a:r>
            <a:r>
              <a:rPr lang="en-GB" sz="1400" dirty="0" err="1"/>
              <a:t>acest</a:t>
            </a:r>
            <a:r>
              <a:rPr lang="en-GB" sz="1400" dirty="0"/>
              <a:t> cod </a:t>
            </a:r>
            <a:r>
              <a:rPr lang="en-GB" sz="1400" dirty="0" err="1"/>
              <a:t>înainte</a:t>
            </a:r>
            <a:r>
              <a:rPr lang="en-GB" sz="1400" dirty="0"/>
              <a:t> de </a:t>
            </a:r>
            <a:r>
              <a:rPr lang="en-GB" sz="1400" b="1" dirty="0" err="1">
                <a:latin typeface="Courier New" panose="02070309020205020404" pitchFamily="49" charset="0"/>
              </a:rPr>
              <a:t>app.run</a:t>
            </a:r>
            <a:r>
              <a:rPr lang="en-GB" sz="1400" b="1" dirty="0">
                <a:latin typeface="Courier New" panose="02070309020205020404" pitchFamily="49" charset="0"/>
              </a:rPr>
              <a:t>(debug=True)</a:t>
            </a:r>
            <a:r>
              <a:rPr lang="en-GB" sz="1400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33932A-26D2-54F8-B945-825FA6B570F9}"/>
              </a:ext>
            </a:extLst>
          </p:cNvPr>
          <p:cNvSpPr txBox="1"/>
          <p:nvPr/>
        </p:nvSpPr>
        <p:spPr>
          <a:xfrm>
            <a:off x="7159767" y="869951"/>
            <a:ext cx="466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http://127.0.0.1:5000/insert/C1/120/RO/14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445A9D-AE68-95AE-3D9C-8B2A5D543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767" y="1290546"/>
            <a:ext cx="3063983" cy="11193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E57421-C605-25C8-DFBA-1CD934962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767" y="3032641"/>
            <a:ext cx="2800741" cy="11907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1851F3B-E4B8-ABF2-9F28-21AE86C637EB}"/>
              </a:ext>
            </a:extLst>
          </p:cNvPr>
          <p:cNvSpPr txBox="1"/>
          <p:nvPr/>
        </p:nvSpPr>
        <p:spPr>
          <a:xfrm>
            <a:off x="7159767" y="2587109"/>
            <a:ext cx="3290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http://127.0.0.1:5000/all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8098EC5-432D-DB19-BB45-B7CD44A86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4767" y="5206999"/>
            <a:ext cx="3610479" cy="11812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8BCCEB1-C6F1-4076-CA68-132964DC5B2E}"/>
              </a:ext>
            </a:extLst>
          </p:cNvPr>
          <p:cNvSpPr txBox="1"/>
          <p:nvPr/>
        </p:nvSpPr>
        <p:spPr>
          <a:xfrm>
            <a:off x="7254767" y="4484431"/>
            <a:ext cx="5329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 x </a:t>
            </a:r>
            <a:r>
              <a:rPr lang="en-GB" dirty="0">
                <a:hlinkClick r:id="rId6"/>
              </a:rPr>
              <a:t>http://127.0.0.1:5000/insert/C1/120/RO/14</a:t>
            </a:r>
            <a:endParaRPr lang="en-GB" dirty="0"/>
          </a:p>
          <a:p>
            <a:r>
              <a:rPr lang="en-GB" dirty="0"/>
              <a:t>http://127.0.0.1:5000/all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D8E21FD-DF84-F8E6-235D-F76F8C7AE9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766666"/>
            <a:ext cx="6777278" cy="288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26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81C152-D6FB-81C6-4432-F432C53C8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11" y="870431"/>
            <a:ext cx="5931012" cy="374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A7C21A-4C2C-1317-EA9B-6EAA9FFA9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00" y="3929788"/>
            <a:ext cx="3610479" cy="1114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0CC70A-8293-DB2A-ED16-44F009FBCC6C}"/>
              </a:ext>
            </a:extLst>
          </p:cNvPr>
          <p:cNvSpPr txBox="1"/>
          <p:nvPr/>
        </p:nvSpPr>
        <p:spPr>
          <a:xfrm>
            <a:off x="6172990" y="3451513"/>
            <a:ext cx="3390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http://127.0.0.1:5000/seed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C7381F-D909-4C36-10EC-9AAB756C3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82" y="5460485"/>
            <a:ext cx="11012437" cy="11336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416236-5159-906A-7535-82EA12229C2F}"/>
              </a:ext>
            </a:extLst>
          </p:cNvPr>
          <p:cNvSpPr txBox="1"/>
          <p:nvPr/>
        </p:nvSpPr>
        <p:spPr>
          <a:xfrm>
            <a:off x="538982" y="5000995"/>
            <a:ext cx="265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http://127.0.0.1:5000/all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037C33-0C33-F875-5E56-C1651293F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400" y="1095943"/>
            <a:ext cx="5112800" cy="21583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823204C-B6B9-8493-B748-C72E113EDA66}"/>
              </a:ext>
            </a:extLst>
          </p:cNvPr>
          <p:cNvSpPr txBox="1"/>
          <p:nvPr/>
        </p:nvSpPr>
        <p:spPr>
          <a:xfrm>
            <a:off x="6045201" y="0"/>
            <a:ext cx="6146799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9 - </a:t>
            </a:r>
            <a:r>
              <a:rPr lang="fr-FR" dirty="0" err="1"/>
              <a:t>încarcă</a:t>
            </a:r>
            <a:r>
              <a:rPr lang="fr-FR" dirty="0"/>
              <a:t> date de test </a:t>
            </a:r>
            <a:r>
              <a:rPr lang="fr-FR" dirty="0" err="1"/>
              <a:t>automat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02CC9E-CB15-2EEB-95CD-3A6AE5973B7F}"/>
              </a:ext>
            </a:extLst>
          </p:cNvPr>
          <p:cNvSpPr txBox="1"/>
          <p:nvPr/>
        </p:nvSpPr>
        <p:spPr>
          <a:xfrm>
            <a:off x="538982" y="263882"/>
            <a:ext cx="4984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 err="1"/>
              <a:t>Adaugati</a:t>
            </a:r>
            <a:r>
              <a:rPr lang="en-GB" sz="1400" dirty="0"/>
              <a:t> </a:t>
            </a:r>
            <a:r>
              <a:rPr lang="en-GB" sz="1400" dirty="0" err="1"/>
              <a:t>acest</a:t>
            </a:r>
            <a:r>
              <a:rPr lang="en-GB" sz="1400" dirty="0"/>
              <a:t> cod </a:t>
            </a:r>
            <a:r>
              <a:rPr lang="en-GB" sz="1400" dirty="0" err="1"/>
              <a:t>înainte</a:t>
            </a:r>
            <a:r>
              <a:rPr lang="en-GB" sz="1400" dirty="0"/>
              <a:t> de </a:t>
            </a:r>
            <a:r>
              <a:rPr lang="en-GB" sz="1400" b="1" dirty="0" err="1">
                <a:latin typeface="Courier New" panose="02070309020205020404" pitchFamily="49" charset="0"/>
              </a:rPr>
              <a:t>app.run</a:t>
            </a:r>
            <a:r>
              <a:rPr lang="en-GB" sz="1400" b="1" dirty="0">
                <a:latin typeface="Courier New" panose="02070309020205020404" pitchFamily="49" charset="0"/>
              </a:rPr>
              <a:t>(debug=True)</a:t>
            </a:r>
            <a:r>
              <a:rPr lang="en-GB" sz="1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94535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CC216635-DCCA-C1EA-6BA4-3BBBA4369454}"/>
              </a:ext>
            </a:extLst>
          </p:cNvPr>
          <p:cNvSpPr/>
          <p:nvPr/>
        </p:nvSpPr>
        <p:spPr>
          <a:xfrm>
            <a:off x="6765925" y="1125776"/>
            <a:ext cx="4492625" cy="2442924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6CECF7-FB67-642C-F418-26983717B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56" y="870432"/>
            <a:ext cx="5761745" cy="28619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D016C7-F646-C18D-F86C-34F9D768A861}"/>
              </a:ext>
            </a:extLst>
          </p:cNvPr>
          <p:cNvSpPr txBox="1"/>
          <p:nvPr/>
        </p:nvSpPr>
        <p:spPr>
          <a:xfrm>
            <a:off x="6045201" y="0"/>
            <a:ext cx="6146799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10 - tranzacții </a:t>
            </a:r>
            <a:r>
              <a:rPr lang="en-GB" dirty="0" err="1"/>
              <a:t>suspecte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2208BA-7F1D-951E-F296-34DCB4B73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466" y="1925559"/>
            <a:ext cx="3534268" cy="1114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56842C-56D0-2F8A-B0B2-7195A6C69EA0}"/>
              </a:ext>
            </a:extLst>
          </p:cNvPr>
          <p:cNvSpPr txBox="1"/>
          <p:nvPr/>
        </p:nvSpPr>
        <p:spPr>
          <a:xfrm>
            <a:off x="7156450" y="1485384"/>
            <a:ext cx="3397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http://127.0.0.1:5000/suspect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470B02-488F-80CF-CCB6-06060062A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56" y="4006428"/>
            <a:ext cx="5761745" cy="216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57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9637F6-8AC4-8ACB-ACD9-4FF5AC87D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00500" cy="37522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C68025-231A-3905-5265-AFC037C281E0}"/>
              </a:ext>
            </a:extLst>
          </p:cNvPr>
          <p:cNvSpPr txBox="1"/>
          <p:nvPr/>
        </p:nvSpPr>
        <p:spPr>
          <a:xfrm>
            <a:off x="6045201" y="1163592"/>
            <a:ext cx="321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http://127.0.0.1:5000/stats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335022-3202-A57E-FD88-A694F2E3B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193" y="1622823"/>
            <a:ext cx="2791215" cy="10383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B1DD3E-36DC-EBF0-4D62-F15FDC7EF9A2}"/>
              </a:ext>
            </a:extLst>
          </p:cNvPr>
          <p:cNvSpPr txBox="1"/>
          <p:nvPr/>
        </p:nvSpPr>
        <p:spPr>
          <a:xfrm>
            <a:off x="6045201" y="0"/>
            <a:ext cx="6146799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11 - raport rapid din </a:t>
            </a:r>
            <a:r>
              <a:rPr lang="en-GB" dirty="0" err="1"/>
              <a:t>baza</a:t>
            </a:r>
            <a:r>
              <a:rPr lang="en-GB" dirty="0"/>
              <a:t> de date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B950F0B-090A-912A-1576-10C91B6F9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54450"/>
            <a:ext cx="4000500" cy="14903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85A84D-2150-50E9-5755-7CDA4A8DCC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82" y="5543035"/>
            <a:ext cx="11012437" cy="11336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B2453A9-B214-CE83-28FB-3EF7CFBBC822}"/>
              </a:ext>
            </a:extLst>
          </p:cNvPr>
          <p:cNvSpPr txBox="1"/>
          <p:nvPr/>
        </p:nvSpPr>
        <p:spPr>
          <a:xfrm>
            <a:off x="4202932" y="5020045"/>
            <a:ext cx="265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F110F-431D-DA65-3520-BBA73B3DC54B}"/>
              </a:ext>
            </a:extLst>
          </p:cNvPr>
          <p:cNvSpPr txBox="1"/>
          <p:nvPr/>
        </p:nvSpPr>
        <p:spPr>
          <a:xfrm>
            <a:off x="4565652" y="3089793"/>
            <a:ext cx="7626348" cy="160396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pPr algn="l"/>
            <a:r>
              <a:rPr lang="en-GB" sz="2400" dirty="0"/>
              <a:t>COUNT(*) = numără </a:t>
            </a:r>
            <a:r>
              <a:rPr lang="en-GB" sz="2400" dirty="0" err="1"/>
              <a:t>rândurile</a:t>
            </a:r>
            <a:r>
              <a:rPr lang="en-GB" sz="2400" dirty="0"/>
              <a:t> din </a:t>
            </a:r>
            <a:r>
              <a:rPr lang="en-GB" sz="2400" dirty="0" err="1"/>
              <a:t>tabelă</a:t>
            </a:r>
            <a:r>
              <a:rPr lang="en-GB" sz="2400" dirty="0"/>
              <a:t>.</a:t>
            </a:r>
            <a:br>
              <a:rPr lang="en-GB" sz="2400" dirty="0"/>
            </a:br>
            <a:r>
              <a:rPr lang="en-GB" sz="2400" dirty="0"/>
              <a:t>SUM(amount) = </a:t>
            </a:r>
            <a:r>
              <a:rPr lang="en-GB" sz="2400" dirty="0" err="1"/>
              <a:t>adună</a:t>
            </a:r>
            <a:r>
              <a:rPr lang="en-GB" sz="2400" dirty="0"/>
              <a:t> </a:t>
            </a:r>
            <a:r>
              <a:rPr lang="en-GB" sz="2400" dirty="0" err="1"/>
              <a:t>toate</a:t>
            </a:r>
            <a:r>
              <a:rPr lang="en-GB" sz="2400" dirty="0"/>
              <a:t> </a:t>
            </a:r>
            <a:r>
              <a:rPr lang="en-GB" sz="2400" dirty="0" err="1"/>
              <a:t>sumele</a:t>
            </a:r>
            <a:r>
              <a:rPr lang="en-GB" sz="2400" dirty="0"/>
              <a:t>.</a:t>
            </a:r>
            <a:br>
              <a:rPr lang="en-GB" sz="2400" dirty="0"/>
            </a:br>
            <a:r>
              <a:rPr lang="en-GB" sz="2400" dirty="0"/>
              <a:t>AVG(amount) = </a:t>
            </a:r>
            <a:r>
              <a:rPr lang="en-GB" sz="2400" dirty="0" err="1"/>
              <a:t>calculează</a:t>
            </a:r>
            <a:r>
              <a:rPr lang="en-GB" sz="2400" dirty="0"/>
              <a:t> media </a:t>
            </a:r>
            <a:r>
              <a:rPr lang="en-GB" sz="2400" dirty="0" err="1"/>
              <a:t>sumelor</a:t>
            </a:r>
            <a:r>
              <a:rPr lang="en-GB" sz="2400" dirty="0"/>
              <a:t>.</a:t>
            </a:r>
            <a:br>
              <a:rPr lang="en-GB" sz="2400" dirty="0"/>
            </a:br>
            <a:r>
              <a:rPr lang="en-GB" sz="2400" dirty="0"/>
              <a:t>AS = </a:t>
            </a:r>
            <a:r>
              <a:rPr lang="en-GB" sz="2400" dirty="0" err="1"/>
              <a:t>dă</a:t>
            </a:r>
            <a:r>
              <a:rPr lang="en-GB" sz="2400" dirty="0"/>
              <a:t> un </a:t>
            </a:r>
            <a:r>
              <a:rPr lang="en-GB" sz="2400" dirty="0" err="1"/>
              <a:t>nume</a:t>
            </a:r>
            <a:r>
              <a:rPr lang="en-GB" sz="2400" dirty="0"/>
              <a:t> </a:t>
            </a:r>
            <a:r>
              <a:rPr lang="en-GB" sz="2400" dirty="0" err="1"/>
              <a:t>rezultatului</a:t>
            </a:r>
            <a:r>
              <a:rPr lang="en-GB" sz="2400" dirty="0"/>
              <a:t>.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A30896D0-60A6-871E-8528-3A38B78F6994}"/>
              </a:ext>
            </a:extLst>
          </p:cNvPr>
          <p:cNvSpPr/>
          <p:nvPr/>
        </p:nvSpPr>
        <p:spPr>
          <a:xfrm>
            <a:off x="4565652" y="992339"/>
            <a:ext cx="5886448" cy="1979461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3113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8E1B6A22-15DD-105F-36D8-98FF1F232F29}"/>
              </a:ext>
            </a:extLst>
          </p:cNvPr>
          <p:cNvSpPr/>
          <p:nvPr/>
        </p:nvSpPr>
        <p:spPr>
          <a:xfrm>
            <a:off x="6540501" y="1310136"/>
            <a:ext cx="4648200" cy="3979414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C6A311-4D41-7B9C-4648-C7E5CD719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60694" cy="2559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695344-1BDF-3D3A-A7A0-7B2E50F11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187" y="2102065"/>
            <a:ext cx="3048425" cy="1086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585E22-B20D-3E0E-142B-4F26F145CC52}"/>
              </a:ext>
            </a:extLst>
          </p:cNvPr>
          <p:cNvSpPr txBox="1"/>
          <p:nvPr/>
        </p:nvSpPr>
        <p:spPr>
          <a:xfrm>
            <a:off x="7169150" y="1663184"/>
            <a:ext cx="4159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http://127.0.0.1:5000/client_total/C1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74BE4E-D3CD-28AA-FA44-4CBE438CD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98507"/>
            <a:ext cx="5860694" cy="21136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15C848-1E15-EF49-85A2-6DD029525828}"/>
              </a:ext>
            </a:extLst>
          </p:cNvPr>
          <p:cNvSpPr txBox="1"/>
          <p:nvPr/>
        </p:nvSpPr>
        <p:spPr>
          <a:xfrm>
            <a:off x="6045201" y="0"/>
            <a:ext cx="6146799" cy="87043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Pasul 12 - total pe client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61E5D4-7929-3397-7A07-B8788E480DBD}"/>
              </a:ext>
            </a:extLst>
          </p:cNvPr>
          <p:cNvSpPr txBox="1"/>
          <p:nvPr/>
        </p:nvSpPr>
        <p:spPr>
          <a:xfrm>
            <a:off x="7543587" y="3741130"/>
            <a:ext cx="30987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(1, 'C1', 120.0, 'RO', 14)</a:t>
            </a:r>
          </a:p>
          <a:p>
            <a:r>
              <a:rPr lang="nl-NL" dirty="0"/>
              <a:t>(2, 'C1', 120.0, 'RO', 14)</a:t>
            </a:r>
          </a:p>
          <a:p>
            <a:r>
              <a:rPr lang="nl-NL" dirty="0"/>
              <a:t>(3, 'C1', 120.0, 'RO', 14)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53F159-F0F5-97BB-8705-50FE68526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82" y="5543035"/>
            <a:ext cx="11012437" cy="11336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53DECE-3B13-63D2-8F45-163E97CA2267}"/>
              </a:ext>
            </a:extLst>
          </p:cNvPr>
          <p:cNvSpPr txBox="1"/>
          <p:nvPr/>
        </p:nvSpPr>
        <p:spPr>
          <a:xfrm>
            <a:off x="538982" y="5083545"/>
            <a:ext cx="265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http://127.0.0.1:5000/all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34A518-C985-C406-EBEC-500429B3BB17}"/>
              </a:ext>
            </a:extLst>
          </p:cNvPr>
          <p:cNvSpPr/>
          <p:nvPr/>
        </p:nvSpPr>
        <p:spPr>
          <a:xfrm>
            <a:off x="7264187" y="4708899"/>
            <a:ext cx="2984712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C70D1C-A7E8-A944-C815-C766506DB523}"/>
              </a:ext>
            </a:extLst>
          </p:cNvPr>
          <p:cNvSpPr txBox="1"/>
          <p:nvPr/>
        </p:nvSpPr>
        <p:spPr>
          <a:xfrm>
            <a:off x="8358965" y="4750544"/>
            <a:ext cx="640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360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0114C6-34C9-8A9E-B19E-E55622A1EFA2}"/>
              </a:ext>
            </a:extLst>
          </p:cNvPr>
          <p:cNvSpPr txBox="1"/>
          <p:nvPr/>
        </p:nvSpPr>
        <p:spPr>
          <a:xfrm>
            <a:off x="6044986" y="824255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 err="1"/>
              <a:t>Endpointul</a:t>
            </a:r>
            <a:r>
              <a:rPr lang="en-GB" sz="1050" dirty="0"/>
              <a:t> /</a:t>
            </a:r>
            <a:r>
              <a:rPr lang="en-GB" sz="1050" dirty="0" err="1"/>
              <a:t>client_total</a:t>
            </a:r>
            <a:r>
              <a:rPr lang="en-GB" sz="1050" dirty="0"/>
              <a:t>/C1 nu </a:t>
            </a:r>
            <a:r>
              <a:rPr lang="en-GB" sz="1050" dirty="0" err="1"/>
              <a:t>afișează</a:t>
            </a:r>
            <a:r>
              <a:rPr lang="en-GB" sz="1050" dirty="0"/>
              <a:t> o </a:t>
            </a:r>
            <a:r>
              <a:rPr lang="en-GB" sz="1050" dirty="0" err="1"/>
              <a:t>singură</a:t>
            </a:r>
            <a:r>
              <a:rPr lang="en-GB" sz="1050" dirty="0"/>
              <a:t> </a:t>
            </a:r>
            <a:r>
              <a:rPr lang="en-GB" sz="1050" dirty="0" err="1"/>
              <a:t>tranzacție</a:t>
            </a:r>
            <a:r>
              <a:rPr lang="en-GB" sz="1050" dirty="0"/>
              <a:t>, ci </a:t>
            </a:r>
            <a:r>
              <a:rPr lang="en-GB" sz="1050" dirty="0" err="1"/>
              <a:t>totalul</a:t>
            </a:r>
            <a:r>
              <a:rPr lang="en-GB" sz="1050" dirty="0"/>
              <a:t> </a:t>
            </a:r>
            <a:r>
              <a:rPr lang="en-GB" sz="1050" dirty="0" err="1"/>
              <a:t>tuturor</a:t>
            </a:r>
            <a:r>
              <a:rPr lang="en-GB" sz="1050" dirty="0"/>
              <a:t> </a:t>
            </a:r>
            <a:r>
              <a:rPr lang="en-GB" sz="1050" dirty="0" err="1"/>
              <a:t>tranzacțiilor</a:t>
            </a:r>
            <a:r>
              <a:rPr lang="en-GB" sz="1050" dirty="0"/>
              <a:t> </a:t>
            </a:r>
            <a:r>
              <a:rPr lang="en-GB" sz="1050" dirty="0" err="1"/>
              <a:t>clientului</a:t>
            </a:r>
            <a:r>
              <a:rPr lang="en-GB" sz="1050" dirty="0"/>
              <a:t> C1.</a:t>
            </a:r>
          </a:p>
        </p:txBody>
      </p:sp>
    </p:spTree>
    <p:extLst>
      <p:ext uri="{BB962C8B-B14F-4D97-AF65-F5344CB8AC3E}">
        <p14:creationId xmlns:p14="http://schemas.microsoft.com/office/powerpoint/2010/main" val="3310680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E575-5798-61A1-4359-EBAB2C11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384CD754-C04E-E954-9AA0-6D3F7962D3B8}"/>
              </a:ext>
            </a:extLst>
          </p:cNvPr>
          <p:cNvSpPr/>
          <p:nvPr/>
        </p:nvSpPr>
        <p:spPr>
          <a:xfrm>
            <a:off x="1885242" y="1647825"/>
            <a:ext cx="8248650" cy="3562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B4961-5A23-8E81-8345-9753205A0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442" y="2788443"/>
            <a:ext cx="7670800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Flask+MySQL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+</a:t>
            </a:r>
            <a:br>
              <a:rPr lang="en-GB" sz="7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Criptare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36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C45FCAA7-4928-940B-1897-E2CF1FE2E13E}"/>
              </a:ext>
            </a:extLst>
          </p:cNvPr>
          <p:cNvSpPr/>
          <p:nvPr/>
        </p:nvSpPr>
        <p:spPr>
          <a:xfrm>
            <a:off x="2126542" y="1724024"/>
            <a:ext cx="8248650" cy="4143375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A619D-8905-79B2-B3B0-79EB57179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400" y="1679575"/>
            <a:ext cx="6096001" cy="1325563"/>
          </a:xfrm>
        </p:spPr>
        <p:txBody>
          <a:bodyPr/>
          <a:lstStyle/>
          <a:p>
            <a:pPr algn="ctr"/>
            <a:r>
              <a:rPr lang="en-GB" dirty="0"/>
              <a:t>pip install cryptography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ECA65-ED2C-3E21-5C4C-768C3EBAE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201" y="3005138"/>
            <a:ext cx="5987200" cy="221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22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AF755F-898C-8483-BD7D-8EC5FDFF5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149850" cy="50696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DAF8D0-8204-00D3-9509-B4EC1DDF2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63757"/>
            <a:ext cx="12192000" cy="14390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C1F588-393F-CDFD-05A0-FDAF9DC20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350" y="75485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91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F7CBC0-72A8-B85E-353B-ECFD24251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60239" cy="6858000"/>
          </a:xfrm>
          <a:prstGeom prst="rect">
            <a:avLst/>
          </a:prstGeom>
        </p:spPr>
      </p:pic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A90B5FAE-B829-8C61-E59C-DB05CAF0B152}"/>
              </a:ext>
            </a:extLst>
          </p:cNvPr>
          <p:cNvSpPr/>
          <p:nvPr/>
        </p:nvSpPr>
        <p:spPr>
          <a:xfrm>
            <a:off x="-22556" y="566976"/>
            <a:ext cx="4660239" cy="3497024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8A4C7D-49E1-BCC3-D044-D03D34889B4A}"/>
              </a:ext>
            </a:extLst>
          </p:cNvPr>
          <p:cNvSpPr txBox="1"/>
          <p:nvPr/>
        </p:nvSpPr>
        <p:spPr>
          <a:xfrm>
            <a:off x="5153025" y="107434"/>
            <a:ext cx="6127750" cy="36933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Inserarea</a:t>
            </a:r>
            <a:r>
              <a:rPr lang="en-GB" dirty="0"/>
              <a:t> </a:t>
            </a:r>
            <a:r>
              <a:rPr lang="en-GB" dirty="0" err="1"/>
              <a:t>criptată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5F1FC-7B8A-FCFC-3EB1-3D54A9EB5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00" y="189150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56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A047B428-6210-D6AB-ED45-FEC396443C16}"/>
              </a:ext>
            </a:extLst>
          </p:cNvPr>
          <p:cNvSpPr/>
          <p:nvPr/>
        </p:nvSpPr>
        <p:spPr>
          <a:xfrm>
            <a:off x="5581650" y="384748"/>
            <a:ext cx="4692650" cy="2436715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06B39-8C2B-209C-B226-D50A732E9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762500" cy="36669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06359A-04FA-A37A-1B0B-FD16926B5DF6}"/>
              </a:ext>
            </a:extLst>
          </p:cNvPr>
          <p:cNvSpPr txBox="1"/>
          <p:nvPr/>
        </p:nvSpPr>
        <p:spPr>
          <a:xfrm>
            <a:off x="6210300" y="659884"/>
            <a:ext cx="4362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http://127.0.0.1:5000/setup_secure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99CCD7-3BFA-31E9-CCC3-85F8D52D2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1179436"/>
            <a:ext cx="3067478" cy="10955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A83869-8CE8-06D0-DD65-60848DA5E3A6}"/>
              </a:ext>
            </a:extLst>
          </p:cNvPr>
          <p:cNvSpPr txBox="1"/>
          <p:nvPr/>
        </p:nvSpPr>
        <p:spPr>
          <a:xfrm>
            <a:off x="5492750" y="3561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Pentru date </a:t>
            </a:r>
            <a:r>
              <a:rPr lang="en-GB" dirty="0" err="1"/>
              <a:t>criptate</a:t>
            </a:r>
            <a:r>
              <a:rPr lang="en-GB" dirty="0"/>
              <a:t>, </a:t>
            </a:r>
            <a:r>
              <a:rPr lang="en-GB" dirty="0" err="1"/>
              <a:t>tabela</a:t>
            </a:r>
            <a:r>
              <a:rPr lang="en-GB" dirty="0"/>
              <a:t> </a:t>
            </a:r>
            <a:r>
              <a:rPr lang="en-GB" dirty="0" err="1"/>
              <a:t>trebuie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fie </a:t>
            </a:r>
            <a:r>
              <a:rPr lang="en-GB" dirty="0" err="1"/>
              <a:t>așa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0535FA-CB56-51E8-0FC5-B83580C32E8E}"/>
              </a:ext>
            </a:extLst>
          </p:cNvPr>
          <p:cNvSpPr txBox="1"/>
          <p:nvPr/>
        </p:nvSpPr>
        <p:spPr>
          <a:xfrm>
            <a:off x="5537200" y="4246086"/>
            <a:ext cx="6096000" cy="1477328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id INT AUTO_INCREMENT PRIMARY KEY</a:t>
            </a:r>
          </a:p>
          <a:p>
            <a:r>
              <a:rPr lang="en-GB" dirty="0">
                <a:solidFill>
                  <a:schemeClr val="bg1"/>
                </a:solidFill>
              </a:rPr>
              <a:t>client VARCHAR(50)</a:t>
            </a:r>
          </a:p>
          <a:p>
            <a:r>
              <a:rPr lang="en-GB" dirty="0">
                <a:solidFill>
                  <a:schemeClr val="bg1"/>
                </a:solidFill>
              </a:rPr>
              <a:t>amount TEXT</a:t>
            </a:r>
          </a:p>
          <a:p>
            <a:r>
              <a:rPr lang="en-GB" dirty="0">
                <a:solidFill>
                  <a:schemeClr val="bg1"/>
                </a:solidFill>
              </a:rPr>
              <a:t>country TEXT</a:t>
            </a:r>
          </a:p>
          <a:p>
            <a:r>
              <a:rPr lang="en-GB" dirty="0">
                <a:solidFill>
                  <a:schemeClr val="bg1"/>
                </a:solidFill>
              </a:rPr>
              <a:t>hour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04C88-D4A4-FD38-C14E-2371F365580A}"/>
              </a:ext>
            </a:extLst>
          </p:cNvPr>
          <p:cNvSpPr txBox="1"/>
          <p:nvPr/>
        </p:nvSpPr>
        <p:spPr>
          <a:xfrm>
            <a:off x="5492750" y="60319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Adică</a:t>
            </a:r>
            <a:r>
              <a:rPr lang="en-GB" dirty="0"/>
              <a:t> </a:t>
            </a:r>
            <a:r>
              <a:rPr lang="en-GB" dirty="0" err="1"/>
              <a:t>toate</a:t>
            </a:r>
            <a:r>
              <a:rPr lang="en-GB" dirty="0"/>
              <a:t> </a:t>
            </a:r>
            <a:r>
              <a:rPr lang="en-GB" dirty="0" err="1"/>
              <a:t>coloanele</a:t>
            </a:r>
            <a:r>
              <a:rPr lang="en-GB" dirty="0"/>
              <a:t> </a:t>
            </a:r>
            <a:r>
              <a:rPr lang="en-GB" dirty="0" err="1"/>
              <a:t>criptate</a:t>
            </a:r>
            <a:r>
              <a:rPr lang="en-GB" dirty="0"/>
              <a:t> </a:t>
            </a:r>
            <a:r>
              <a:rPr lang="en-GB" dirty="0" err="1"/>
              <a:t>trebuie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fie TEXT.</a:t>
            </a:r>
          </a:p>
        </p:txBody>
      </p:sp>
    </p:spTree>
    <p:extLst>
      <p:ext uri="{BB962C8B-B14F-4D97-AF65-F5344CB8AC3E}">
        <p14:creationId xmlns:p14="http://schemas.microsoft.com/office/powerpoint/2010/main" val="3336956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A0D598EC-224E-DCA2-DFF0-D1FE25A864D5}"/>
              </a:ext>
            </a:extLst>
          </p:cNvPr>
          <p:cNvSpPr/>
          <p:nvPr/>
        </p:nvSpPr>
        <p:spPr>
          <a:xfrm>
            <a:off x="3886200" y="4267200"/>
            <a:ext cx="7302500" cy="2317750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D5642C-BE92-D244-ADF8-0AF2485440EF}"/>
              </a:ext>
            </a:extLst>
          </p:cNvPr>
          <p:cNvSpPr txBox="1"/>
          <p:nvPr/>
        </p:nvSpPr>
        <p:spPr>
          <a:xfrm>
            <a:off x="4368800" y="4572685"/>
            <a:ext cx="655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http://127.0.0.1:5000/insert_secure/C1/15000/RO/14/parola123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2FAB859-4F69-2F59-6FD4-32D4B52C4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08480" cy="3708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644BCC4-60A4-EB5E-A681-610732003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570" y="5120502"/>
            <a:ext cx="4544059" cy="10669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3159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5A980-B150-55EF-E79A-56F848302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50423A-1058-FC73-B4A8-5EAABB5E9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66831" cy="273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BAF8E3-B666-F443-348F-E11CD8C36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496" y="4629049"/>
            <a:ext cx="9554908" cy="1448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4DFF2C-0DDB-A9BC-BC2D-4F8060507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000" y="43735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91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75CB68DF-B99A-168F-F6FE-F60493A765A3}"/>
              </a:ext>
            </a:extLst>
          </p:cNvPr>
          <p:cNvSpPr/>
          <p:nvPr/>
        </p:nvSpPr>
        <p:spPr>
          <a:xfrm>
            <a:off x="2330450" y="4152900"/>
            <a:ext cx="7302500" cy="2317750"/>
          </a:xfrm>
          <a:prstGeom prst="round2DiagRect">
            <a:avLst>
              <a:gd name="adj1" fmla="val 1159"/>
              <a:gd name="adj2" fmla="val 0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69C21-5002-37D0-32CE-231140B0A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1" y="221817"/>
            <a:ext cx="6196829" cy="32874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B0E8D2-91EE-2D57-DCB7-E6C6FCAF8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639" y="4987854"/>
            <a:ext cx="3553321" cy="10097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99A325-2250-22C9-8ECD-EECA7DA45179}"/>
              </a:ext>
            </a:extLst>
          </p:cNvPr>
          <p:cNvSpPr txBox="1"/>
          <p:nvPr/>
        </p:nvSpPr>
        <p:spPr>
          <a:xfrm>
            <a:off x="3829050" y="44571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http://127.0.0.1:5000/show_secure/parola123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B1FE39-E13B-7787-B61C-4EC4FF73F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0650" y="221817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20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C309-439B-FD3A-664C-B8220739C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Cautari</a:t>
            </a:r>
            <a:r>
              <a:rPr lang="en-US" dirty="0"/>
              <a:t> approximative.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77464-84E9-CBED-6671-B65989D93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8515"/>
            <a:ext cx="5103679" cy="3043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DA2B78-B4CA-87D4-7F7B-2BD6B6401FB9}"/>
              </a:ext>
            </a:extLst>
          </p:cNvPr>
          <p:cNvSpPr txBox="1"/>
          <p:nvPr/>
        </p:nvSpPr>
        <p:spPr>
          <a:xfrm>
            <a:off x="736600" y="5825261"/>
            <a:ext cx="435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http://127.0.0.1:5000/search_like/C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A0D8E-18F7-7173-A6A9-87002F635064}"/>
              </a:ext>
            </a:extLst>
          </p:cNvPr>
          <p:cNvSpPr txBox="1"/>
          <p:nvPr/>
        </p:nvSpPr>
        <p:spPr>
          <a:xfrm>
            <a:off x="889000" y="1577627"/>
            <a:ext cx="60960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Ex: LIKE '%ion%' = </a:t>
            </a:r>
            <a:r>
              <a:rPr lang="en-GB" dirty="0" err="1"/>
              <a:t>găsește</a:t>
            </a:r>
            <a:r>
              <a:rPr lang="en-GB" dirty="0"/>
              <a:t> </a:t>
            </a:r>
            <a:r>
              <a:rPr lang="en-GB" dirty="0" err="1"/>
              <a:t>orice</a:t>
            </a:r>
            <a:r>
              <a:rPr lang="en-GB" dirty="0"/>
              <a:t> client care </a:t>
            </a:r>
            <a:r>
              <a:rPr lang="en-GB" dirty="0" err="1"/>
              <a:t>conține</a:t>
            </a:r>
            <a:r>
              <a:rPr lang="en-GB" dirty="0"/>
              <a:t> „ion”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14DA54-6397-689C-88CF-E9241041E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450" y="2041665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78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BA2D-4E49-A6F1-5631-F2AA61B8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EB4DF8-E4F9-A8A6-5607-346340CC5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650" y="2018509"/>
            <a:ext cx="3670069" cy="3968262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CE7A831A-E49A-3D5D-F2B8-FFC116343478}"/>
              </a:ext>
            </a:extLst>
          </p:cNvPr>
          <p:cNvSpPr/>
          <p:nvPr/>
        </p:nvSpPr>
        <p:spPr>
          <a:xfrm>
            <a:off x="3807181" y="1160913"/>
            <a:ext cx="2392659" cy="893518"/>
          </a:xfrm>
          <a:prstGeom prst="wedgeRoundRectCallout">
            <a:avLst>
              <a:gd name="adj1" fmla="val 47328"/>
              <a:gd name="adj2" fmla="val 113468"/>
              <a:gd name="adj3" fmla="val 1666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Ză end!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5101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2014</TotalTime>
  <Words>1137</Words>
  <Application>Microsoft Office PowerPoint</Application>
  <PresentationFormat>Widescreen</PresentationFormat>
  <Paragraphs>159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1_Office Theme</vt:lpstr>
      <vt:lpstr>Flask - MySQL</vt:lpstr>
      <vt:lpstr>Cuprins:</vt:lpstr>
      <vt:lpstr>MySQL</vt:lpstr>
      <vt:lpstr>PowerPoint Presentation</vt:lpstr>
      <vt:lpstr>PowerPoint Presentation</vt:lpstr>
      <vt:lpstr>PowerPoint Presentation</vt:lpstr>
      <vt:lpstr>PowerPoint Presentation</vt:lpstr>
      <vt:lpstr>Verificari activitati suspecte MySQL</vt:lpstr>
      <vt:lpstr>PowerPoint Presentation</vt:lpstr>
      <vt:lpstr>Flask + MySQL</vt:lpstr>
      <vt:lpstr>Flask instalare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Flask+MySQL+ Criptare</vt:lpstr>
      <vt:lpstr>pip install cryptography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Cautari approximative.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Gagniuc</dc:creator>
  <cp:lastModifiedBy>Paul Gagniuc</cp:lastModifiedBy>
  <cp:revision>256</cp:revision>
  <dcterms:created xsi:type="dcterms:W3CDTF">2026-06-02T18:09:52Z</dcterms:created>
  <dcterms:modified xsi:type="dcterms:W3CDTF">2026-07-09T19:35:13Z</dcterms:modified>
</cp:coreProperties>
</file>