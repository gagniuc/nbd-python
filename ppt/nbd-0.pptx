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6" r:id="rId2"/>
    <p:sldId id="259" r:id="rId3"/>
    <p:sldId id="381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46170-70DD-656E-75A4-6EA9A8D229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0A8C70-BA93-6D6F-7862-0915A47109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E97C33-02AA-A493-D05C-158FB9996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6BD6B-209D-4B36-8B40-09986A041141}" type="datetimeFigureOut">
              <a:rPr lang="en-GB" smtClean="0"/>
              <a:t>11/07/2026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BAF83D-156E-6AA3-7E37-7E5B7A404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58A78-22E5-8DA8-7B8A-76A281CE4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A28DE-8BF1-4293-A87A-6F3384158B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7296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2EB6F-27F1-0169-2C27-DCA7B1546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20815-0D32-F788-E162-64EE2383D8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50B379-0C19-DF8D-9B54-067FFDFD1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6BD6B-209D-4B36-8B40-09986A041141}" type="datetimeFigureOut">
              <a:rPr lang="en-GB" smtClean="0"/>
              <a:t>11/07/2026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6225D1-7CED-C58D-99B8-E68D9E69C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23217A-6CB6-1879-9D7F-BBAB3A5E9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A28DE-8BF1-4293-A87A-6F3384158B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3133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D77E8-8C0C-B3F1-612A-0B12A8AC5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8632C7-42E9-AC21-FF41-DE3B84424D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69B4C-18FD-ED9C-93F3-250721942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6BD6B-209D-4B36-8B40-09986A041141}" type="datetimeFigureOut">
              <a:rPr lang="en-GB" smtClean="0"/>
              <a:t>11/07/2026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C9A327-4973-90A6-C213-1CC0FB3F5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4FC11-797A-319E-E804-AB731A85C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A28DE-8BF1-4293-A87A-6F3384158B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6242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2DA35-36C5-5DDA-DC32-A8DCDEE9B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257092-DD19-408A-4644-0E3C655681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5BD654-0D34-AAD3-B9DA-654375E96B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C60521-C73D-AF0F-7051-F63610E69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6BD6B-209D-4B36-8B40-09986A041141}" type="datetimeFigureOut">
              <a:rPr lang="en-GB" smtClean="0"/>
              <a:t>11/07/2026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4C855C-53F0-8B35-83EE-EE3DD8D79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B48DB5-03C8-88BE-61C6-44A710ED5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A28DE-8BF1-4293-A87A-6F3384158B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1071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2FA16-8DC7-30AF-77A3-13369DC37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5F8FAA-2484-18C5-26B1-855508BB06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93A839-02F5-8037-268E-9DE6B8B5CE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BD844F-7FA8-0090-F7ED-57462F97F4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D20FFA-71E0-2AD6-36A6-2EAEA7A17F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C7D971-37F5-4F2F-8EA9-010225862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6BD6B-209D-4B36-8B40-09986A041141}" type="datetimeFigureOut">
              <a:rPr lang="en-GB" smtClean="0"/>
              <a:t>11/07/2026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A874B5-E8D3-4BB3-EC29-F4846762F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BE47C5-331E-226A-97A0-639E055B8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A28DE-8BF1-4293-A87A-6F3384158B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9779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B3071-929C-521C-6C3E-A34A1F2D2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5BB03D-2FAC-6ECB-667E-E5EF2EF90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6BD6B-209D-4B36-8B40-09986A041141}" type="datetimeFigureOut">
              <a:rPr lang="en-GB" smtClean="0"/>
              <a:t>11/07/2026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92D5F4-9DF6-804A-2D45-F86428E81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0AFA08-954A-BBB5-5AAC-2DD6F5F1B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A28DE-8BF1-4293-A87A-6F3384158B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5867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035608-E4DF-0B14-1DFF-2F07397CC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6BD6B-209D-4B36-8B40-09986A041141}" type="datetimeFigureOut">
              <a:rPr lang="en-GB" smtClean="0"/>
              <a:t>11/07/2026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E9ABA4-1FF9-27EA-8F01-B9108F000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4845E2-5C8D-862F-D2C9-5BAAC7495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A28DE-8BF1-4293-A87A-6F3384158B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3426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94626-4323-4E06-F50D-947DDA87E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C8830-143B-AB16-0F8F-44A354AC55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86DA1-BC59-701C-D515-F92480CEBF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147D4D-CF2F-9120-9488-F45A2B130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6BD6B-209D-4B36-8B40-09986A041141}" type="datetimeFigureOut">
              <a:rPr lang="en-GB" smtClean="0"/>
              <a:t>11/07/2026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E14D99-7A20-1689-7910-C65AF0EFE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8480C2-BA44-E6F2-45E3-A0F3E8C3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A28DE-8BF1-4293-A87A-6F3384158B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5678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3574E-BA38-D5A1-7DFC-42E409B39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723FE6-6B1A-26A5-40A9-BD1FAB714C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664712-0621-8599-B77A-C8F212E8F8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157EFB-7A24-F0A5-383E-6F1E224F9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6BD6B-209D-4B36-8B40-09986A041141}" type="datetimeFigureOut">
              <a:rPr lang="en-GB" smtClean="0"/>
              <a:t>11/07/2026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1DA410-F322-5D40-1425-D22B5C58E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6CB056-CD49-8A8B-29BD-6E600A75F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A28DE-8BF1-4293-A87A-6F3384158B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7923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9243F-FAD2-E455-27A0-6D85B573F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C27A21-4764-A289-8734-53C72829DC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33A6E4-BEF6-1971-640C-68BCE7B6C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6BD6B-209D-4B36-8B40-09986A041141}" type="datetimeFigureOut">
              <a:rPr lang="en-GB" smtClean="0"/>
              <a:t>11/07/2026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61E49-960B-09ED-775D-A8803E82E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D1015C-226F-33A5-DE66-B82A34603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A28DE-8BF1-4293-A87A-6F3384158B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9202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2408A8-4CA9-1DE6-887E-C269D79D70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1689F6-5770-9296-51AF-687AFB8C5F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A410D8-92B8-F21F-8C8D-81256556E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6BD6B-209D-4B36-8B40-09986A041141}" type="datetimeFigureOut">
              <a:rPr lang="en-GB" smtClean="0"/>
              <a:t>11/07/2026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BEF750-0779-D0DC-B38C-E6655A37A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71E29-152D-503E-36F3-4DE96A3FB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A28DE-8BF1-4293-A87A-6F3384158B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6913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C4DE05-84A3-906E-394E-709A4797F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0FA1A-D801-F2B6-5B7B-B94D125F5D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D855A6-1DAB-7BBD-E26B-D3459A7F6A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26BD6B-209D-4B36-8B40-09986A041141}" type="datetimeFigureOut">
              <a:rPr lang="en-GB" smtClean="0"/>
              <a:t>11/07/2026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130B31-F1AB-613A-47A5-A87C2D387B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36A787-5518-87FD-E0D2-32ED8DB04D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DA28DE-8BF1-4293-A87A-6F3384158B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689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Home NBD - NBD">
            <a:extLst>
              <a:ext uri="{FF2B5EF4-FFF2-40B4-BE49-F238E27FC236}">
                <a16:creationId xmlns:a16="http://schemas.microsoft.com/office/drawing/2014/main" id="{216ECC55-C12A-FF3D-44B7-5CF8ECB11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727" y="5885049"/>
            <a:ext cx="2228545" cy="67901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DD4043AE-F419-F81C-8D93-C1FE2977D7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2900" y="1757363"/>
            <a:ext cx="9144000" cy="1995487"/>
          </a:xfrm>
        </p:spPr>
        <p:txBody>
          <a:bodyPr>
            <a:normAutofit/>
          </a:bodyPr>
          <a:lstStyle/>
          <a:p>
            <a:r>
              <a:rPr lang="en-GB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Curs </a:t>
            </a:r>
            <a:r>
              <a:rPr lang="en-GB" sz="4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introductiv</a:t>
            </a:r>
            <a:r>
              <a:rPr lang="en-GB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de Python </a:t>
            </a:r>
            <a:r>
              <a:rPr lang="en-GB" sz="4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pentru</a:t>
            </a:r>
            <a:r>
              <a:rPr lang="en-GB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sz="4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aplicații</a:t>
            </a:r>
            <a:r>
              <a:rPr lang="en-GB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practice </a:t>
            </a:r>
            <a:r>
              <a:rPr lang="en-GB" sz="4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în</a:t>
            </a:r>
            <a:r>
              <a:rPr lang="en-GB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sz="4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mediul</a:t>
            </a:r>
            <a:r>
              <a:rPr lang="en-GB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corporate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F03CA3-A575-95E2-234D-911D2AE69E87}"/>
              </a:ext>
            </a:extLst>
          </p:cNvPr>
          <p:cNvSpPr txBox="1"/>
          <p:nvPr/>
        </p:nvSpPr>
        <p:spPr>
          <a:xfrm>
            <a:off x="5245100" y="3752850"/>
            <a:ext cx="1879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Paul A. Gagniuc</a:t>
            </a:r>
          </a:p>
        </p:txBody>
      </p:sp>
    </p:spTree>
    <p:extLst>
      <p:ext uri="{BB962C8B-B14F-4D97-AF65-F5344CB8AC3E}">
        <p14:creationId xmlns:p14="http://schemas.microsoft.com/office/powerpoint/2010/main" val="2842448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DD844-7C28-D227-C6FA-B5E886574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BA8E531-6570-4C67-41BF-8CBA1A28E6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9980923"/>
              </p:ext>
            </p:extLst>
          </p:nvPr>
        </p:nvGraphicFramePr>
        <p:xfrm>
          <a:off x="6672542" y="802623"/>
          <a:ext cx="4344708" cy="1507944"/>
        </p:xfrm>
        <a:graphic>
          <a:graphicData uri="http://schemas.openxmlformats.org/drawingml/2006/table">
            <a:tbl>
              <a:tblPr>
                <a:tableStyleId>{125E5076-3810-47DD-B79F-674D7AD40C01}</a:tableStyleId>
              </a:tblPr>
              <a:tblGrid>
                <a:gridCol w="787400">
                  <a:extLst>
                    <a:ext uri="{9D8B030D-6E8A-4147-A177-3AD203B41FA5}">
                      <a16:colId xmlns:a16="http://schemas.microsoft.com/office/drawing/2014/main" val="3095708177"/>
                    </a:ext>
                  </a:extLst>
                </a:gridCol>
                <a:gridCol w="603250">
                  <a:extLst>
                    <a:ext uri="{9D8B030D-6E8A-4147-A177-3AD203B41FA5}">
                      <a16:colId xmlns:a16="http://schemas.microsoft.com/office/drawing/2014/main" val="2516936157"/>
                    </a:ext>
                  </a:extLst>
                </a:gridCol>
                <a:gridCol w="1193800">
                  <a:extLst>
                    <a:ext uri="{9D8B030D-6E8A-4147-A177-3AD203B41FA5}">
                      <a16:colId xmlns:a16="http://schemas.microsoft.com/office/drawing/2014/main" val="3214883130"/>
                    </a:ext>
                  </a:extLst>
                </a:gridCol>
                <a:gridCol w="1760258">
                  <a:extLst>
                    <a:ext uri="{9D8B030D-6E8A-4147-A177-3AD203B41FA5}">
                      <a16:colId xmlns:a16="http://schemas.microsoft.com/office/drawing/2014/main" val="2722634399"/>
                    </a:ext>
                  </a:extLst>
                </a:gridCol>
              </a:tblGrid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Tip operator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Operator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Ce face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Exemplu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2421975894"/>
                  </a:ext>
                </a:extLst>
              </a:tr>
              <a:tr h="1965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Logic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and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și logic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True and False → False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2309383068"/>
                  </a:ext>
                </a:extLst>
              </a:tr>
              <a:tr h="1965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Logic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or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sau logic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True or False → True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1787259138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Logic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not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negare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not True → False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623645448"/>
                  </a:ext>
                </a:extLst>
              </a:tr>
              <a:tr h="1965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Apartenență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in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element </a:t>
                      </a:r>
                      <a:r>
                        <a:rPr lang="en-GB" sz="1000" dirty="0" err="1"/>
                        <a:t>în</a:t>
                      </a:r>
                      <a:r>
                        <a:rPr lang="en-GB" sz="1000" dirty="0"/>
                        <a:t> </a:t>
                      </a:r>
                      <a:r>
                        <a:rPr lang="en-GB" sz="1000" dirty="0" err="1"/>
                        <a:t>colecție</a:t>
                      </a:r>
                      <a:endParaRPr lang="en-GB" sz="1000" dirty="0"/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3 in [1,2,3] → True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776875088"/>
                  </a:ext>
                </a:extLst>
              </a:tr>
              <a:tr h="1965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Apartenență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not in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element absent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4 not in [1,2,3] → True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3430955313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Identitate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is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același obiect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 is b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2616730719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Identitate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is not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 err="1"/>
                        <a:t>obiect</a:t>
                      </a:r>
                      <a:r>
                        <a:rPr lang="en-GB" sz="1000" dirty="0"/>
                        <a:t> </a:t>
                      </a:r>
                      <a:r>
                        <a:rPr lang="en-GB" sz="1000" dirty="0" err="1"/>
                        <a:t>diferit</a:t>
                      </a:r>
                      <a:endParaRPr lang="en-GB" sz="1000" dirty="0"/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a is not b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1455401922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72FD2A0-8A84-2AA5-C5A5-D4E6CAD8AE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5683802"/>
              </p:ext>
            </p:extLst>
          </p:nvPr>
        </p:nvGraphicFramePr>
        <p:xfrm>
          <a:off x="1339850" y="866775"/>
          <a:ext cx="4356099" cy="1443792"/>
        </p:xfrm>
        <a:graphic>
          <a:graphicData uri="http://schemas.openxmlformats.org/drawingml/2006/table">
            <a:tbl>
              <a:tblPr>
                <a:tableStyleId>{125E5076-3810-47DD-B79F-674D7AD40C01}</a:tableStyleId>
              </a:tblPr>
              <a:tblGrid>
                <a:gridCol w="1089025">
                  <a:extLst>
                    <a:ext uri="{9D8B030D-6E8A-4147-A177-3AD203B41FA5}">
                      <a16:colId xmlns:a16="http://schemas.microsoft.com/office/drawing/2014/main" val="2830742063"/>
                    </a:ext>
                  </a:extLst>
                </a:gridCol>
                <a:gridCol w="679292">
                  <a:extLst>
                    <a:ext uri="{9D8B030D-6E8A-4147-A177-3AD203B41FA5}">
                      <a16:colId xmlns:a16="http://schemas.microsoft.com/office/drawing/2014/main" val="3812003575"/>
                    </a:ext>
                  </a:extLst>
                </a:gridCol>
                <a:gridCol w="1421453">
                  <a:extLst>
                    <a:ext uri="{9D8B030D-6E8A-4147-A177-3AD203B41FA5}">
                      <a16:colId xmlns:a16="http://schemas.microsoft.com/office/drawing/2014/main" val="2401518407"/>
                    </a:ext>
                  </a:extLst>
                </a:gridCol>
                <a:gridCol w="1166329">
                  <a:extLst>
                    <a:ext uri="{9D8B030D-6E8A-4147-A177-3AD203B41FA5}">
                      <a16:colId xmlns:a16="http://schemas.microsoft.com/office/drawing/2014/main" val="2822776982"/>
                    </a:ext>
                  </a:extLst>
                </a:gridCol>
              </a:tblGrid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Tip operator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Operator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Ce face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Exemplu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4205564414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Aritmetic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+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adunare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3 + 2 → 5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2931579209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Aritmetic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-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scădere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5 - 2 → 3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2150545068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Aritmetic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*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înmulțire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4 * 3 → 12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1981445930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Aritmetic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/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împărțire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10 / 2 → 5.0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272482346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Aritmetic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//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împărțire întreagă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10 // 3 → 3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4066278925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Aritmetic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%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restul împărțirii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10 % 3 → 1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1030510872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Aritmetic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**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ridicare la putere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2 ** 3 → 8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39098577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AFC6EF8-F745-F4E2-2B0A-993DDFAB95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1768083"/>
              </p:ext>
            </p:extLst>
          </p:nvPr>
        </p:nvGraphicFramePr>
        <p:xfrm>
          <a:off x="1339850" y="2581607"/>
          <a:ext cx="4356100" cy="1640304"/>
        </p:xfrm>
        <a:graphic>
          <a:graphicData uri="http://schemas.openxmlformats.org/drawingml/2006/table">
            <a:tbl>
              <a:tblPr>
                <a:tableStyleId>{125E5076-3810-47DD-B79F-674D7AD40C01}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1515744069"/>
                    </a:ext>
                  </a:extLst>
                </a:gridCol>
                <a:gridCol w="654050">
                  <a:extLst>
                    <a:ext uri="{9D8B030D-6E8A-4147-A177-3AD203B41FA5}">
                      <a16:colId xmlns:a16="http://schemas.microsoft.com/office/drawing/2014/main" val="2615452204"/>
                    </a:ext>
                  </a:extLst>
                </a:gridCol>
                <a:gridCol w="1765300">
                  <a:extLst>
                    <a:ext uri="{9D8B030D-6E8A-4147-A177-3AD203B41FA5}">
                      <a16:colId xmlns:a16="http://schemas.microsoft.com/office/drawing/2014/main" val="1616164007"/>
                    </a:ext>
                  </a:extLst>
                </a:gridCol>
                <a:gridCol w="1123950">
                  <a:extLst>
                    <a:ext uri="{9D8B030D-6E8A-4147-A177-3AD203B41FA5}">
                      <a16:colId xmlns:a16="http://schemas.microsoft.com/office/drawing/2014/main" val="3965001728"/>
                    </a:ext>
                  </a:extLst>
                </a:gridCol>
              </a:tblGrid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Tip operator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Operator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Ce face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Exemplu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635409467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 err="1"/>
                        <a:t>Atribuire</a:t>
                      </a:r>
                      <a:endParaRPr lang="en-GB" sz="1000" dirty="0"/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=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 err="1"/>
                        <a:t>atribuire</a:t>
                      </a:r>
                      <a:r>
                        <a:rPr lang="en-GB" sz="1000" dirty="0"/>
                        <a:t> </a:t>
                      </a:r>
                      <a:r>
                        <a:rPr lang="en-GB" sz="1000" dirty="0" err="1"/>
                        <a:t>valoare</a:t>
                      </a:r>
                      <a:endParaRPr lang="en-GB" sz="1000" dirty="0"/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x = 5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1613226286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Atribuire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+=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adunare și atribuire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x += 2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2920559948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Atribuire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-=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scădere și atribuire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x -= 1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3551586390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Atribuire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*=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înmulțire și atribuire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x *= 3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2657514656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Atribuire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/=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împărțire și atribuire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x /= 2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2942169390"/>
                  </a:ext>
                </a:extLst>
              </a:tr>
              <a:tr h="1965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Atribuire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//=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împărțire întreagă și atribuire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x //= 2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2377869862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Atribuire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%=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rest și atribuire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x %= 3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2097417926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Atribuire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**=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putere și atribuire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x **= 2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1992472692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7CBBBB0-1401-734E-6351-261A63A66F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5462659"/>
              </p:ext>
            </p:extLst>
          </p:nvPr>
        </p:nvGraphicFramePr>
        <p:xfrm>
          <a:off x="1295399" y="4629313"/>
          <a:ext cx="4400549" cy="1263318"/>
        </p:xfrm>
        <a:graphic>
          <a:graphicData uri="http://schemas.openxmlformats.org/drawingml/2006/table">
            <a:tbl>
              <a:tblPr>
                <a:tableStyleId>{125E5076-3810-47DD-B79F-674D7AD40C01}</a:tableStyleId>
              </a:tblPr>
              <a:tblGrid>
                <a:gridCol w="1100137">
                  <a:extLst>
                    <a:ext uri="{9D8B030D-6E8A-4147-A177-3AD203B41FA5}">
                      <a16:colId xmlns:a16="http://schemas.microsoft.com/office/drawing/2014/main" val="3095708177"/>
                    </a:ext>
                  </a:extLst>
                </a:gridCol>
                <a:gridCol w="737892">
                  <a:extLst>
                    <a:ext uri="{9D8B030D-6E8A-4147-A177-3AD203B41FA5}">
                      <a16:colId xmlns:a16="http://schemas.microsoft.com/office/drawing/2014/main" val="2516936157"/>
                    </a:ext>
                  </a:extLst>
                </a:gridCol>
                <a:gridCol w="1462383">
                  <a:extLst>
                    <a:ext uri="{9D8B030D-6E8A-4147-A177-3AD203B41FA5}">
                      <a16:colId xmlns:a16="http://schemas.microsoft.com/office/drawing/2014/main" val="3214883130"/>
                    </a:ext>
                  </a:extLst>
                </a:gridCol>
                <a:gridCol w="1100137">
                  <a:extLst>
                    <a:ext uri="{9D8B030D-6E8A-4147-A177-3AD203B41FA5}">
                      <a16:colId xmlns:a16="http://schemas.microsoft.com/office/drawing/2014/main" val="2722634399"/>
                    </a:ext>
                  </a:extLst>
                </a:gridCol>
              </a:tblGrid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Tip operator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Operator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Ce face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Exemplu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2421975894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 err="1"/>
                        <a:t>Comparare</a:t>
                      </a:r>
                      <a:endParaRPr lang="en-GB" sz="1000" dirty="0"/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==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 err="1"/>
                        <a:t>egalitate</a:t>
                      </a:r>
                      <a:endParaRPr lang="en-GB" sz="1000" dirty="0"/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3 == 3 → True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3813629427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Comparare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!=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 err="1"/>
                        <a:t>diferit</a:t>
                      </a:r>
                      <a:endParaRPr lang="en-GB" sz="1000" dirty="0"/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3 != 4 → True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3886121252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Comparare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&gt;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mai mare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5 &gt; 3 → True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2444061784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Comparare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&lt;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mai mic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2 &lt; 4 → True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4147348551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Comparare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&gt;=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mai mare sau egal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4 &gt;= 4 → True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2390216681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Comparare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&lt;=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mai mic sau egal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3 &lt;= 5 → True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3305684526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4B41228C-2168-627A-BA8D-D42D661BDD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2539" y="5671190"/>
            <a:ext cx="1348861" cy="384187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095CB952-10AE-5CFB-173B-98AE2AD0B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8596" y="3429000"/>
            <a:ext cx="42926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Operatori</a:t>
            </a:r>
            <a:b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Python</a:t>
            </a:r>
            <a:endParaRPr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3FE6101-3DEC-CED1-C08E-29AA3319B59B}"/>
              </a:ext>
            </a:extLst>
          </p:cNvPr>
          <p:cNvSpPr/>
          <p:nvPr/>
        </p:nvSpPr>
        <p:spPr>
          <a:xfrm>
            <a:off x="990600" y="595735"/>
            <a:ext cx="4984750" cy="5589166"/>
          </a:xfrm>
          <a:prstGeom prst="roundRect">
            <a:avLst>
              <a:gd name="adj" fmla="val 938"/>
            </a:avLst>
          </a:prstGeom>
          <a:solidFill>
            <a:schemeClr val="bg2">
              <a:lumMod val="90000"/>
              <a:alpha val="10000"/>
            </a:schemeClr>
          </a:solidFill>
          <a:ln w="28575"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E0930BB-E7E7-3A00-8F65-128A959F2D88}"/>
              </a:ext>
            </a:extLst>
          </p:cNvPr>
          <p:cNvSpPr/>
          <p:nvPr/>
        </p:nvSpPr>
        <p:spPr>
          <a:xfrm>
            <a:off x="6324600" y="595735"/>
            <a:ext cx="4984750" cy="5589166"/>
          </a:xfrm>
          <a:prstGeom prst="roundRect">
            <a:avLst>
              <a:gd name="adj" fmla="val 938"/>
            </a:avLst>
          </a:prstGeom>
          <a:solidFill>
            <a:schemeClr val="bg2">
              <a:lumMod val="90000"/>
              <a:alpha val="10000"/>
            </a:schemeClr>
          </a:solidFill>
          <a:ln w="28575"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1096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45CF7-1C91-8859-1C1C-5BA0A39F4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A07F115-27D4-6409-4402-BE5AE61678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4650" y="2018509"/>
            <a:ext cx="3670069" cy="3968262"/>
          </a:xfrm>
          <a:prstGeom prst="rect">
            <a:avLst/>
          </a:prstGeom>
        </p:spPr>
      </p:pic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34E66020-5D37-54F4-5532-A744C8C185B9}"/>
              </a:ext>
            </a:extLst>
          </p:cNvPr>
          <p:cNvSpPr/>
          <p:nvPr/>
        </p:nvSpPr>
        <p:spPr>
          <a:xfrm>
            <a:off x="3807181" y="1160913"/>
            <a:ext cx="2392659" cy="893518"/>
          </a:xfrm>
          <a:prstGeom prst="wedgeRoundRectCallout">
            <a:avLst>
              <a:gd name="adj1" fmla="val 47328"/>
              <a:gd name="adj2" fmla="val 113468"/>
              <a:gd name="adj3" fmla="val 16667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Ză end!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33650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290</Words>
  <Application>Microsoft Office PowerPoint</Application>
  <PresentationFormat>Widescreen</PresentationFormat>
  <Paragraphs>132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Office Theme</vt:lpstr>
      <vt:lpstr>Curs introductiv de Python pentru aplicații practice în mediul corporate</vt:lpstr>
      <vt:lpstr>Operatori Python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 Gagniuc</dc:creator>
  <cp:lastModifiedBy>Paul Gagniuc</cp:lastModifiedBy>
  <cp:revision>8</cp:revision>
  <dcterms:created xsi:type="dcterms:W3CDTF">2026-03-12T09:12:33Z</dcterms:created>
  <dcterms:modified xsi:type="dcterms:W3CDTF">2026-07-11T18:02:25Z</dcterms:modified>
</cp:coreProperties>
</file>