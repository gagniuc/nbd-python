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2" r:id="rId2"/>
    <p:sldId id="313" r:id="rId3"/>
    <p:sldId id="271" r:id="rId4"/>
    <p:sldId id="416" r:id="rId5"/>
    <p:sldId id="389" r:id="rId6"/>
    <p:sldId id="390" r:id="rId7"/>
    <p:sldId id="391" r:id="rId8"/>
    <p:sldId id="417" r:id="rId9"/>
    <p:sldId id="392" r:id="rId10"/>
    <p:sldId id="393" r:id="rId11"/>
    <p:sldId id="394" r:id="rId12"/>
    <p:sldId id="382" r:id="rId13"/>
    <p:sldId id="257" r:id="rId14"/>
    <p:sldId id="383" r:id="rId15"/>
    <p:sldId id="258" r:id="rId16"/>
    <p:sldId id="384" r:id="rId17"/>
    <p:sldId id="262" r:id="rId18"/>
    <p:sldId id="385" r:id="rId19"/>
    <p:sldId id="259" r:id="rId20"/>
    <p:sldId id="386" r:id="rId21"/>
    <p:sldId id="260" r:id="rId22"/>
    <p:sldId id="387" r:id="rId23"/>
    <p:sldId id="261" r:id="rId24"/>
    <p:sldId id="395" r:id="rId25"/>
    <p:sldId id="388" r:id="rId26"/>
    <p:sldId id="263" r:id="rId27"/>
    <p:sldId id="396" r:id="rId28"/>
    <p:sldId id="264" r:id="rId29"/>
    <p:sldId id="397" r:id="rId30"/>
    <p:sldId id="265" r:id="rId31"/>
    <p:sldId id="398" r:id="rId32"/>
    <p:sldId id="266" r:id="rId33"/>
    <p:sldId id="399" r:id="rId34"/>
    <p:sldId id="267" r:id="rId35"/>
    <p:sldId id="400" r:id="rId36"/>
    <p:sldId id="268" r:id="rId37"/>
    <p:sldId id="401" r:id="rId38"/>
    <p:sldId id="269" r:id="rId39"/>
    <p:sldId id="402" r:id="rId40"/>
    <p:sldId id="270" r:id="rId41"/>
    <p:sldId id="403" r:id="rId42"/>
    <p:sldId id="272" r:id="rId43"/>
    <p:sldId id="404" r:id="rId44"/>
    <p:sldId id="273" r:id="rId45"/>
    <p:sldId id="405" r:id="rId46"/>
    <p:sldId id="274" r:id="rId47"/>
    <p:sldId id="406" r:id="rId48"/>
    <p:sldId id="275" r:id="rId49"/>
    <p:sldId id="407" r:id="rId50"/>
    <p:sldId id="276" r:id="rId51"/>
    <p:sldId id="408" r:id="rId52"/>
    <p:sldId id="277" r:id="rId53"/>
    <p:sldId id="409" r:id="rId54"/>
    <p:sldId id="278" r:id="rId55"/>
    <p:sldId id="410" r:id="rId56"/>
    <p:sldId id="280" r:id="rId57"/>
    <p:sldId id="411" r:id="rId58"/>
    <p:sldId id="284" r:id="rId59"/>
    <p:sldId id="412" r:id="rId60"/>
    <p:sldId id="285" r:id="rId61"/>
    <p:sldId id="413" r:id="rId62"/>
    <p:sldId id="311" r:id="rId63"/>
    <p:sldId id="414" r:id="rId64"/>
    <p:sldId id="310" r:id="rId65"/>
    <p:sldId id="415" r:id="rId66"/>
    <p:sldId id="301" r:id="rId67"/>
    <p:sldId id="302" r:id="rId68"/>
    <p:sldId id="303" r:id="rId69"/>
    <p:sldId id="381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CCB7"/>
    <a:srgbClr val="F3AF8D"/>
    <a:srgbClr val="0C0C0C"/>
    <a:srgbClr val="181818"/>
    <a:srgbClr val="1213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A2FE3-1FDD-4E47-D310-FED3CDFAD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49F500-8777-04A1-18B9-558063541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77C15-7088-DBB0-E97A-8B51FCFA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0F7A8-7F74-EC0A-A01F-718F8BD67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32F58-BC68-9448-FDB9-22B258EAC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737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63131-AF4E-34E4-9E4C-A89A2C0A0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8CEFC-B865-15BD-B7E7-C1E77C141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7399E-E373-4485-7404-40B6AF377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650D2-2175-FA41-0336-C6D4BA1C4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CB38E-5CF0-1DDF-857F-F91A2CDEF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80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F70A3-1FA3-7BD4-1EC4-5089762A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7B0A6-900F-34EC-3F8E-5C23A0BB2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1F427-24CB-DE7E-8911-5FFFEE1F3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18909-3F10-0A72-839B-1097E8A04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5F1A3-C3E5-80DE-2559-DAD5D4EA8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187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BCEC0-8B46-E6F7-AEFA-F6C04C4F0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3D759-ACBE-FDC3-F75E-730B386B1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09083-786C-5F71-B471-F05238F13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6E949-D725-4EE4-3757-DC2108CA3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607B6-8496-805D-B3A0-2CB687BAD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EDEB4-A3CF-888B-580F-4ADC2732F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730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E5381-CB67-9F5D-8102-7252816AB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0C4AA-EB8A-EA2F-CF82-3FB62FB28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13281-18B3-69C9-767E-56F3DC54D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F7B2A9-AC47-FFFE-55D9-BB23CD9B7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C3A63E-5050-4839-0A35-8DCF91942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C56185-1BE8-53B5-BB88-80FFF6C46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F5919-C836-5537-2AAA-3E6D71B07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E0AAC0-6820-49D5-A93C-89996DD7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66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537F6-6F11-0A43-A1B8-EFFF5C2C7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220719-6AEB-AD77-B129-D9866E1A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8E2D9-AC94-BF6D-F4B8-D9EF0DEFD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9F835-180E-08B8-8B9F-B3DB7569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04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1488D8-6EE3-88DF-B88E-7334AC270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85F7C-1847-8942-888D-E6DE66A3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1BABF-0257-80B3-78A3-9969B1F3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84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9AC72-4582-2509-CFCF-F4DEB4D7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1436E-6FCA-74E8-FC1D-3F41B1B27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4F8832-5BC2-85BE-C163-F831A154D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3BA15-7C9E-FE56-A33D-15B3C82FD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92FA7-DAB2-1E0C-4263-BECED5D1F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49C63-18AE-91CA-D5B9-689C4B1C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229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5563E-E196-7227-1846-15751DEF6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B59F14-D985-43D2-5A22-87FAAF1137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68A2F6-4593-FAD2-C828-1E7534AB2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8ECD8-9DE5-01D9-4D1D-4F4EC3B2A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3DAED-C6EF-2C87-1C27-EECD414C3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96A6D-736E-97B3-A15C-88FDD3AA0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836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1778-3C92-43C1-5547-440F4DC8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B6C1A5-2D8D-5F9B-EB5B-488BFFCF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02BC7-99BA-C3A8-80E8-7E8F52A7F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0D734-FC85-1725-6B5D-EC662DE7B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1279C-782A-82D9-2A31-65F7F9610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3AE944-0BBE-6B89-8F04-BB8726BFE0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18C0C-573B-1418-A398-B0E6B5AD0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2A9CA-D234-0F1C-EDD8-CD420174B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7C57F-6B27-5B9C-13C6-1572C75D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3990D-6AF8-BD56-B689-727FF03A3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885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EA045-E0CC-D6E2-2A1E-34984240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3CC0A-0A76-2243-FEDD-FE742A015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95A17-C54F-5BC8-65D6-489DDCDF1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511B0-BA90-A165-AE00-CBE74FF6F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6AAEB-3C7F-71B3-88D5-D67F0E9B5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906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nlinegdb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nlinegdb.com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me NBD - NBD">
            <a:extLst>
              <a:ext uri="{FF2B5EF4-FFF2-40B4-BE49-F238E27FC236}">
                <a16:creationId xmlns:a16="http://schemas.microsoft.com/office/drawing/2014/main" id="{216ECC55-C12A-FF3D-44B7-5CF8ECB11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27" y="5885049"/>
            <a:ext cx="2228545" cy="67901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D4043AE-F419-F81C-8D93-C1FE2977D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900" y="1757363"/>
            <a:ext cx="9144000" cy="1995487"/>
          </a:xfrm>
        </p:spPr>
        <p:txBody>
          <a:bodyPr>
            <a:normAutofit/>
          </a:bodyPr>
          <a:lstStyle/>
          <a:p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aplicat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fișiere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date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și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interfețe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grafice</a:t>
            </a:r>
            <a:endParaRPr lang="en-GB" sz="4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03CA3-A575-95E2-234D-911D2AE69E87}"/>
              </a:ext>
            </a:extLst>
          </p:cNvPr>
          <p:cNvSpPr txBox="1"/>
          <p:nvPr/>
        </p:nvSpPr>
        <p:spPr>
          <a:xfrm>
            <a:off x="5156200" y="3752850"/>
            <a:ext cx="187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Paul A. Gagniuc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07E08-BC53-C9AC-0C1E-B53CECFDB3B2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TXT, CSV, JSON, Excel, Matplotlib 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</a:rPr>
              <a:t>și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Tkinter</a:t>
            </a:r>
          </a:p>
        </p:txBody>
      </p:sp>
    </p:spTree>
    <p:extLst>
      <p:ext uri="{BB962C8B-B14F-4D97-AF65-F5344CB8AC3E}">
        <p14:creationId xmlns:p14="http://schemas.microsoft.com/office/powerpoint/2010/main" val="406967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FE5B-25C8-8490-884F-40A1C9C53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3" y="174625"/>
            <a:ext cx="3556000" cy="1325563"/>
          </a:xfrm>
        </p:spPr>
        <p:txBody>
          <a:bodyPr/>
          <a:lstStyle/>
          <a:p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Cuprins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8D6E36-948E-C0DB-5648-67ECFB3DD2ED}"/>
              </a:ext>
            </a:extLst>
          </p:cNvPr>
          <p:cNvSpPr txBox="1"/>
          <p:nvPr/>
        </p:nvSpPr>
        <p:spPr>
          <a:xfrm>
            <a:off x="268288" y="1737115"/>
            <a:ext cx="3781425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 err="1"/>
              <a:t>Planul</a:t>
            </a:r>
            <a:r>
              <a:rPr lang="en-GB" sz="1100" dirty="0"/>
              <a:t> </a:t>
            </a:r>
            <a:r>
              <a:rPr lang="en-GB" sz="1100" dirty="0" err="1"/>
              <a:t>laboratorului</a:t>
            </a:r>
            <a:r>
              <a:rPr lang="en-GB" sz="11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/>
              <a:t>Citire </a:t>
            </a:r>
            <a:r>
              <a:rPr lang="en-GB" sz="1100" dirty="0" err="1"/>
              <a:t>fișier</a:t>
            </a:r>
            <a:r>
              <a:rPr lang="en-GB" sz="1100" dirty="0"/>
              <a:t> TXT </a:t>
            </a:r>
            <a:r>
              <a:rPr lang="en-GB" sz="1100" dirty="0" err="1"/>
              <a:t>și</a:t>
            </a:r>
            <a:r>
              <a:rPr lang="en-GB" sz="1100" dirty="0"/>
              <a:t> </a:t>
            </a:r>
            <a:r>
              <a:rPr lang="en-GB" sz="1100" dirty="0" err="1"/>
              <a:t>extragere</a:t>
            </a:r>
            <a:r>
              <a:rPr lang="en-GB" sz="1100" dirty="0"/>
              <a:t> </a:t>
            </a:r>
            <a:r>
              <a:rPr lang="en-GB" sz="1100" dirty="0" err="1"/>
              <a:t>linii</a:t>
            </a:r>
            <a:r>
              <a:rPr lang="en-GB" sz="1100" dirty="0"/>
              <a:t> </a:t>
            </a:r>
            <a:r>
              <a:rPr lang="en-GB" sz="1100" dirty="0" err="1"/>
              <a:t>după</a:t>
            </a:r>
            <a:r>
              <a:rPr lang="en-GB" sz="1100" dirty="0"/>
              <a:t> </a:t>
            </a:r>
            <a:r>
              <a:rPr lang="en-GB" sz="1100" dirty="0" err="1"/>
              <a:t>etichetă</a:t>
            </a:r>
            <a:r>
              <a:rPr lang="en-GB" sz="11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 err="1"/>
              <a:t>Căi</a:t>
            </a:r>
            <a:r>
              <a:rPr lang="en-GB" sz="1100" dirty="0"/>
              <a:t> de </a:t>
            </a:r>
            <a:r>
              <a:rPr lang="en-GB" sz="1100" dirty="0" err="1"/>
              <a:t>fișiere</a:t>
            </a:r>
            <a:r>
              <a:rPr lang="en-GB" sz="1100" dirty="0"/>
              <a:t>, </a:t>
            </a:r>
            <a:r>
              <a:rPr lang="en-GB" sz="1100" dirty="0" err="1"/>
              <a:t>cwd</a:t>
            </a:r>
            <a:r>
              <a:rPr lang="en-GB" sz="1100" dirty="0"/>
              <a:t>, utf-8 </a:t>
            </a:r>
            <a:r>
              <a:rPr lang="en-GB" sz="1100" dirty="0" err="1"/>
              <a:t>și</a:t>
            </a:r>
            <a:r>
              <a:rPr lang="en-GB" sz="1100" dirty="0"/>
              <a:t> strip()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/>
              <a:t>Citire CSV: </a:t>
            </a:r>
            <a:r>
              <a:rPr lang="en-GB" sz="1100" dirty="0" err="1"/>
              <a:t>filtrare</a:t>
            </a:r>
            <a:r>
              <a:rPr lang="en-GB" sz="1100" dirty="0"/>
              <a:t> </a:t>
            </a:r>
            <a:r>
              <a:rPr lang="en-GB" sz="1100" dirty="0" err="1"/>
              <a:t>și</a:t>
            </a:r>
            <a:r>
              <a:rPr lang="en-GB" sz="1100" dirty="0"/>
              <a:t> </a:t>
            </a:r>
            <a:r>
              <a:rPr lang="en-GB" sz="1100" dirty="0" err="1"/>
              <a:t>calcule</a:t>
            </a:r>
            <a:r>
              <a:rPr lang="en-GB" sz="1100" dirty="0"/>
              <a:t> pe </a:t>
            </a:r>
            <a:r>
              <a:rPr lang="en-GB" sz="1100" dirty="0" err="1"/>
              <a:t>angajați</a:t>
            </a:r>
            <a:r>
              <a:rPr lang="en-GB" sz="11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 err="1"/>
              <a:t>DictReader</a:t>
            </a:r>
            <a:r>
              <a:rPr lang="en-GB" sz="1100" dirty="0"/>
              <a:t>: </a:t>
            </a:r>
            <a:r>
              <a:rPr lang="en-GB" sz="1100" dirty="0" err="1"/>
              <a:t>transformarea</a:t>
            </a:r>
            <a:r>
              <a:rPr lang="en-GB" sz="1100" dirty="0"/>
              <a:t> </a:t>
            </a:r>
            <a:r>
              <a:rPr lang="en-GB" sz="1100" dirty="0" err="1"/>
              <a:t>rândurilor</a:t>
            </a:r>
            <a:r>
              <a:rPr lang="en-GB" sz="1100" dirty="0"/>
              <a:t> </a:t>
            </a:r>
            <a:r>
              <a:rPr lang="en-GB" sz="1100" dirty="0" err="1"/>
              <a:t>în</a:t>
            </a:r>
            <a:r>
              <a:rPr lang="en-GB" sz="1100" dirty="0"/>
              <a:t> </a:t>
            </a:r>
            <a:r>
              <a:rPr lang="en-GB" sz="1100" dirty="0" err="1"/>
              <a:t>dicționare</a:t>
            </a:r>
            <a:r>
              <a:rPr lang="en-GB" sz="11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/>
              <a:t>Scriere JSON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/>
              <a:t>Citire JSON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/>
              <a:t>Exemplu </a:t>
            </a:r>
            <a:r>
              <a:rPr lang="en-GB" sz="1100" dirty="0" err="1"/>
              <a:t>combinat</a:t>
            </a:r>
            <a:r>
              <a:rPr lang="en-GB" sz="1100" dirty="0"/>
              <a:t>: JSON + </a:t>
            </a:r>
            <a:r>
              <a:rPr lang="en-GB" sz="1100" dirty="0" err="1"/>
              <a:t>procesare</a:t>
            </a:r>
            <a:r>
              <a:rPr lang="en-GB" sz="11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/>
              <a:t>Excel: </a:t>
            </a:r>
            <a:r>
              <a:rPr lang="en-GB" sz="1100" dirty="0" err="1"/>
              <a:t>citire</a:t>
            </a:r>
            <a:r>
              <a:rPr lang="en-GB" sz="1100" dirty="0"/>
              <a:t>, </a:t>
            </a:r>
            <a:r>
              <a:rPr lang="en-GB" sz="1100" dirty="0" err="1"/>
              <a:t>scriere</a:t>
            </a:r>
            <a:r>
              <a:rPr lang="en-GB" sz="1100" dirty="0"/>
              <a:t> </a:t>
            </a:r>
            <a:r>
              <a:rPr lang="en-GB" sz="1100" dirty="0" err="1"/>
              <a:t>și</a:t>
            </a:r>
            <a:r>
              <a:rPr lang="en-GB" sz="1100" dirty="0"/>
              <a:t> </a:t>
            </a:r>
            <a:r>
              <a:rPr lang="en-GB" sz="1100" dirty="0" err="1"/>
              <a:t>manipulare</a:t>
            </a:r>
            <a:r>
              <a:rPr lang="en-GB" sz="11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 err="1"/>
              <a:t>Generare</a:t>
            </a:r>
            <a:r>
              <a:rPr lang="en-GB" sz="1100" dirty="0"/>
              <a:t> date random </a:t>
            </a:r>
            <a:r>
              <a:rPr lang="en-GB" sz="1100" dirty="0" err="1"/>
              <a:t>și</a:t>
            </a:r>
            <a:r>
              <a:rPr lang="en-GB" sz="1100" dirty="0"/>
              <a:t> </a:t>
            </a:r>
            <a:r>
              <a:rPr lang="en-GB" sz="1100" dirty="0" err="1"/>
              <a:t>fișiere</a:t>
            </a:r>
            <a:r>
              <a:rPr lang="en-GB" sz="1100" dirty="0"/>
              <a:t> </a:t>
            </a:r>
            <a:r>
              <a:rPr lang="en-GB" sz="1100" dirty="0" err="1"/>
              <a:t>mari</a:t>
            </a:r>
            <a:r>
              <a:rPr lang="en-GB" sz="11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/>
              <a:t>Procesare </a:t>
            </a:r>
            <a:r>
              <a:rPr lang="en-GB" sz="1100" dirty="0" err="1"/>
              <a:t>fără</a:t>
            </a:r>
            <a:r>
              <a:rPr lang="en-GB" sz="1100" dirty="0"/>
              <a:t> </a:t>
            </a:r>
            <a:r>
              <a:rPr lang="en-GB" sz="1100" dirty="0" err="1"/>
              <a:t>încărcare</a:t>
            </a:r>
            <a:r>
              <a:rPr lang="en-GB" sz="1100" dirty="0"/>
              <a:t> </a:t>
            </a:r>
            <a:r>
              <a:rPr lang="en-GB" sz="1100" dirty="0" err="1"/>
              <a:t>completă</a:t>
            </a:r>
            <a:r>
              <a:rPr lang="en-GB" sz="1100" dirty="0"/>
              <a:t> </a:t>
            </a:r>
            <a:r>
              <a:rPr lang="en-GB" sz="1100" dirty="0" err="1"/>
              <a:t>în</a:t>
            </a:r>
            <a:r>
              <a:rPr lang="en-GB" sz="1100" dirty="0"/>
              <a:t> </a:t>
            </a:r>
            <a:r>
              <a:rPr lang="en-GB" sz="1100" dirty="0" err="1"/>
              <a:t>memorie</a:t>
            </a:r>
            <a:r>
              <a:rPr lang="en-GB" sz="11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 err="1"/>
              <a:t>Trecerea</a:t>
            </a:r>
            <a:r>
              <a:rPr lang="en-GB" sz="1100" dirty="0"/>
              <a:t> de la </a:t>
            </a:r>
            <a:r>
              <a:rPr lang="en-GB" sz="1100" dirty="0" err="1"/>
              <a:t>OnlineGDB</a:t>
            </a:r>
            <a:r>
              <a:rPr lang="en-GB" sz="1100" dirty="0"/>
              <a:t> la </a:t>
            </a:r>
            <a:r>
              <a:rPr lang="en-GB" sz="1100" dirty="0" err="1"/>
              <a:t>lucrul</a:t>
            </a:r>
            <a:r>
              <a:rPr lang="en-GB" sz="1100" dirty="0"/>
              <a:t> local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 err="1"/>
              <a:t>Introducere</a:t>
            </a:r>
            <a:r>
              <a:rPr lang="en-GB" sz="1100" dirty="0"/>
              <a:t> </a:t>
            </a:r>
            <a:r>
              <a:rPr lang="en-GB" sz="1100" dirty="0" err="1"/>
              <a:t>în</a:t>
            </a:r>
            <a:r>
              <a:rPr lang="en-GB" sz="1100" dirty="0"/>
              <a:t> GUI cu Tkinter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 err="1"/>
              <a:t>Poziționarea</a:t>
            </a:r>
            <a:r>
              <a:rPr lang="en-GB" sz="1100" dirty="0"/>
              <a:t> </a:t>
            </a:r>
            <a:r>
              <a:rPr lang="en-GB" sz="1100" dirty="0" err="1"/>
              <a:t>obiectelor</a:t>
            </a:r>
            <a:r>
              <a:rPr lang="en-GB" sz="1100" dirty="0"/>
              <a:t> </a:t>
            </a:r>
            <a:r>
              <a:rPr lang="en-GB" sz="1100" dirty="0" err="1"/>
              <a:t>în</a:t>
            </a:r>
            <a:r>
              <a:rPr lang="en-GB" sz="1100" dirty="0"/>
              <a:t> </a:t>
            </a:r>
            <a:r>
              <a:rPr lang="en-GB" sz="1100" dirty="0" err="1"/>
              <a:t>interfață</a:t>
            </a:r>
            <a:r>
              <a:rPr lang="en-GB" sz="11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 err="1"/>
              <a:t>Asocierea</a:t>
            </a:r>
            <a:r>
              <a:rPr lang="en-GB" sz="1100" dirty="0"/>
              <a:t> </a:t>
            </a:r>
            <a:r>
              <a:rPr lang="en-GB" sz="1100" dirty="0" err="1"/>
              <a:t>obiectelor</a:t>
            </a:r>
            <a:r>
              <a:rPr lang="en-GB" sz="1100" dirty="0"/>
              <a:t> cu </a:t>
            </a:r>
            <a:r>
              <a:rPr lang="en-GB" sz="1100" dirty="0" err="1"/>
              <a:t>evenimente</a:t>
            </a:r>
            <a:r>
              <a:rPr lang="en-GB" sz="1100" dirty="0"/>
              <a:t> </a:t>
            </a:r>
            <a:r>
              <a:rPr lang="en-GB" sz="1100" dirty="0" err="1"/>
              <a:t>și</a:t>
            </a:r>
            <a:r>
              <a:rPr lang="en-GB" sz="1100" dirty="0"/>
              <a:t> </a:t>
            </a:r>
            <a:r>
              <a:rPr lang="en-GB" sz="1100" dirty="0" err="1"/>
              <a:t>operații</a:t>
            </a:r>
            <a:r>
              <a:rPr lang="en-GB" sz="11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 err="1"/>
              <a:t>Modificarea</a:t>
            </a:r>
            <a:r>
              <a:rPr lang="en-GB" sz="1100" dirty="0"/>
              <a:t> </a:t>
            </a:r>
            <a:r>
              <a:rPr lang="en-GB" sz="1100" dirty="0" err="1"/>
              <a:t>proprietăților</a:t>
            </a:r>
            <a:r>
              <a:rPr lang="en-GB" sz="1100" dirty="0"/>
              <a:t> </a:t>
            </a:r>
            <a:r>
              <a:rPr lang="en-GB" sz="1100" dirty="0" err="1"/>
              <a:t>obiectelor</a:t>
            </a:r>
            <a:r>
              <a:rPr lang="en-GB" sz="11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 err="1"/>
              <a:t>Validarea</a:t>
            </a:r>
            <a:r>
              <a:rPr lang="en-GB" sz="1100" dirty="0"/>
              <a:t> </a:t>
            </a:r>
            <a:r>
              <a:rPr lang="en-GB" sz="1100" dirty="0" err="1"/>
              <a:t>datelor</a:t>
            </a:r>
            <a:r>
              <a:rPr lang="en-GB" sz="1100" dirty="0"/>
              <a:t> </a:t>
            </a:r>
            <a:r>
              <a:rPr lang="en-GB" sz="1100" dirty="0" err="1"/>
              <a:t>introduse</a:t>
            </a:r>
            <a:r>
              <a:rPr lang="en-GB" sz="11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 err="1"/>
              <a:t>Citirea</a:t>
            </a:r>
            <a:r>
              <a:rPr lang="en-GB" sz="1100" dirty="0"/>
              <a:t> </a:t>
            </a:r>
            <a:r>
              <a:rPr lang="en-GB" sz="1100" dirty="0" err="1"/>
              <a:t>fișierelor</a:t>
            </a:r>
            <a:r>
              <a:rPr lang="en-GB" sz="1100" dirty="0"/>
              <a:t> text cu </a:t>
            </a:r>
            <a:r>
              <a:rPr lang="en-GB" sz="1100" dirty="0" err="1"/>
              <a:t>afișare</a:t>
            </a:r>
            <a:r>
              <a:rPr lang="en-GB" sz="1100" dirty="0"/>
              <a:t> </a:t>
            </a:r>
            <a:r>
              <a:rPr lang="en-GB" sz="1100" dirty="0" err="1"/>
              <a:t>în</a:t>
            </a:r>
            <a:r>
              <a:rPr lang="en-GB" sz="1100" dirty="0"/>
              <a:t> GUI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 err="1"/>
              <a:t>Afișarea</a:t>
            </a:r>
            <a:r>
              <a:rPr lang="en-GB" sz="1100" dirty="0"/>
              <a:t> </a:t>
            </a:r>
            <a:r>
              <a:rPr lang="en-GB" sz="1100" dirty="0" err="1"/>
              <a:t>conținutului</a:t>
            </a:r>
            <a:r>
              <a:rPr lang="en-GB" sz="1100" dirty="0"/>
              <a:t> </a:t>
            </a:r>
            <a:r>
              <a:rPr lang="en-GB" sz="1100" dirty="0" err="1"/>
              <a:t>într</a:t>
            </a:r>
            <a:r>
              <a:rPr lang="en-GB" sz="1100" dirty="0"/>
              <a:t>-un </a:t>
            </a:r>
            <a:r>
              <a:rPr lang="en-GB" sz="1100" dirty="0" err="1"/>
              <a:t>TextBox</a:t>
            </a:r>
            <a:r>
              <a:rPr lang="en-GB" sz="1100" dirty="0"/>
              <a:t> cu scrollbar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 err="1"/>
              <a:t>Reprezentarea</a:t>
            </a:r>
            <a:r>
              <a:rPr lang="en-GB" sz="1100" dirty="0"/>
              <a:t> </a:t>
            </a:r>
            <a:r>
              <a:rPr lang="en-GB" sz="1100" dirty="0" err="1"/>
              <a:t>grafică</a:t>
            </a:r>
            <a:r>
              <a:rPr lang="en-GB" sz="1100" dirty="0"/>
              <a:t> a </a:t>
            </a:r>
            <a:r>
              <a:rPr lang="en-GB" sz="1100" dirty="0" err="1"/>
              <a:t>datelor</a:t>
            </a:r>
            <a:r>
              <a:rPr lang="en-GB" sz="1100" dirty="0"/>
              <a:t> cu Matplotlib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 err="1"/>
              <a:t>Grafice</a:t>
            </a:r>
            <a:r>
              <a:rPr lang="en-GB" sz="1100" dirty="0"/>
              <a:t> </a:t>
            </a:r>
            <a:r>
              <a:rPr lang="en-GB" sz="1100" dirty="0" err="1"/>
              <a:t>liniare</a:t>
            </a:r>
            <a:r>
              <a:rPr lang="en-GB" sz="1100" dirty="0"/>
              <a:t>, bare, </a:t>
            </a:r>
            <a:r>
              <a:rPr lang="en-GB" sz="1100" dirty="0" err="1"/>
              <a:t>histogramă</a:t>
            </a:r>
            <a:r>
              <a:rPr lang="en-GB" sz="1100" dirty="0"/>
              <a:t> </a:t>
            </a:r>
            <a:r>
              <a:rPr lang="en-GB" sz="1100" dirty="0" err="1"/>
              <a:t>și</a:t>
            </a:r>
            <a:r>
              <a:rPr lang="en-GB" sz="1100" dirty="0"/>
              <a:t> </a:t>
            </a:r>
            <a:r>
              <a:rPr lang="en-GB" sz="1100" dirty="0" err="1"/>
              <a:t>dispersie</a:t>
            </a:r>
            <a:r>
              <a:rPr lang="en-GB" sz="11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 err="1"/>
              <a:t>Citirea</a:t>
            </a:r>
            <a:r>
              <a:rPr lang="en-GB" sz="1100" dirty="0"/>
              <a:t> </a:t>
            </a:r>
            <a:r>
              <a:rPr lang="en-GB" sz="1100" dirty="0" err="1"/>
              <a:t>și</a:t>
            </a:r>
            <a:r>
              <a:rPr lang="en-GB" sz="1100" dirty="0"/>
              <a:t> </a:t>
            </a:r>
            <a:r>
              <a:rPr lang="en-GB" sz="1100" dirty="0" err="1"/>
              <a:t>reprezentarea</a:t>
            </a:r>
            <a:r>
              <a:rPr lang="en-GB" sz="1100" dirty="0"/>
              <a:t> </a:t>
            </a:r>
            <a:r>
              <a:rPr lang="en-GB" sz="1100" dirty="0" err="1"/>
              <a:t>grafică</a:t>
            </a:r>
            <a:r>
              <a:rPr lang="en-GB" sz="1100" dirty="0"/>
              <a:t> a </a:t>
            </a:r>
            <a:r>
              <a:rPr lang="en-GB" sz="1100" dirty="0" err="1"/>
              <a:t>datelor</a:t>
            </a:r>
            <a:r>
              <a:rPr lang="en-GB" sz="1100" dirty="0"/>
              <a:t> din CSV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 err="1"/>
              <a:t>Integrarea</a:t>
            </a:r>
            <a:r>
              <a:rPr lang="en-GB" sz="1100" dirty="0"/>
              <a:t> </a:t>
            </a:r>
            <a:r>
              <a:rPr lang="en-GB" sz="1100" dirty="0" err="1"/>
              <a:t>graficelor</a:t>
            </a:r>
            <a:r>
              <a:rPr lang="en-GB" sz="1100" dirty="0"/>
              <a:t> Matplotlib </a:t>
            </a:r>
            <a:r>
              <a:rPr lang="en-GB" sz="1100" dirty="0" err="1"/>
              <a:t>în</a:t>
            </a:r>
            <a:r>
              <a:rPr lang="en-GB" sz="1100" dirty="0"/>
              <a:t> GUI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 err="1"/>
              <a:t>Validarea</a:t>
            </a:r>
            <a:r>
              <a:rPr lang="en-GB" sz="1100" dirty="0"/>
              <a:t> </a:t>
            </a:r>
            <a:r>
              <a:rPr lang="en-GB" sz="1100" dirty="0" err="1"/>
              <a:t>datelor</a:t>
            </a:r>
            <a:r>
              <a:rPr lang="en-GB" sz="1100" dirty="0"/>
              <a:t> </a:t>
            </a:r>
            <a:r>
              <a:rPr lang="en-GB" sz="1100" dirty="0" err="1"/>
              <a:t>și</a:t>
            </a:r>
            <a:r>
              <a:rPr lang="en-GB" sz="1100" dirty="0"/>
              <a:t> </a:t>
            </a:r>
            <a:r>
              <a:rPr lang="en-GB" sz="1100" dirty="0" err="1"/>
              <a:t>tratarea</a:t>
            </a:r>
            <a:r>
              <a:rPr lang="en-GB" sz="1100" dirty="0"/>
              <a:t> </a:t>
            </a:r>
            <a:r>
              <a:rPr lang="en-GB" sz="1100" dirty="0" err="1"/>
              <a:t>erorilor</a:t>
            </a:r>
            <a:r>
              <a:rPr lang="en-GB" sz="11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/>
              <a:t>Procesarea </a:t>
            </a:r>
            <a:r>
              <a:rPr lang="en-GB" sz="1100" dirty="0" err="1"/>
              <a:t>fișierelor</a:t>
            </a:r>
            <a:r>
              <a:rPr lang="en-GB" sz="1100" dirty="0"/>
              <a:t> CSV </a:t>
            </a:r>
            <a:r>
              <a:rPr lang="en-GB" sz="1100" dirty="0" err="1"/>
              <a:t>mari</a:t>
            </a:r>
            <a:r>
              <a:rPr lang="en-GB" sz="1100" dirty="0"/>
              <a:t> </a:t>
            </a:r>
            <a:r>
              <a:rPr lang="en-GB" sz="1100" dirty="0" err="1"/>
              <a:t>în</a:t>
            </a:r>
            <a:r>
              <a:rPr lang="en-GB" sz="1100" dirty="0"/>
              <a:t> </a:t>
            </a:r>
            <a:r>
              <a:rPr lang="en-GB" sz="1100" dirty="0" err="1"/>
              <a:t>bucăți</a:t>
            </a:r>
            <a:r>
              <a:rPr lang="en-GB" sz="1100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dirty="0" err="1"/>
              <a:t>Verificarea</a:t>
            </a:r>
            <a:r>
              <a:rPr lang="en-GB" sz="1100" dirty="0"/>
              <a:t> </a:t>
            </a:r>
            <a:r>
              <a:rPr lang="en-GB" sz="1100" dirty="0" err="1"/>
              <a:t>valorilor</a:t>
            </a:r>
            <a:r>
              <a:rPr lang="en-GB" sz="1100" dirty="0"/>
              <a:t> </a:t>
            </a:r>
            <a:r>
              <a:rPr lang="en-GB" sz="1100" dirty="0" err="1"/>
              <a:t>lipsă</a:t>
            </a:r>
            <a:r>
              <a:rPr lang="en-GB" sz="1100" dirty="0"/>
              <a:t> </a:t>
            </a:r>
            <a:r>
              <a:rPr lang="en-GB" sz="1100" dirty="0" err="1"/>
              <a:t>și</a:t>
            </a:r>
            <a:r>
              <a:rPr lang="en-GB" sz="1100" dirty="0"/>
              <a:t> a </a:t>
            </a:r>
            <a:r>
              <a:rPr lang="en-GB" sz="1100" dirty="0" err="1"/>
              <a:t>duplicatelor</a:t>
            </a:r>
            <a:endParaRPr lang="en-GB" sz="11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88A616-FC32-7757-3A9F-A24655DC4878}"/>
              </a:ext>
            </a:extLst>
          </p:cNvPr>
          <p:cNvCxnSpPr>
            <a:cxnSpLocks/>
          </p:cNvCxnSpPr>
          <p:nvPr/>
        </p:nvCxnSpPr>
        <p:spPr>
          <a:xfrm>
            <a:off x="285750" y="1304315"/>
            <a:ext cx="332105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E7F299DE-E863-FB4E-B344-D6E93B99EE05}"/>
              </a:ext>
            </a:extLst>
          </p:cNvPr>
          <p:cNvSpPr/>
          <p:nvPr/>
        </p:nvSpPr>
        <p:spPr>
          <a:xfrm>
            <a:off x="4125913" y="429013"/>
            <a:ext cx="7713662" cy="6086081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" name="Picture 7" descr="Giant Panda PNGs for Free Download">
            <a:extLst>
              <a:ext uri="{FF2B5EF4-FFF2-40B4-BE49-F238E27FC236}">
                <a16:creationId xmlns:a16="http://schemas.microsoft.com/office/drawing/2014/main" id="{CA8C1E34-3628-532E-977E-D4CBCB592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548" y="2024062"/>
            <a:ext cx="3333750" cy="3333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7555A0-F1AA-C158-1FA7-FC9CD05D3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498" y="1500188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080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28164-6122-F8A4-C353-231718BAF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Plan!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51C1B-91BC-F8C3-47BF-AA0BCD30D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3425"/>
            <a:ext cx="10515600" cy="4351338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/>
          <a:p>
            <a:r>
              <a:rPr lang="en-GB" dirty="0"/>
              <a:t>A) </a:t>
            </a:r>
            <a:r>
              <a:rPr lang="en-GB" dirty="0" err="1"/>
              <a:t>Exerciții</a:t>
            </a:r>
            <a:r>
              <a:rPr lang="en-GB" dirty="0"/>
              <a:t> de </a:t>
            </a:r>
            <a:r>
              <a:rPr lang="en-GB" dirty="0" err="1"/>
              <a:t>scriere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citire</a:t>
            </a:r>
            <a:r>
              <a:rPr lang="en-GB" dirty="0"/>
              <a:t> a </a:t>
            </a:r>
            <a:r>
              <a:rPr lang="en-GB" dirty="0" err="1"/>
              <a:t>structurilor</a:t>
            </a:r>
            <a:r>
              <a:rPr lang="en-GB" dirty="0"/>
              <a:t> de date JSON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altele</a:t>
            </a:r>
            <a:r>
              <a:rPr lang="en-GB" dirty="0"/>
              <a:t>.</a:t>
            </a:r>
          </a:p>
          <a:p>
            <a:r>
              <a:rPr lang="en-GB" dirty="0"/>
              <a:t>B) Scriere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citire</a:t>
            </a:r>
            <a:r>
              <a:rPr lang="en-GB" dirty="0"/>
              <a:t> de </a:t>
            </a:r>
            <a:r>
              <a:rPr lang="en-GB" dirty="0" err="1"/>
              <a:t>fișiere</a:t>
            </a:r>
            <a:r>
              <a:rPr lang="en-GB" dirty="0"/>
              <a:t> Excel, </a:t>
            </a:r>
            <a:r>
              <a:rPr lang="en-GB" dirty="0" err="1"/>
              <a:t>manipulări</a:t>
            </a:r>
            <a:r>
              <a:rPr lang="en-GB" dirty="0"/>
              <a:t> de date.</a:t>
            </a:r>
          </a:p>
          <a:p>
            <a:r>
              <a:rPr lang="en-GB" dirty="0"/>
              <a:t>C) </a:t>
            </a:r>
            <a:r>
              <a:rPr lang="en-GB" dirty="0" err="1"/>
              <a:t>Generare</a:t>
            </a:r>
            <a:r>
              <a:rPr lang="en-GB" dirty="0"/>
              <a:t> de date </a:t>
            </a:r>
            <a:r>
              <a:rPr lang="en-GB" dirty="0" err="1"/>
              <a:t>randomizate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manipularea</a:t>
            </a:r>
            <a:r>
              <a:rPr lang="en-GB" dirty="0"/>
              <a:t> </a:t>
            </a:r>
            <a:r>
              <a:rPr lang="en-GB" dirty="0" err="1"/>
              <a:t>fișierelor</a:t>
            </a:r>
            <a:r>
              <a:rPr lang="en-GB" dirty="0"/>
              <a:t> </a:t>
            </a:r>
            <a:r>
              <a:rPr lang="en-GB" dirty="0" err="1"/>
              <a:t>mari</a:t>
            </a:r>
            <a:r>
              <a:rPr lang="en-GB" dirty="0"/>
              <a:t>.</a:t>
            </a:r>
          </a:p>
          <a:p>
            <a:r>
              <a:rPr lang="en-GB" dirty="0"/>
              <a:t>D) </a:t>
            </a:r>
            <a:r>
              <a:rPr lang="en-GB" dirty="0" err="1"/>
              <a:t>Continuare</a:t>
            </a:r>
            <a:r>
              <a:rPr lang="en-GB" dirty="0"/>
              <a:t> </a:t>
            </a:r>
            <a:r>
              <a:rPr lang="en-GB" dirty="0" err="1"/>
              <a:t>exemple</a:t>
            </a:r>
            <a:r>
              <a:rPr lang="en-GB" dirty="0"/>
              <a:t> plus </a:t>
            </a:r>
            <a:r>
              <a:rPr lang="en-GB" dirty="0" err="1"/>
              <a:t>exerciții</a:t>
            </a:r>
            <a:r>
              <a:rPr lang="en-GB" dirty="0"/>
              <a:t>.</a:t>
            </a:r>
          </a:p>
          <a:p>
            <a:r>
              <a:rPr lang="en-GB" dirty="0"/>
              <a:t>E) </a:t>
            </a:r>
            <a:r>
              <a:rPr lang="en-GB" dirty="0" err="1"/>
              <a:t>Începem</a:t>
            </a:r>
            <a:r>
              <a:rPr lang="en-GB" dirty="0"/>
              <a:t> </a:t>
            </a:r>
            <a:r>
              <a:rPr lang="en-GB" dirty="0" err="1"/>
              <a:t>lucrul</a:t>
            </a:r>
            <a:r>
              <a:rPr lang="en-GB" dirty="0"/>
              <a:t> cu </a:t>
            </a:r>
            <a:r>
              <a:rPr lang="en-GB" dirty="0" err="1"/>
              <a:t>interfețe</a:t>
            </a:r>
            <a:r>
              <a:rPr lang="en-GB" dirty="0"/>
              <a:t> </a:t>
            </a:r>
            <a:r>
              <a:rPr lang="en-GB" dirty="0" err="1"/>
              <a:t>grafice</a:t>
            </a:r>
            <a:r>
              <a:rPr lang="en-GB" dirty="0"/>
              <a:t>: basic, </a:t>
            </a:r>
            <a:r>
              <a:rPr lang="en-GB" dirty="0" err="1"/>
              <a:t>butoane</a:t>
            </a:r>
            <a:r>
              <a:rPr lang="en-GB" dirty="0"/>
              <a:t>, </a:t>
            </a:r>
            <a:r>
              <a:rPr lang="en-GB" dirty="0" err="1"/>
              <a:t>obiecte</a:t>
            </a:r>
            <a:r>
              <a:rPr lang="en-GB" dirty="0"/>
              <a:t> de input.</a:t>
            </a:r>
          </a:p>
          <a:p>
            <a:r>
              <a:rPr lang="en-GB" dirty="0"/>
              <a:t>F) </a:t>
            </a:r>
            <a:r>
              <a:rPr lang="en-GB" dirty="0" err="1"/>
              <a:t>Avem</a:t>
            </a:r>
            <a:r>
              <a:rPr lang="en-GB" dirty="0"/>
              <a:t> o </a:t>
            </a:r>
            <a:r>
              <a:rPr lang="en-GB" dirty="0" err="1"/>
              <a:t>discuție</a:t>
            </a:r>
            <a:r>
              <a:rPr lang="en-GB" dirty="0"/>
              <a:t> </a:t>
            </a:r>
            <a:r>
              <a:rPr lang="en-GB" dirty="0" err="1"/>
              <a:t>despre</a:t>
            </a:r>
            <a:r>
              <a:rPr lang="en-GB" dirty="0"/>
              <a:t> </a:t>
            </a:r>
            <a:r>
              <a:rPr lang="en-GB" dirty="0" err="1"/>
              <a:t>domeniul</a:t>
            </a:r>
            <a:r>
              <a:rPr lang="en-GB" dirty="0"/>
              <a:t> specific al </a:t>
            </a:r>
            <a:r>
              <a:rPr lang="en-GB" dirty="0" err="1"/>
              <a:t>fiecăruia</a:t>
            </a:r>
            <a:r>
              <a:rPr lang="en-GB" dirty="0"/>
              <a:t>, </a:t>
            </a:r>
            <a:r>
              <a:rPr lang="en-GB" dirty="0" err="1"/>
              <a:t>pentru</a:t>
            </a:r>
            <a:r>
              <a:rPr lang="en-GB" dirty="0"/>
              <a:t> a formula o </a:t>
            </a:r>
            <a:r>
              <a:rPr lang="en-GB" dirty="0" err="1"/>
              <a:t>temă</a:t>
            </a:r>
            <a:r>
              <a:rPr lang="en-GB" dirty="0"/>
              <a:t> de </a:t>
            </a:r>
            <a:r>
              <a:rPr lang="en-GB" dirty="0" err="1"/>
              <a:t>proiect</a:t>
            </a:r>
            <a:r>
              <a:rPr lang="en-GB" dirty="0"/>
              <a:t> individual,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către</a:t>
            </a:r>
            <a:r>
              <a:rPr lang="en-GB" dirty="0"/>
              <a:t> </a:t>
            </a:r>
            <a:r>
              <a:rPr lang="en-GB" dirty="0" err="1"/>
              <a:t>sfârșitul</a:t>
            </a:r>
            <a:r>
              <a:rPr lang="en-GB" dirty="0"/>
              <a:t> </a:t>
            </a:r>
            <a:r>
              <a:rPr lang="en-GB" dirty="0" err="1"/>
              <a:t>cursului</a:t>
            </a:r>
            <a:r>
              <a:rPr lang="en-GB" dirty="0"/>
              <a:t>, </a:t>
            </a:r>
            <a:r>
              <a:rPr lang="en-GB" dirty="0" err="1"/>
              <a:t>dar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bine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discutăm</a:t>
            </a:r>
            <a:r>
              <a:rPr lang="en-GB" dirty="0"/>
              <a:t> din </a:t>
            </a:r>
            <a:r>
              <a:rPr lang="en-GB" dirty="0" err="1"/>
              <a:t>timp.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8628C5-73D8-657B-4B62-E4C1BF61A07A}"/>
              </a:ext>
            </a:extLst>
          </p:cNvPr>
          <p:cNvCxnSpPr>
            <a:cxnSpLocks/>
          </p:cNvCxnSpPr>
          <p:nvPr/>
        </p:nvCxnSpPr>
        <p:spPr>
          <a:xfrm>
            <a:off x="425450" y="1558315"/>
            <a:ext cx="332105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875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3A1CA-3C2F-89CF-1523-D8653E220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4FA12C54-0357-A341-AB60-AF47C30A137A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C95B89-5DBE-B7D9-701F-9EF0D88E8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Citire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fișier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TXT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și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extragere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linii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după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etichetă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359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70000"/>
            <a:ext cx="10515600" cy="555625"/>
          </a:xfrm>
        </p:spPr>
        <p:txBody>
          <a:bodyPr>
            <a:normAutofit fontScale="90000"/>
          </a:bodyPr>
          <a:lstStyle/>
          <a:p>
            <a:r>
              <a:rPr dirty="0"/>
              <a:t>TXT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sz="4400"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Task: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4400" dirty="0" err="1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numaram</a:t>
            </a:r>
            <a:r>
              <a:rPr sz="4400"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 INFO/WARNING/ERROR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4400" dirty="0" err="1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extragem</a:t>
            </a:r>
            <a:r>
              <a:rPr lang="en-US" sz="4400"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 ERROR</a:t>
            </a:r>
            <a:endParaRPr sz="4400" dirty="0">
              <a:solidFill>
                <a:sysClr val="window" lastClr="FFFFFF">
                  <a:lumMod val="95000"/>
                </a:sysClr>
              </a:solidFill>
              <a:latin typeface="Aptos Display" panose="02110004020202020204"/>
              <a:ea typeface="+mj-ea"/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endParaRPr sz="4400" dirty="0">
              <a:solidFill>
                <a:sysClr val="window" lastClr="FFFFFF">
                  <a:lumMod val="95000"/>
                </a:sysClr>
              </a:solidFill>
              <a:latin typeface="Aptos Display" panose="02110004020202020204"/>
              <a:ea typeface="+mj-ea"/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r>
              <a:rPr sz="4400" dirty="0" err="1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Fi</a:t>
            </a:r>
            <a:r>
              <a:rPr lang="en-US" sz="4400" dirty="0" err="1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sier</a:t>
            </a:r>
            <a:r>
              <a:rPr sz="4400"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: log.txt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DA8F31-FB2E-DB19-6D2D-AC155715EDF2}"/>
              </a:ext>
            </a:extLst>
          </p:cNvPr>
          <p:cNvSpPr txBox="1"/>
          <p:nvPr/>
        </p:nvSpPr>
        <p:spPr>
          <a:xfrm>
            <a:off x="8153400" y="1179294"/>
            <a:ext cx="3888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Trecem de pe: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2"/>
              </a:rPr>
              <a:t>https://www.onlinegdb.com/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5213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4316"/>
            <a:ext cx="10515600" cy="604838"/>
          </a:xfrm>
        </p:spPr>
        <p:txBody>
          <a:bodyPr>
            <a:normAutofit fontScale="90000"/>
          </a:bodyPr>
          <a:lstStyle/>
          <a:p>
            <a:r>
              <a:rPr dirty="0"/>
              <a:t>TXT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82875"/>
          </a:xfr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with open('</a:t>
            </a:r>
            <a:r>
              <a:rPr dirty="0" err="1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log.txt','r</a:t>
            </a:r>
            <a:r>
              <a:rPr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') as f:</a:t>
            </a:r>
          </a:p>
          <a:p>
            <a:pPr marL="0" indent="0">
              <a:spcBef>
                <a:spcPct val="0"/>
              </a:spcBef>
              <a:buNone/>
            </a:pPr>
            <a:r>
              <a:rPr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    lines = </a:t>
            </a:r>
            <a:r>
              <a:rPr dirty="0" err="1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f.readlines</a:t>
            </a:r>
            <a:r>
              <a:rPr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()</a:t>
            </a:r>
          </a:p>
          <a:p>
            <a:pPr marL="0" indent="0">
              <a:spcBef>
                <a:spcPct val="0"/>
              </a:spcBef>
              <a:buNone/>
            </a:pPr>
            <a:endParaRPr dirty="0">
              <a:solidFill>
                <a:sysClr val="window" lastClr="FFFFFF">
                  <a:lumMod val="95000"/>
                </a:sysClr>
              </a:solidFill>
              <a:latin typeface="Aptos Display" panose="02110004020202020204"/>
              <a:ea typeface="+mj-ea"/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r>
              <a:rPr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for line in lines:</a:t>
            </a:r>
          </a:p>
          <a:p>
            <a:pPr marL="0" indent="0">
              <a:spcBef>
                <a:spcPct val="0"/>
              </a:spcBef>
              <a:buNone/>
            </a:pPr>
            <a:r>
              <a:rPr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    if </a:t>
            </a:r>
            <a:r>
              <a:rPr dirty="0" err="1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line.startswith</a:t>
            </a:r>
            <a:r>
              <a:rPr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('ERROR'):</a:t>
            </a:r>
          </a:p>
          <a:p>
            <a:pPr marL="0" indent="0">
              <a:spcBef>
                <a:spcPct val="0"/>
              </a:spcBef>
              <a:buNone/>
            </a:pPr>
            <a:r>
              <a:rPr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        print(line)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400AE9-DF11-4660-9B5D-9B23F89A42E7}"/>
              </a:ext>
            </a:extLst>
          </p:cNvPr>
          <p:cNvSpPr txBox="1"/>
          <p:nvPr/>
        </p:nvSpPr>
        <p:spPr>
          <a:xfrm>
            <a:off x="838200" y="5548867"/>
            <a:ext cx="10515600" cy="759247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240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/>
            <a:r>
              <a:rPr lang="en-GB" dirty="0" err="1"/>
              <a:t>file_path</a:t>
            </a:r>
            <a:r>
              <a:rPr lang="en-GB" dirty="0"/>
              <a:t> = </a:t>
            </a:r>
            <a:r>
              <a:rPr lang="en-GB" dirty="0" err="1"/>
              <a:t>os.path.join</a:t>
            </a:r>
            <a:r>
              <a:rPr lang="en-GB" dirty="0"/>
              <a:t>(</a:t>
            </a:r>
            <a:r>
              <a:rPr lang="en-GB" dirty="0" err="1"/>
              <a:t>os.path.dirname</a:t>
            </a:r>
            <a:r>
              <a:rPr lang="en-GB" dirty="0"/>
              <a:t>(__file__), "log.txt")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13B21-CD0C-A597-07AE-C9012C44E168}"/>
              </a:ext>
            </a:extLst>
          </p:cNvPr>
          <p:cNvSpPr txBox="1"/>
          <p:nvPr/>
        </p:nvSpPr>
        <p:spPr>
          <a:xfrm>
            <a:off x="838200" y="4696102"/>
            <a:ext cx="10515600" cy="665163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lvl1pPr indent="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400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/>
            <a:r>
              <a:rPr lang="en-GB" sz="2400" dirty="0"/>
              <a:t>with open("C:/Users/Paul/Desktop/log.txt", "r", encoding="utf-8") as f:</a:t>
            </a:r>
          </a:p>
        </p:txBody>
      </p:sp>
    </p:spTree>
    <p:extLst>
      <p:ext uri="{BB962C8B-B14F-4D97-AF65-F5344CB8AC3E}">
        <p14:creationId xmlns:p14="http://schemas.microsoft.com/office/powerpoint/2010/main" val="201585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21F283-B576-192E-0B5D-F6D192CD8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930"/>
            <a:ext cx="9144000" cy="39297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5170BC-7370-5D64-F038-A15315BE9666}"/>
              </a:ext>
            </a:extLst>
          </p:cNvPr>
          <p:cNvSpPr txBox="1"/>
          <p:nvPr/>
        </p:nvSpPr>
        <p:spPr>
          <a:xfrm>
            <a:off x="0" y="5238728"/>
            <a:ext cx="12192000" cy="426849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240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/>
            <a:r>
              <a:rPr lang="en-GB" dirty="0"/>
              <a:t>encoding="utf-8" = </a:t>
            </a:r>
            <a:r>
              <a:rPr lang="en-GB" dirty="0" err="1"/>
              <a:t>citește</a:t>
            </a:r>
            <a:r>
              <a:rPr lang="en-GB" dirty="0"/>
              <a:t> </a:t>
            </a:r>
            <a:r>
              <a:rPr lang="en-GB" dirty="0" err="1"/>
              <a:t>textul</a:t>
            </a:r>
            <a:r>
              <a:rPr lang="en-GB" dirty="0"/>
              <a:t> </a:t>
            </a:r>
            <a:r>
              <a:rPr lang="en-GB" dirty="0" err="1"/>
              <a:t>corect</a:t>
            </a:r>
            <a:r>
              <a:rPr lang="en-GB" dirty="0"/>
              <a:t> (cu </a:t>
            </a:r>
            <a:r>
              <a:rPr lang="en-GB" dirty="0" err="1"/>
              <a:t>diacritice</a:t>
            </a:r>
            <a:r>
              <a:rPr lang="en-GB" dirty="0"/>
              <a:t>, </a:t>
            </a:r>
            <a:r>
              <a:rPr lang="en-GB" dirty="0" err="1"/>
              <a:t>fără</a:t>
            </a:r>
            <a:r>
              <a:rPr lang="en-GB" dirty="0"/>
              <a:t> </a:t>
            </a:r>
            <a:r>
              <a:rPr lang="en-GB" dirty="0" err="1"/>
              <a:t>erori</a:t>
            </a:r>
            <a:r>
              <a:rPr lang="en-GB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A3FA91-30AD-94CA-D38D-45F10DF6E165}"/>
              </a:ext>
            </a:extLst>
          </p:cNvPr>
          <p:cNvSpPr txBox="1"/>
          <p:nvPr/>
        </p:nvSpPr>
        <p:spPr>
          <a:xfrm>
            <a:off x="0" y="5786837"/>
            <a:ext cx="12192000" cy="426850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240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/>
            <a:r>
              <a:rPr lang="en-GB" dirty="0"/>
              <a:t>UTF = Unicode Transformation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18AF46-4986-D595-3021-CF37FA604832}"/>
              </a:ext>
            </a:extLst>
          </p:cNvPr>
          <p:cNvSpPr txBox="1"/>
          <p:nvPr/>
        </p:nvSpPr>
        <p:spPr>
          <a:xfrm>
            <a:off x="0" y="0"/>
            <a:ext cx="12192000" cy="426848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240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/>
            <a:r>
              <a:rPr lang="en-GB" dirty="0" err="1"/>
              <a:t>cwd</a:t>
            </a:r>
            <a:r>
              <a:rPr lang="en-GB" dirty="0"/>
              <a:t> = Current Working Directory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4C5594-2455-B88F-1ECE-4E94055D9B26}"/>
              </a:ext>
            </a:extLst>
          </p:cNvPr>
          <p:cNvSpPr txBox="1"/>
          <p:nvPr/>
        </p:nvSpPr>
        <p:spPr>
          <a:xfrm>
            <a:off x="0" y="6334947"/>
            <a:ext cx="12192000" cy="426848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240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/>
            <a:r>
              <a:rPr lang="en-GB" dirty="0"/>
              <a:t>strip() = </a:t>
            </a:r>
            <a:r>
              <a:rPr lang="en-GB" dirty="0" err="1"/>
              <a:t>șterge</a:t>
            </a:r>
            <a:r>
              <a:rPr lang="en-GB" dirty="0"/>
              <a:t> </a:t>
            </a:r>
            <a:r>
              <a:rPr lang="en-GB" dirty="0" err="1"/>
              <a:t>spațiile</a:t>
            </a:r>
            <a:r>
              <a:rPr lang="en-GB" dirty="0"/>
              <a:t> de la </a:t>
            </a:r>
            <a:r>
              <a:rPr lang="en-GB" dirty="0" err="1"/>
              <a:t>început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sfârșit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18A1EA-F96D-4916-63BB-C9FFEDEB2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4890" y="890014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84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F66DC-8648-F6BB-3BD2-1B7C99B29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E495466A-2C85-C275-FFE4-1A07CB773930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2DF52-2B9C-25D7-AB7B-EE31A7A2E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Citire CSV: filtrare și calcule pe angajați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159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0975"/>
            <a:ext cx="10515600" cy="3020307"/>
          </a:xfr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import csv</a:t>
            </a:r>
          </a:p>
          <a:p>
            <a:pPr marL="0" indent="0">
              <a:spcBef>
                <a:spcPct val="0"/>
              </a:spcBef>
              <a:buNone/>
            </a:pPr>
            <a:endParaRPr dirty="0">
              <a:solidFill>
                <a:sysClr val="window" lastClr="FFFFFF">
                  <a:lumMod val="95000"/>
                </a:sysClr>
              </a:solidFill>
              <a:latin typeface="Aptos Display" panose="02110004020202020204"/>
              <a:ea typeface="+mj-ea"/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r>
              <a:rPr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with open(‘</a:t>
            </a:r>
            <a:r>
              <a:rPr lang="en-US"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angajati</a:t>
            </a:r>
            <a:r>
              <a:rPr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.csv') as f:</a:t>
            </a:r>
          </a:p>
          <a:p>
            <a:pPr marL="0" indent="0">
              <a:spcBef>
                <a:spcPct val="0"/>
              </a:spcBef>
              <a:buNone/>
            </a:pPr>
            <a:r>
              <a:rPr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    reader = </a:t>
            </a:r>
            <a:r>
              <a:rPr dirty="0" err="1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csv.DictReader</a:t>
            </a:r>
            <a:r>
              <a:rPr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(f)</a:t>
            </a:r>
          </a:p>
          <a:p>
            <a:pPr marL="0" indent="0">
              <a:spcBef>
                <a:spcPct val="0"/>
              </a:spcBef>
              <a:buNone/>
            </a:pPr>
            <a:r>
              <a:rPr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    for row in reader:</a:t>
            </a:r>
          </a:p>
          <a:p>
            <a:pPr marL="0" indent="0">
              <a:spcBef>
                <a:spcPct val="0"/>
              </a:spcBef>
              <a:buNone/>
            </a:pPr>
            <a:r>
              <a:rPr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        print(row[‘</a:t>
            </a:r>
            <a:r>
              <a:rPr lang="en-US" dirty="0" err="1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nume</a:t>
            </a:r>
            <a:r>
              <a:rPr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'], row[‘</a:t>
            </a:r>
            <a:r>
              <a:rPr lang="en-US"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credit</a:t>
            </a:r>
            <a:r>
              <a:rPr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'])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1B516-7C30-CDD1-D75C-79C4E782EC18}"/>
              </a:ext>
            </a:extLst>
          </p:cNvPr>
          <p:cNvSpPr txBox="1"/>
          <p:nvPr/>
        </p:nvSpPr>
        <p:spPr>
          <a:xfrm>
            <a:off x="838200" y="5174734"/>
            <a:ext cx="10515600" cy="369332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240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dirty="0"/>
              <a:t>CSV </a:t>
            </a:r>
            <a:r>
              <a:rPr lang="en-GB" dirty="0" err="1"/>
              <a:t>este</a:t>
            </a:r>
            <a:r>
              <a:rPr lang="en-GB" dirty="0"/>
              <a:t> un </a:t>
            </a:r>
            <a:r>
              <a:rPr lang="en-GB" dirty="0" err="1"/>
              <a:t>fișier</a:t>
            </a:r>
            <a:r>
              <a:rPr lang="en-GB" dirty="0"/>
              <a:t> text care </a:t>
            </a:r>
            <a:r>
              <a:rPr lang="en-GB" dirty="0" err="1"/>
              <a:t>ține</a:t>
            </a:r>
            <a:r>
              <a:rPr lang="en-GB" dirty="0"/>
              <a:t> date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formă</a:t>
            </a:r>
            <a:r>
              <a:rPr lang="en-GB" dirty="0"/>
              <a:t> de </a:t>
            </a:r>
            <a:r>
              <a:rPr lang="en-GB" dirty="0" err="1"/>
              <a:t>tabel</a:t>
            </a:r>
            <a:r>
              <a:rPr lang="en-GB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250FD8-B490-D649-715F-4376DB3F890C}"/>
              </a:ext>
            </a:extLst>
          </p:cNvPr>
          <p:cNvSpPr txBox="1"/>
          <p:nvPr/>
        </p:nvSpPr>
        <p:spPr>
          <a:xfrm>
            <a:off x="838200" y="4609584"/>
            <a:ext cx="10515600" cy="369332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240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dirty="0"/>
              <a:t>CSV = Comma-Separated Values</a:t>
            </a:r>
          </a:p>
        </p:txBody>
      </p:sp>
    </p:spTree>
    <p:extLst>
      <p:ext uri="{BB962C8B-B14F-4D97-AF65-F5344CB8AC3E}">
        <p14:creationId xmlns:p14="http://schemas.microsoft.com/office/powerpoint/2010/main" val="118610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909EB2-4BCB-C736-7A38-AC555EA0E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99567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AC51B6-B16D-F767-DA61-DD0157784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931" y="144486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54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C8E6F4F-F356-6FD0-631F-0615B3669AFE}"/>
              </a:ext>
            </a:extLst>
          </p:cNvPr>
          <p:cNvSpPr txBox="1"/>
          <p:nvPr/>
        </p:nvSpPr>
        <p:spPr>
          <a:xfrm>
            <a:off x="577850" y="5230981"/>
            <a:ext cx="7251700" cy="795169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240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/>
            <a:r>
              <a:rPr lang="en-GB" dirty="0"/>
              <a:t>list(reader) = </a:t>
            </a:r>
            <a:r>
              <a:rPr lang="en-GB" dirty="0" err="1"/>
              <a:t>toate</a:t>
            </a:r>
            <a:r>
              <a:rPr lang="en-GB" dirty="0"/>
              <a:t> </a:t>
            </a:r>
            <a:r>
              <a:rPr lang="en-GB" dirty="0" err="1"/>
              <a:t>rândurile</a:t>
            </a:r>
            <a:r>
              <a:rPr lang="en-GB" dirty="0"/>
              <a:t> </a:t>
            </a:r>
            <a:r>
              <a:rPr lang="en-GB" dirty="0" err="1"/>
              <a:t>într</a:t>
            </a:r>
            <a:r>
              <a:rPr lang="en-GB" dirty="0"/>
              <a:t>-o </a:t>
            </a:r>
            <a:r>
              <a:rPr lang="en-GB" dirty="0" err="1"/>
              <a:t>listă</a:t>
            </a:r>
            <a:endParaRPr lang="en-GB" dirty="0"/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3F215BFE-5B45-8A6D-9752-5421A58D1FF4}"/>
              </a:ext>
            </a:extLst>
          </p:cNvPr>
          <p:cNvSpPr/>
          <p:nvPr/>
        </p:nvSpPr>
        <p:spPr>
          <a:xfrm>
            <a:off x="577850" y="949714"/>
            <a:ext cx="7251700" cy="5076436"/>
          </a:xfrm>
          <a:prstGeom prst="round2DiagRect">
            <a:avLst>
              <a:gd name="adj1" fmla="val 1537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3811D-EB95-ACBF-8CA2-AF2F53EB005C}"/>
              </a:ext>
            </a:extLst>
          </p:cNvPr>
          <p:cNvSpPr txBox="1"/>
          <p:nvPr/>
        </p:nvSpPr>
        <p:spPr>
          <a:xfrm>
            <a:off x="1162050" y="1447155"/>
            <a:ext cx="614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DictReader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= </a:t>
            </a: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fiecare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rând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devine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dicționar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A92DF5-68E0-0DED-57CE-CE6066437B18}"/>
              </a:ext>
            </a:extLst>
          </p:cNvPr>
          <p:cNvSpPr txBox="1"/>
          <p:nvPr/>
        </p:nvSpPr>
        <p:spPr>
          <a:xfrm>
            <a:off x="1117600" y="245899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["1", "Ana", "IT", "5500"]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4D31AFF-5384-B9A6-0704-64F85E4A4E9B}"/>
              </a:ext>
            </a:extLst>
          </p:cNvPr>
          <p:cNvSpPr/>
          <p:nvPr/>
        </p:nvSpPr>
        <p:spPr>
          <a:xfrm>
            <a:off x="2095500" y="3066533"/>
            <a:ext cx="406400" cy="914400"/>
          </a:xfrm>
          <a:prstGeom prst="downArrow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GB" sz="2800">
              <a:solidFill>
                <a:sysClr val="window" lastClr="FFFFFF">
                  <a:lumMod val="95000"/>
                </a:sysClr>
              </a:solidFill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94D7FF-C505-049E-7E5A-08D87F6BF989}"/>
              </a:ext>
            </a:extLst>
          </p:cNvPr>
          <p:cNvSpPr txBox="1"/>
          <p:nvPr/>
        </p:nvSpPr>
        <p:spPr>
          <a:xfrm>
            <a:off x="1117600" y="4219143"/>
            <a:ext cx="7251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{"id": "1", "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nume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"Ana", "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departament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"IT", "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salariu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": "5500"}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2603EB-F523-E220-DD2E-EC8CC5073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231" y="1435140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06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F79C9-C597-9EE3-86C6-EA82CA9E0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D897D718-0EB0-29A2-741B-F470CE3012F3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58C5B-56F7-B28B-0854-B466AB0D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Scriere JSON</a:t>
            </a:r>
          </a:p>
        </p:txBody>
      </p:sp>
    </p:spTree>
    <p:extLst>
      <p:ext uri="{BB962C8B-B14F-4D97-AF65-F5344CB8AC3E}">
        <p14:creationId xmlns:p14="http://schemas.microsoft.com/office/powerpoint/2010/main" val="3424934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8D7D26-B5C4-60E4-180B-DF2B8E995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0930"/>
            <a:ext cx="7471319" cy="4415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B43F0B-45C1-D17A-8B96-F08415C87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4052"/>
            <a:ext cx="12192000" cy="17139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C35B07-F43D-D0CA-44D2-3E7F6817CE6A}"/>
              </a:ext>
            </a:extLst>
          </p:cNvPr>
          <p:cNvSpPr txBox="1"/>
          <p:nvPr/>
        </p:nvSpPr>
        <p:spPr>
          <a:xfrm>
            <a:off x="7740650" y="340930"/>
            <a:ext cx="4451350" cy="1106870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Scriere JSON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E9E5DA-EA21-0711-BA9B-6AD960DA7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9390" y="1595438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014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1A49-E7CD-FECD-3A8C-24360631F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A361552A-B970-4D98-F7FC-B2765C9AA9AD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390A8-8F29-CCC0-5D62-ED7034BF1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Citire JSON</a:t>
            </a:r>
          </a:p>
        </p:txBody>
      </p:sp>
    </p:spTree>
    <p:extLst>
      <p:ext uri="{BB962C8B-B14F-4D97-AF65-F5344CB8AC3E}">
        <p14:creationId xmlns:p14="http://schemas.microsoft.com/office/powerpoint/2010/main" val="253974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7338D1-DA3E-465A-7428-666B3EC72F12}"/>
              </a:ext>
            </a:extLst>
          </p:cNvPr>
          <p:cNvSpPr txBox="1"/>
          <p:nvPr/>
        </p:nvSpPr>
        <p:spPr>
          <a:xfrm>
            <a:off x="0" y="512734"/>
            <a:ext cx="5461000" cy="1315040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Citire JSON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D3D8A3-5DD4-2FA4-DF69-2E61B62DE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2301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6E638A-749C-DE2F-6051-1D1356C71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898" y="2300288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84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1F4DC-B83F-FDEE-8FD4-10CCEDAE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BE360212-E049-211E-16C4-B7EA007FFBDC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1BE603-668F-2B36-2D06-CF615E29D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Exemplu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combinat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(JSON +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procesare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09957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141C6D-47E5-7F16-EE9E-7D6059336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31538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07B159-7E2A-C876-5D08-D9ECE3A4A6A6}"/>
              </a:ext>
            </a:extLst>
          </p:cNvPr>
          <p:cNvSpPr txBox="1"/>
          <p:nvPr/>
        </p:nvSpPr>
        <p:spPr>
          <a:xfrm>
            <a:off x="7391400" y="323334"/>
            <a:ext cx="4800600" cy="2134116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Exemplu </a:t>
            </a:r>
            <a:r>
              <a:rPr lang="en-GB" dirty="0" err="1"/>
              <a:t>combinat</a:t>
            </a:r>
            <a:r>
              <a:rPr lang="en-GB" dirty="0"/>
              <a:t> (JSON + </a:t>
            </a:r>
            <a:r>
              <a:rPr lang="en-GB" dirty="0" err="1"/>
              <a:t>procesare</a:t>
            </a:r>
            <a:r>
              <a:rPr lang="en-GB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FD1893-3B2B-2439-35AB-0AC4093D0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350" y="2711938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490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76024-C6AF-7DA1-04C7-295ABB421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C3926154-5142-8310-7080-367BDC0C4761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4E9034-41A1-7B93-73E9-EE616991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Excel </a:t>
            </a:r>
            <a:br>
              <a:rPr lang="en-GB" sz="7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citire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scriere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manipulare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582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ECE008-19AB-5D4E-6C97-A80D0BD63EC7}"/>
              </a:ext>
            </a:extLst>
          </p:cNvPr>
          <p:cNvSpPr txBox="1"/>
          <p:nvPr/>
        </p:nvSpPr>
        <p:spPr>
          <a:xfrm>
            <a:off x="7748790" y="723419"/>
            <a:ext cx="3897110" cy="3131031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Excel </a:t>
            </a:r>
          </a:p>
          <a:p>
            <a:r>
              <a:rPr lang="en-GB" dirty="0" err="1"/>
              <a:t>citire</a:t>
            </a:r>
            <a:r>
              <a:rPr lang="en-GB" dirty="0"/>
              <a:t>, </a:t>
            </a:r>
            <a:r>
              <a:rPr lang="en-GB" dirty="0" err="1"/>
              <a:t>scriere</a:t>
            </a:r>
            <a:r>
              <a:rPr lang="en-GB" dirty="0"/>
              <a:t>, </a:t>
            </a:r>
            <a:r>
              <a:rPr lang="en-GB" dirty="0" err="1"/>
              <a:t>manipulare</a:t>
            </a:r>
            <a:endParaRPr lang="en-GB" dirty="0"/>
          </a:p>
          <a:p>
            <a:r>
              <a:rPr lang="en-GB" dirty="0"/>
              <a:t>(de </a:t>
            </a:r>
            <a:r>
              <a:rPr lang="en-GB" dirty="0" err="1"/>
              <a:t>testat</a:t>
            </a:r>
            <a:r>
              <a:rPr lang="en-GB" dirty="0"/>
              <a:t> local)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7DB7FC-C084-C6EE-D940-D0FB8ADE5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47857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5EF9D6-5CDC-BE38-AD03-4AEB02D07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200" y="4140572"/>
            <a:ext cx="2905530" cy="13336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B60CAF-754E-133A-EBAC-1AF907325D7C}"/>
              </a:ext>
            </a:extLst>
          </p:cNvPr>
          <p:cNvSpPr txBox="1"/>
          <p:nvPr/>
        </p:nvSpPr>
        <p:spPr>
          <a:xfrm>
            <a:off x="7748790" y="141177"/>
            <a:ext cx="4443209" cy="360474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pip install pandas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F32E8-4725-A17E-214D-F2E6EBA16A53}"/>
              </a:ext>
            </a:extLst>
          </p:cNvPr>
          <p:cNvSpPr txBox="1"/>
          <p:nvPr/>
        </p:nvSpPr>
        <p:spPr>
          <a:xfrm>
            <a:off x="7748789" y="5740997"/>
            <a:ext cx="4443209" cy="841213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import pandas as pd</a:t>
            </a:r>
          </a:p>
          <a:p>
            <a:r>
              <a:rPr lang="en-GB" dirty="0"/>
              <a:t>print(</a:t>
            </a:r>
            <a:r>
              <a:rPr lang="en-GB" dirty="0" err="1"/>
              <a:t>pd.__version</a:t>
            </a:r>
            <a:r>
              <a:rPr lang="en-GB" dirty="0"/>
              <a:t>__)</a:t>
            </a:r>
          </a:p>
        </p:txBody>
      </p:sp>
    </p:spTree>
    <p:extLst>
      <p:ext uri="{BB962C8B-B14F-4D97-AF65-F5344CB8AC3E}">
        <p14:creationId xmlns:p14="http://schemas.microsoft.com/office/powerpoint/2010/main" val="4182492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3977C-28F3-F298-B093-1740FF4B8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B2109D10-2F08-3619-9475-A052F0239102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2605A-A4CD-6B3E-B5D7-9E02DDAE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Generare date </a:t>
            </a:r>
            <a:br>
              <a:rPr lang="it-IT" sz="7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random + fișiere mari</a:t>
            </a:r>
          </a:p>
        </p:txBody>
      </p:sp>
    </p:spTree>
    <p:extLst>
      <p:ext uri="{BB962C8B-B14F-4D97-AF65-F5344CB8AC3E}">
        <p14:creationId xmlns:p14="http://schemas.microsoft.com/office/powerpoint/2010/main" val="1380330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769EEA-D946-179F-08D4-47BB78901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618" y="0"/>
            <a:ext cx="406238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D1549F-FDE0-A173-0365-C6C25AD85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31" y="277539"/>
            <a:ext cx="7273303" cy="27704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6A50D6-4D7E-7801-3567-388C8D547942}"/>
              </a:ext>
            </a:extLst>
          </p:cNvPr>
          <p:cNvSpPr txBox="1"/>
          <p:nvPr/>
        </p:nvSpPr>
        <p:spPr>
          <a:xfrm>
            <a:off x="425731" y="4419084"/>
            <a:ext cx="7273303" cy="1315040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it-IT" dirty="0"/>
              <a:t>Generare date </a:t>
            </a:r>
          </a:p>
          <a:p>
            <a:r>
              <a:rPr lang="it-IT" dirty="0"/>
              <a:t>random + fișiere mari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1801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63FF0-2190-D708-9D86-15E2A094D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D83F3637-2FA5-3D65-37D2-EA62E996F2A3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22858F-0C9C-1512-E2C2-5AA111D55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Procesare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fără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a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încărca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tot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în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memorie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945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3E8D89-63E3-5E2C-E7F9-907F4377B787}"/>
              </a:ext>
            </a:extLst>
          </p:cNvPr>
          <p:cNvSpPr txBox="1"/>
          <p:nvPr/>
        </p:nvSpPr>
        <p:spPr>
          <a:xfrm>
            <a:off x="431175" y="4552950"/>
            <a:ext cx="8221567" cy="1752600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Procesare </a:t>
            </a:r>
            <a:r>
              <a:rPr lang="en-GB" dirty="0" err="1"/>
              <a:t>fără</a:t>
            </a:r>
            <a:r>
              <a:rPr lang="en-GB" dirty="0"/>
              <a:t> a </a:t>
            </a:r>
            <a:r>
              <a:rPr lang="en-GB" dirty="0" err="1"/>
              <a:t>încărca</a:t>
            </a:r>
            <a:r>
              <a:rPr lang="en-GB" dirty="0"/>
              <a:t> tot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memorie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06A596-DD61-B2D3-1E14-AEE7B1C49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74" y="380853"/>
            <a:ext cx="8221567" cy="38483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F3519E-FBFC-8EBB-2D18-56C98E85A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850" y="140041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438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D3F1A5-074F-A0D1-9329-F86C49BCB985}"/>
              </a:ext>
            </a:extLst>
          </p:cNvPr>
          <p:cNvSpPr txBox="1"/>
          <p:nvPr/>
        </p:nvSpPr>
        <p:spPr>
          <a:xfrm>
            <a:off x="0" y="2308134"/>
            <a:ext cx="12192000" cy="1393915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Schimbare</a:t>
            </a:r>
            <a:r>
              <a:rPr lang="en-GB" dirty="0"/>
              <a:t> pe local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699D4-5C9F-D719-65E4-497DE8A036A4}"/>
              </a:ext>
            </a:extLst>
          </p:cNvPr>
          <p:cNvSpPr txBox="1"/>
          <p:nvPr/>
        </p:nvSpPr>
        <p:spPr>
          <a:xfrm>
            <a:off x="2184400" y="408253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Trecem de pe:</a:t>
            </a:r>
          </a:p>
          <a:p>
            <a:r>
              <a:rPr lang="en-GB" dirty="0">
                <a:hlinkClick r:id="rId2"/>
              </a:rPr>
              <a:t>https://www.onlinegdb.com/</a:t>
            </a:r>
            <a:endParaRPr lang="en-GB" dirty="0"/>
          </a:p>
          <a:p>
            <a:r>
              <a:rPr lang="en-GB" dirty="0"/>
              <a:t>Pe </a:t>
            </a:r>
            <a:r>
              <a:rPr lang="en-GB" dirty="0" err="1"/>
              <a:t>varianta</a:t>
            </a:r>
            <a:r>
              <a:rPr lang="en-GB" dirty="0"/>
              <a:t> </a:t>
            </a:r>
            <a:r>
              <a:rPr lang="en-GB" dirty="0" err="1"/>
              <a:t>locală</a:t>
            </a:r>
            <a:r>
              <a:rPr lang="en-GB" dirty="0"/>
              <a:t>,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instalăm</a:t>
            </a:r>
            <a:r>
              <a:rPr lang="en-GB" dirty="0"/>
              <a:t> Visual Studio.</a:t>
            </a:r>
          </a:p>
        </p:txBody>
      </p:sp>
    </p:spTree>
    <p:extLst>
      <p:ext uri="{BB962C8B-B14F-4D97-AF65-F5344CB8AC3E}">
        <p14:creationId xmlns:p14="http://schemas.microsoft.com/office/powerpoint/2010/main" val="4239547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45431-0DED-585F-CD66-7F1A51C9A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330FE233-CDDD-5DF1-8D85-F58D63C18E89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C519F1-EBC9-DC8C-2A8E-BDBB966A4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GUI (Graphical User Interface)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95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0E639C-61D1-EB74-F186-183832276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53" y="350549"/>
            <a:ext cx="7341667" cy="58978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05F51A-3870-0075-C920-16408C1851DF}"/>
              </a:ext>
            </a:extLst>
          </p:cNvPr>
          <p:cNvSpPr txBox="1"/>
          <p:nvPr/>
        </p:nvSpPr>
        <p:spPr>
          <a:xfrm>
            <a:off x="8108950" y="350549"/>
            <a:ext cx="4083050" cy="759247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pt-BR" dirty="0"/>
              <a:t>root = fereastra principală a aplicației.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F75ACB-D5D1-26D3-821F-3506F6F130E8}"/>
              </a:ext>
            </a:extLst>
          </p:cNvPr>
          <p:cNvSpPr txBox="1"/>
          <p:nvPr/>
        </p:nvSpPr>
        <p:spPr>
          <a:xfrm>
            <a:off x="8108950" y="1900535"/>
            <a:ext cx="4083050" cy="2087265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tk.Entry</a:t>
            </a:r>
            <a:r>
              <a:rPr lang="en-GB" dirty="0"/>
              <a:t>(root) = </a:t>
            </a:r>
            <a:r>
              <a:rPr lang="en-GB" dirty="0" err="1"/>
              <a:t>creează</a:t>
            </a:r>
            <a:r>
              <a:rPr lang="en-GB" dirty="0"/>
              <a:t> un </a:t>
            </a:r>
            <a:r>
              <a:rPr lang="en-GB" dirty="0" err="1"/>
              <a:t>câmp</a:t>
            </a:r>
            <a:r>
              <a:rPr lang="en-GB" dirty="0"/>
              <a:t> de text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fereastra</a:t>
            </a:r>
            <a:r>
              <a:rPr lang="en-GB" dirty="0"/>
              <a:t> root</a:t>
            </a:r>
          </a:p>
          <a:p>
            <a:endParaRPr lang="en-GB" dirty="0"/>
          </a:p>
          <a:p>
            <a:r>
              <a:rPr lang="en-GB" dirty="0" err="1"/>
              <a:t>entry.pack</a:t>
            </a:r>
            <a:r>
              <a:rPr lang="en-GB" dirty="0"/>
              <a:t>() = </a:t>
            </a:r>
            <a:r>
              <a:rPr lang="en-GB" dirty="0" err="1"/>
              <a:t>spune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fie pus (</a:t>
            </a:r>
            <a:r>
              <a:rPr lang="en-GB" dirty="0" err="1"/>
              <a:t>îl</a:t>
            </a:r>
            <a:r>
              <a:rPr lang="en-GB" dirty="0"/>
              <a:t> </a:t>
            </a:r>
            <a:r>
              <a:rPr lang="en-GB" dirty="0" err="1"/>
              <a:t>afișează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fereastră</a:t>
            </a:r>
            <a:r>
              <a:rPr lang="en-GB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EE86E1-736D-647A-92DE-FF18315CBD64}"/>
              </a:ext>
            </a:extLst>
          </p:cNvPr>
          <p:cNvSpPr txBox="1"/>
          <p:nvPr/>
        </p:nvSpPr>
        <p:spPr>
          <a:xfrm>
            <a:off x="8108950" y="4669793"/>
            <a:ext cx="4083050" cy="1578607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pPr algn="l"/>
            <a:r>
              <a:rPr lang="en-GB" sz="2400" dirty="0"/>
              <a:t>Entry = input</a:t>
            </a:r>
          </a:p>
          <a:p>
            <a:pPr algn="l"/>
            <a:r>
              <a:rPr lang="en-GB" sz="2400" dirty="0"/>
              <a:t>root = </a:t>
            </a:r>
            <a:r>
              <a:rPr lang="en-GB" sz="2400" dirty="0" err="1"/>
              <a:t>unde</a:t>
            </a:r>
            <a:r>
              <a:rPr lang="en-GB" sz="2400" dirty="0"/>
              <a:t> </a:t>
            </a:r>
            <a:r>
              <a:rPr lang="en-GB" sz="2400" dirty="0" err="1"/>
              <a:t>apare</a:t>
            </a:r>
            <a:endParaRPr lang="en-GB" sz="2400" dirty="0"/>
          </a:p>
          <a:p>
            <a:pPr algn="l"/>
            <a:r>
              <a:rPr lang="en-GB" sz="2400" dirty="0"/>
              <a:t>pack() = </a:t>
            </a:r>
            <a:r>
              <a:rPr lang="en-GB" sz="2400" dirty="0" err="1"/>
              <a:t>îl</a:t>
            </a:r>
            <a:r>
              <a:rPr lang="en-GB" sz="2400" dirty="0"/>
              <a:t> face </a:t>
            </a:r>
            <a:r>
              <a:rPr lang="en-GB" sz="2400" dirty="0" err="1"/>
              <a:t>vizibil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085766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09498-F33F-7CA0-62C5-7C8E7281F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385E3412-0BE4-5975-D72E-028DB52B6759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8D6B6-70FA-499B-8F20-2DCADBF5F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Poziționare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exactă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obiecte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în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Tkinter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406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9500FE5-A137-E010-EA9F-1F5C4996A949}"/>
              </a:ext>
            </a:extLst>
          </p:cNvPr>
          <p:cNvSpPr/>
          <p:nvPr/>
        </p:nvSpPr>
        <p:spPr>
          <a:xfrm>
            <a:off x="7340600" y="1789018"/>
            <a:ext cx="4851400" cy="3904737"/>
          </a:xfrm>
          <a:prstGeom prst="rect">
            <a:avLst/>
          </a:prstGeom>
          <a:solidFill>
            <a:srgbClr val="F7CCB7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GB" sz="2400">
              <a:solidFill>
                <a:sysClr val="window" lastClr="FFFFFF">
                  <a:lumMod val="95000"/>
                </a:sysClr>
              </a:solidFill>
              <a:latin typeface="Aptos Display" panose="02110004020202020204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4EFE2-9378-67DD-D93D-E0FF52ACA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71368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FEDF35-0A79-BE33-5A4E-F02C22027EEE}"/>
              </a:ext>
            </a:extLst>
          </p:cNvPr>
          <p:cNvSpPr txBox="1"/>
          <p:nvPr/>
        </p:nvSpPr>
        <p:spPr>
          <a:xfrm>
            <a:off x="7340600" y="364975"/>
            <a:ext cx="4851400" cy="1424044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x, y → </a:t>
            </a:r>
            <a:r>
              <a:rPr lang="en-GB" dirty="0" err="1"/>
              <a:t>poziție</a:t>
            </a:r>
            <a:endParaRPr lang="en-GB" dirty="0"/>
          </a:p>
          <a:p>
            <a:r>
              <a:rPr lang="en-GB" dirty="0"/>
              <a:t>width, height → </a:t>
            </a:r>
            <a:r>
              <a:rPr lang="en-GB" dirty="0" err="1"/>
              <a:t>dimensiune</a:t>
            </a:r>
            <a:endParaRPr lang="en-GB" dirty="0"/>
          </a:p>
          <a:p>
            <a:r>
              <a:rPr lang="en-GB" dirty="0"/>
              <a:t>geometry() → </a:t>
            </a:r>
            <a:r>
              <a:rPr lang="en-GB" dirty="0" err="1"/>
              <a:t>dimensiunea</a:t>
            </a:r>
            <a:r>
              <a:rPr lang="en-GB" dirty="0"/>
              <a:t> </a:t>
            </a:r>
            <a:r>
              <a:rPr lang="en-GB" dirty="0" err="1"/>
              <a:t>ferestrei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F8C631-E6C3-53EE-30BA-FD30ABEDE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692" y="2716069"/>
            <a:ext cx="3696216" cy="20481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76E51C-D2C1-9AF3-0223-F254A6874D19}"/>
              </a:ext>
            </a:extLst>
          </p:cNvPr>
          <p:cNvSpPr txBox="1"/>
          <p:nvPr/>
        </p:nvSpPr>
        <p:spPr>
          <a:xfrm>
            <a:off x="7340600" y="5693756"/>
            <a:ext cx="4851400" cy="426848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Dimensiuni</a:t>
            </a:r>
            <a:r>
              <a:rPr lang="en-GB" dirty="0"/>
              <a:t> </a:t>
            </a:r>
            <a:r>
              <a:rPr lang="en-GB" dirty="0" err="1"/>
              <a:t>exacte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5331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A5852-FC35-3C16-FE41-E7B89ADFA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21B94989-8ECA-661D-E636-34C6A89E37B4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66482-4561-572A-CC18-C76F35393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Asocierea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obiectelor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cu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evenimente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și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operații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6158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08DCBB-0848-7872-4532-39FF1104554E}"/>
              </a:ext>
            </a:extLst>
          </p:cNvPr>
          <p:cNvSpPr/>
          <p:nvPr/>
        </p:nvSpPr>
        <p:spPr>
          <a:xfrm>
            <a:off x="5060950" y="845432"/>
            <a:ext cx="7131050" cy="4387932"/>
          </a:xfrm>
          <a:prstGeom prst="rect">
            <a:avLst/>
          </a:prstGeom>
          <a:solidFill>
            <a:srgbClr val="F7CCB7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GB" sz="2400">
              <a:solidFill>
                <a:sysClr val="window" lastClr="FFFFFF">
                  <a:lumMod val="95000"/>
                </a:sysClr>
              </a:solidFill>
              <a:latin typeface="Aptos Display" panose="02110004020202020204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26598-3E0A-6FDF-84E2-79CF633E3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64050" cy="5233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D5E26B-464C-DE47-3EC7-9105B9074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485" y="1971535"/>
            <a:ext cx="2724530" cy="20005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0ECB8B-B263-09BE-3257-7C33C5F6B241}"/>
              </a:ext>
            </a:extLst>
          </p:cNvPr>
          <p:cNvSpPr txBox="1"/>
          <p:nvPr/>
        </p:nvSpPr>
        <p:spPr>
          <a:xfrm>
            <a:off x="5060950" y="418584"/>
            <a:ext cx="7131050" cy="426848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Calculator</a:t>
            </a:r>
          </a:p>
        </p:txBody>
      </p:sp>
    </p:spTree>
    <p:extLst>
      <p:ext uri="{BB962C8B-B14F-4D97-AF65-F5344CB8AC3E}">
        <p14:creationId xmlns:p14="http://schemas.microsoft.com/office/powerpoint/2010/main" val="8759695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35FF8-4D11-6908-1286-187EE59F8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F2DD24B6-FC7C-E13D-7FDF-EFB7FE021741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3127ED-B7B0-8857-DB25-9FA1AC168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Modificarea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proprietăților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obiectelor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776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655865-7EF9-D02E-C63F-316BF8CF1A95}"/>
              </a:ext>
            </a:extLst>
          </p:cNvPr>
          <p:cNvSpPr/>
          <p:nvPr/>
        </p:nvSpPr>
        <p:spPr>
          <a:xfrm>
            <a:off x="6834501" y="847036"/>
            <a:ext cx="5357499" cy="5073296"/>
          </a:xfrm>
          <a:prstGeom prst="rect">
            <a:avLst/>
          </a:prstGeom>
          <a:solidFill>
            <a:srgbClr val="F7CCB7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GB" sz="2400">
              <a:solidFill>
                <a:sysClr val="window" lastClr="FFFFFF">
                  <a:lumMod val="95000"/>
                </a:sysClr>
              </a:solidFill>
              <a:latin typeface="Aptos Display" panose="02110004020202020204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1C4544-4832-8A92-2EDF-0CB4D1A1A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245" y="2309698"/>
            <a:ext cx="2753109" cy="19624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74D536-D6EB-C32A-56D0-D2A047854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34501" cy="59203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76F671-0C54-71C8-2822-063F36A0E335}"/>
              </a:ext>
            </a:extLst>
          </p:cNvPr>
          <p:cNvSpPr txBox="1"/>
          <p:nvPr/>
        </p:nvSpPr>
        <p:spPr>
          <a:xfrm>
            <a:off x="6834501" y="420188"/>
            <a:ext cx="5357499" cy="426848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Schimbare</a:t>
            </a:r>
            <a:r>
              <a:rPr lang="en-GB" dirty="0"/>
              <a:t> </a:t>
            </a:r>
            <a:r>
              <a:rPr lang="en-GB" dirty="0" err="1"/>
              <a:t>culoare</a:t>
            </a:r>
            <a:r>
              <a:rPr lang="en-GB" dirty="0"/>
              <a:t> fundal</a:t>
            </a:r>
          </a:p>
        </p:txBody>
      </p:sp>
    </p:spTree>
    <p:extLst>
      <p:ext uri="{BB962C8B-B14F-4D97-AF65-F5344CB8AC3E}">
        <p14:creationId xmlns:p14="http://schemas.microsoft.com/office/powerpoint/2010/main" val="13606282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8888A-1638-B088-959C-1AC8EDC1E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942499CC-CC8D-AE43-F07B-9BBBEB712680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7D3C2-37E7-CD5F-C7BB-DF425C6EC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Validarea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datelor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introduse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1563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B8FA90-1E2B-0920-2D08-C37B457B8B6E}"/>
              </a:ext>
            </a:extLst>
          </p:cNvPr>
          <p:cNvSpPr/>
          <p:nvPr/>
        </p:nvSpPr>
        <p:spPr>
          <a:xfrm>
            <a:off x="6472569" y="966082"/>
            <a:ext cx="5719431" cy="5195181"/>
          </a:xfrm>
          <a:prstGeom prst="rect">
            <a:avLst/>
          </a:prstGeom>
          <a:solidFill>
            <a:srgbClr val="F7CCB7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GB" sz="2400">
              <a:solidFill>
                <a:sysClr val="window" lastClr="FFFFFF">
                  <a:lumMod val="95000"/>
                </a:sysClr>
              </a:solidFill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1DAE5-D4EB-2A07-7EA2-75AF46ADD016}"/>
              </a:ext>
            </a:extLst>
          </p:cNvPr>
          <p:cNvSpPr txBox="1"/>
          <p:nvPr/>
        </p:nvSpPr>
        <p:spPr>
          <a:xfrm>
            <a:off x="6472569" y="539234"/>
            <a:ext cx="5719431" cy="426848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Verificare</a:t>
            </a:r>
            <a:r>
              <a:rPr lang="en-GB" dirty="0"/>
              <a:t> </a:t>
            </a:r>
            <a:r>
              <a:rPr lang="en-GB" dirty="0" err="1"/>
              <a:t>parolă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F06CF4-2BFE-C321-E129-B4E03E797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382" y="2624025"/>
            <a:ext cx="2762636" cy="16099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9DB951-6836-D1F7-DD47-30A887294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72569" cy="616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482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E1B0F-A414-0CE9-B968-D7E7B05C1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5CE47220-3E50-E3B9-C002-BE9ACB57713A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60D0D-4630-B689-FC7F-8A000747C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Citirea fișierelor text cu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afișare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în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GUI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2224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50C38-9292-B593-7CA0-4EB9A0A40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142CEA-1388-E1F7-48BD-8A80C0922CA0}"/>
              </a:ext>
            </a:extLst>
          </p:cNvPr>
          <p:cNvSpPr/>
          <p:nvPr/>
        </p:nvSpPr>
        <p:spPr>
          <a:xfrm>
            <a:off x="0" y="3702032"/>
            <a:ext cx="5139641" cy="3155967"/>
          </a:xfrm>
          <a:prstGeom prst="rect">
            <a:avLst/>
          </a:prstGeom>
          <a:solidFill>
            <a:srgbClr val="F7CCB7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GB" sz="2400">
              <a:solidFill>
                <a:sysClr val="window" lastClr="FFFFFF">
                  <a:lumMod val="95000"/>
                </a:sysClr>
              </a:solidFill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62601E-B0A7-1762-C8B9-751F8136F27B}"/>
              </a:ext>
            </a:extLst>
          </p:cNvPr>
          <p:cNvSpPr txBox="1"/>
          <p:nvPr/>
        </p:nvSpPr>
        <p:spPr>
          <a:xfrm>
            <a:off x="0" y="797324"/>
            <a:ext cx="5742677" cy="447275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Citire </a:t>
            </a:r>
            <a:r>
              <a:rPr lang="en-GB" dirty="0" err="1"/>
              <a:t>fișier</a:t>
            </a:r>
            <a:r>
              <a:rPr lang="en-GB" dirty="0"/>
              <a:t>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E39D3E-4735-A5D8-332F-8144A7B01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34" y="4340670"/>
            <a:ext cx="3700842" cy="19648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1C6BBE-FB7C-4F04-6275-128ECF7AC315}"/>
              </a:ext>
            </a:extLst>
          </p:cNvPr>
          <p:cNvSpPr txBox="1"/>
          <p:nvPr/>
        </p:nvSpPr>
        <p:spPr>
          <a:xfrm>
            <a:off x="0" y="1613191"/>
            <a:ext cx="5742677" cy="2088842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Slice:</a:t>
            </a:r>
          </a:p>
          <a:p>
            <a:r>
              <a:rPr lang="en-GB" dirty="0"/>
              <a:t>text[10:20]   # de la 10 la 20</a:t>
            </a:r>
          </a:p>
          <a:p>
            <a:r>
              <a:rPr lang="en-GB" dirty="0"/>
              <a:t>text[5:]           # de la 5 </a:t>
            </a:r>
            <a:r>
              <a:rPr lang="en-GB" dirty="0" err="1"/>
              <a:t>până</a:t>
            </a:r>
            <a:r>
              <a:rPr lang="en-GB" dirty="0"/>
              <a:t> la final</a:t>
            </a:r>
          </a:p>
          <a:p>
            <a:r>
              <a:rPr lang="en-GB" dirty="0"/>
              <a:t>text[-10:]       # </a:t>
            </a:r>
            <a:r>
              <a:rPr lang="en-GB" dirty="0" err="1"/>
              <a:t>ultimele</a:t>
            </a:r>
            <a:r>
              <a:rPr lang="en-GB" dirty="0"/>
              <a:t> 10 </a:t>
            </a:r>
            <a:r>
              <a:rPr lang="en-GB" dirty="0" err="1"/>
              <a:t>caractere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BED34-A0DB-70EF-BFE3-AE212DC75215}"/>
              </a:ext>
            </a:extLst>
          </p:cNvPr>
          <p:cNvSpPr txBox="1"/>
          <p:nvPr/>
        </p:nvSpPr>
        <p:spPr>
          <a:xfrm>
            <a:off x="5139641" y="5623221"/>
            <a:ext cx="7052360" cy="759247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text[:50] </a:t>
            </a:r>
            <a:r>
              <a:rPr lang="en-GB" dirty="0" err="1"/>
              <a:t>afișează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</a:t>
            </a:r>
            <a:r>
              <a:rPr lang="en-GB" dirty="0" err="1"/>
              <a:t>primele</a:t>
            </a:r>
            <a:r>
              <a:rPr lang="en-GB" dirty="0"/>
              <a:t> 50 </a:t>
            </a:r>
            <a:r>
              <a:rPr lang="en-GB" dirty="0" err="1"/>
              <a:t>caractere</a:t>
            </a:r>
            <a:r>
              <a:rPr lang="en-GB" dirty="0"/>
              <a:t> din </a:t>
            </a:r>
            <a:r>
              <a:rPr lang="en-GB" dirty="0" err="1"/>
              <a:t>fișier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52C76F-3C9C-527C-EE2A-913BFA78F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641" y="0"/>
            <a:ext cx="7052359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220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8B36F-9035-0865-338F-E39F5F86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B3CAA035-BC93-238C-4FB8-72545E6FE3AC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89D8C-0844-31E2-DBFA-FD2390666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Citirea fișierelor text cu afișare în GUI prin cale absolută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6797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B020B-D368-C218-6ADB-FD54930A5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516459F-3692-AF75-95CB-8C0C42FEDAA3}"/>
              </a:ext>
            </a:extLst>
          </p:cNvPr>
          <p:cNvSpPr/>
          <p:nvPr/>
        </p:nvSpPr>
        <p:spPr>
          <a:xfrm>
            <a:off x="0" y="4349750"/>
            <a:ext cx="6469144" cy="2508250"/>
          </a:xfrm>
          <a:prstGeom prst="rect">
            <a:avLst/>
          </a:prstGeom>
          <a:solidFill>
            <a:srgbClr val="F7CCB7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GB" sz="2400">
              <a:solidFill>
                <a:sysClr val="window" lastClr="FFFFFF">
                  <a:lumMod val="95000"/>
                </a:sysClr>
              </a:solidFill>
              <a:latin typeface="Aptos Display" panose="0211000402020202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B26209-DC4C-7AF3-7D0B-C921976B4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69144" cy="4349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50F11D-A982-892D-058A-38A5E484D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4771991"/>
            <a:ext cx="2990850" cy="16067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63CD57-E6AD-EA56-1575-0740C849D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700" y="1698869"/>
            <a:ext cx="3670069" cy="39682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E6797A-CEDF-CCE8-3905-2A5BC1C845FE}"/>
              </a:ext>
            </a:extLst>
          </p:cNvPr>
          <p:cNvSpPr txBox="1"/>
          <p:nvPr/>
        </p:nvSpPr>
        <p:spPr>
          <a:xfrm>
            <a:off x="6826250" y="552189"/>
            <a:ext cx="5365750" cy="426848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Cale </a:t>
            </a:r>
            <a:r>
              <a:rPr lang="en-GB" dirty="0" err="1"/>
              <a:t>absolută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14422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C12BB-FCC6-14DE-5029-377E33E06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9E91D181-BE15-9976-EA33-2E7CCE955AE6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38FCDE-A3F0-C567-554F-59956E56A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Afișarea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conținutului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unui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fișier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într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-un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TextBox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cu scrollbar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272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C8E01-2F5D-786E-4F07-5DF8BE131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7E08DB0-3C24-7F5B-13CB-47BCAC31AEA9}"/>
              </a:ext>
            </a:extLst>
          </p:cNvPr>
          <p:cNvSpPr/>
          <p:nvPr/>
        </p:nvSpPr>
        <p:spPr>
          <a:xfrm>
            <a:off x="5645150" y="-1"/>
            <a:ext cx="6546850" cy="5912985"/>
          </a:xfrm>
          <a:prstGeom prst="rect">
            <a:avLst/>
          </a:prstGeom>
          <a:solidFill>
            <a:srgbClr val="F7CCB7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GB" sz="2400">
              <a:solidFill>
                <a:sysClr val="window" lastClr="FFFFFF">
                  <a:lumMod val="95000"/>
                </a:sysClr>
              </a:solidFill>
              <a:latin typeface="Aptos Display" panose="02110004020202020204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253BDC-B679-B345-5E5D-B21C979F3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45150" cy="59129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25CDB2-F28B-200D-075A-C06E3E9FD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543" y="1354636"/>
            <a:ext cx="4639322" cy="30388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06408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A2DB6-ACC8-080C-22D5-92118BB0D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27751110-F5A7-76D2-E9CF-D7E321017011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790FD4-D086-6654-F6AC-74E1FC836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Reprezentarea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grafică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a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datelor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cu Matplotlib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3476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262430-D11E-A11B-5556-ED7BD7745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48370"/>
            <a:ext cx="5515745" cy="41058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3A723C-FBDF-CD4E-ECB3-D34B16290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8370"/>
            <a:ext cx="5584737" cy="29296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7D9258-035D-DA6F-EA2F-3D11C581D325}"/>
              </a:ext>
            </a:extLst>
          </p:cNvPr>
          <p:cNvSpPr txBox="1"/>
          <p:nvPr/>
        </p:nvSpPr>
        <p:spPr>
          <a:xfrm>
            <a:off x="0" y="672584"/>
            <a:ext cx="12192000" cy="705366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/>
              <a:t>Reprezentarea grafică</a:t>
            </a:r>
            <a:r>
              <a:rPr lang="en-GB" dirty="0"/>
              <a:t> </a:t>
            </a:r>
            <a:r>
              <a:rPr lang="en-GB"/>
              <a:t>a datelor</a:t>
            </a:r>
            <a:r>
              <a:rPr lang="en-GB" dirty="0"/>
              <a:t> cu Matplotlib</a:t>
            </a:r>
          </a:p>
        </p:txBody>
      </p:sp>
    </p:spTree>
    <p:extLst>
      <p:ext uri="{BB962C8B-B14F-4D97-AF65-F5344CB8AC3E}">
        <p14:creationId xmlns:p14="http://schemas.microsoft.com/office/powerpoint/2010/main" val="1866758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39D9C-FA1C-002C-F086-01B5CFF9E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5D911F11-9A11-A06B-F606-2A2546112134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AC29B-65DE-1259-09AF-60F0B8637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pt-BR" sz="7200" dirty="0">
                <a:solidFill>
                  <a:schemeClr val="accent2">
                    <a:lumMod val="75000"/>
                  </a:schemeClr>
                </a:solidFill>
              </a:rPr>
              <a:t>Adăugarea titlului și a etichetelor graficului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9886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19F4B-C956-5034-D0EF-524D7DBEA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00A202-2B55-8BCC-82DD-053D06A60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3052"/>
            <a:ext cx="6658685" cy="37487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BFF345-7705-DE88-2160-62E032C00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627" y="1813052"/>
            <a:ext cx="4904095" cy="37487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65993A-E20C-1F9F-FDBD-2DED89091679}"/>
              </a:ext>
            </a:extLst>
          </p:cNvPr>
          <p:cNvSpPr txBox="1"/>
          <p:nvPr/>
        </p:nvSpPr>
        <p:spPr>
          <a:xfrm>
            <a:off x="0" y="672584"/>
            <a:ext cx="12192000" cy="705366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Reprezentarea</a:t>
            </a:r>
            <a:r>
              <a:rPr lang="en-GB" dirty="0"/>
              <a:t> </a:t>
            </a:r>
            <a:r>
              <a:rPr lang="en-GB" dirty="0" err="1"/>
              <a:t>grafică</a:t>
            </a:r>
            <a:r>
              <a:rPr lang="en-GB" dirty="0"/>
              <a:t> a </a:t>
            </a:r>
            <a:r>
              <a:rPr lang="en-GB" dirty="0" err="1"/>
              <a:t>datelor</a:t>
            </a:r>
            <a:r>
              <a:rPr lang="en-GB" dirty="0"/>
              <a:t> cu Matplotlib</a:t>
            </a:r>
          </a:p>
        </p:txBody>
      </p:sp>
    </p:spTree>
    <p:extLst>
      <p:ext uri="{BB962C8B-B14F-4D97-AF65-F5344CB8AC3E}">
        <p14:creationId xmlns:p14="http://schemas.microsoft.com/office/powerpoint/2010/main" val="16146339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5D2CE-8880-576A-058F-D3135919F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3496AB80-D764-8955-75BF-481122EBC8F9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27F017-9C68-EB96-21FE-DA320CF12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Reprezentarea datelor printr-un grafic cu bare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0138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8A621-3306-1FC7-8860-8A0E4E99F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4A95B4-5945-8D94-9E11-2C12CC4A1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584"/>
            <a:ext cx="5841765" cy="3438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6155D2-CD02-B9D0-FA0B-DB4FE7E86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0" y="2108826"/>
            <a:ext cx="5306227" cy="40038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008D81-B1B4-9AB0-090A-6ADF38E77886}"/>
              </a:ext>
            </a:extLst>
          </p:cNvPr>
          <p:cNvSpPr txBox="1"/>
          <p:nvPr/>
        </p:nvSpPr>
        <p:spPr>
          <a:xfrm>
            <a:off x="6096000" y="672584"/>
            <a:ext cx="6096000" cy="705366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Reprezentarea</a:t>
            </a:r>
            <a:r>
              <a:rPr lang="en-GB" dirty="0"/>
              <a:t> </a:t>
            </a:r>
            <a:r>
              <a:rPr lang="en-GB" dirty="0" err="1"/>
              <a:t>grafică</a:t>
            </a:r>
            <a:r>
              <a:rPr lang="en-GB" dirty="0"/>
              <a:t> a </a:t>
            </a:r>
            <a:r>
              <a:rPr lang="en-GB" dirty="0" err="1"/>
              <a:t>datelor</a:t>
            </a:r>
            <a:r>
              <a:rPr lang="en-GB" dirty="0"/>
              <a:t> cu Matplotlib</a:t>
            </a:r>
          </a:p>
        </p:txBody>
      </p:sp>
    </p:spTree>
    <p:extLst>
      <p:ext uri="{BB962C8B-B14F-4D97-AF65-F5344CB8AC3E}">
        <p14:creationId xmlns:p14="http://schemas.microsoft.com/office/powerpoint/2010/main" val="11656868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BBF84-1132-70EC-E2CC-029F9CD68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9EE5F62B-2C46-DAD6-746C-99E1DC4BF4DA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BA7153-BB3A-12E4-21C0-259318CFC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Reprezentarea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distribuției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datelor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prin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histogramă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5584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4D19B-48CC-EF30-A92A-4D5F13ACC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3EFD97-378F-4B25-E9C7-17CFAAF72834}"/>
              </a:ext>
            </a:extLst>
          </p:cNvPr>
          <p:cNvSpPr txBox="1"/>
          <p:nvPr/>
        </p:nvSpPr>
        <p:spPr>
          <a:xfrm>
            <a:off x="0" y="4554709"/>
            <a:ext cx="6597650" cy="705366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Reprezentarea</a:t>
            </a:r>
            <a:r>
              <a:rPr lang="en-GB" dirty="0"/>
              <a:t> </a:t>
            </a:r>
            <a:r>
              <a:rPr lang="en-GB" dirty="0" err="1"/>
              <a:t>grafică</a:t>
            </a:r>
            <a:r>
              <a:rPr lang="en-GB" dirty="0"/>
              <a:t> a </a:t>
            </a:r>
            <a:r>
              <a:rPr lang="en-GB" dirty="0" err="1"/>
              <a:t>datelor</a:t>
            </a:r>
            <a:r>
              <a:rPr lang="en-GB" dirty="0"/>
              <a:t> cu Matplotlib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C7A8E-79F6-1406-9512-8002FFABF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474112" cy="31659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E0C104-871D-31D8-F2CF-A1C45B151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457" y="2003416"/>
            <a:ext cx="5449060" cy="43440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38381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E50B1-572B-A3A0-6548-9BEAB26E5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5B5AC84B-EF77-DC45-5A47-78CC7FCE600C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ADA8E6-6643-89A9-1F74-AA2673308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Reprezentarea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relației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dintre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variabile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prin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diagramă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de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dispersie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3375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3939B-B420-F058-8FE6-A281BCDAC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FEB45A-086A-1CD8-1144-168C41D1E957}"/>
              </a:ext>
            </a:extLst>
          </p:cNvPr>
          <p:cNvSpPr txBox="1"/>
          <p:nvPr/>
        </p:nvSpPr>
        <p:spPr>
          <a:xfrm>
            <a:off x="0" y="4669009"/>
            <a:ext cx="6358274" cy="705366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Reprezentarea</a:t>
            </a:r>
            <a:r>
              <a:rPr lang="en-GB" dirty="0"/>
              <a:t> </a:t>
            </a:r>
            <a:r>
              <a:rPr lang="en-GB" dirty="0" err="1"/>
              <a:t>grafică</a:t>
            </a:r>
            <a:r>
              <a:rPr lang="en-GB" dirty="0"/>
              <a:t> a </a:t>
            </a:r>
            <a:r>
              <a:rPr lang="en-GB" dirty="0" err="1"/>
              <a:t>datelor</a:t>
            </a:r>
            <a:r>
              <a:rPr lang="en-GB" dirty="0"/>
              <a:t> cu Matplotlib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00BCD4-E3AC-4A9A-25BE-7EBDAC40A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7191611" cy="355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633CF4-D512-AF05-464D-0D31D233D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500" y="2188991"/>
            <a:ext cx="5614200" cy="42992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85653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55C15-0358-B334-9EF8-B6C073424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E40A3014-E11E-9236-8F4A-7C387C3A863F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C9F4EA-1A9B-0062-C410-9440B2BBA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Citirea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și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reprezentarea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grafică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a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datelor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din CSV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5926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F1E00-25BA-83A7-37FE-22E0DC8EF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94366E-A2D2-670B-884C-9ECC7AF1277C}"/>
              </a:ext>
            </a:extLst>
          </p:cNvPr>
          <p:cNvSpPr txBox="1"/>
          <p:nvPr/>
        </p:nvSpPr>
        <p:spPr>
          <a:xfrm>
            <a:off x="596248" y="4564763"/>
            <a:ext cx="4798754" cy="2088842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luna,vanzari</a:t>
            </a:r>
            <a:endParaRPr lang="en-GB" dirty="0"/>
          </a:p>
          <a:p>
            <a:r>
              <a:rPr lang="en-GB" dirty="0"/>
              <a:t>Ian,100</a:t>
            </a:r>
          </a:p>
          <a:p>
            <a:r>
              <a:rPr lang="en-GB" dirty="0"/>
              <a:t>Feb,120</a:t>
            </a:r>
          </a:p>
          <a:p>
            <a:r>
              <a:rPr lang="en-GB" dirty="0"/>
              <a:t>Mar,115</a:t>
            </a:r>
          </a:p>
          <a:p>
            <a:r>
              <a:rPr lang="en-GB" dirty="0"/>
              <a:t>Apr,140</a:t>
            </a:r>
          </a:p>
          <a:p>
            <a:r>
              <a:rPr lang="en-GB" dirty="0"/>
              <a:t>Mai,160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C8043-6EA7-11CD-57B7-4D0F623EBBE6}"/>
              </a:ext>
            </a:extLst>
          </p:cNvPr>
          <p:cNvSpPr txBox="1"/>
          <p:nvPr/>
        </p:nvSpPr>
        <p:spPr>
          <a:xfrm>
            <a:off x="596248" y="3589175"/>
            <a:ext cx="4798754" cy="759247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Date din CSV + line plot</a:t>
            </a:r>
          </a:p>
          <a:p>
            <a:r>
              <a:rPr lang="en-GB" dirty="0"/>
              <a:t>CSV vanzari.csv: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F9D23E-34D3-D7FA-410D-69DE2BABD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47" y="204395"/>
            <a:ext cx="4798754" cy="31684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F7415C-0E73-4EC3-73DC-99B88BEB0D54}"/>
              </a:ext>
            </a:extLst>
          </p:cNvPr>
          <p:cNvSpPr txBox="1"/>
          <p:nvPr/>
        </p:nvSpPr>
        <p:spPr>
          <a:xfrm>
            <a:off x="5395001" y="859824"/>
            <a:ext cx="6796999" cy="759247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Adaptati</a:t>
            </a:r>
            <a:r>
              <a:rPr lang="en-GB" dirty="0"/>
              <a:t> </a:t>
            </a:r>
            <a:r>
              <a:rPr lang="en-GB" dirty="0" err="1"/>
              <a:t>calea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55FB3B-74B2-6E41-51BE-DE4EBA732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550" y="2207714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966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BB969-748D-D082-1168-AEC5E9ABE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941F2EBF-B1D2-21AF-126D-2EC9900C47A5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198EC9-6262-0272-F041-BA7CBD79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Integrarea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graficelor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Matplotlib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</a:rPr>
              <a:t>în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 GUI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2776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8BF5E-4CD8-DEA6-14D9-F7B9B22C3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29FDD3-B774-F125-968A-D21F83B95487}"/>
              </a:ext>
            </a:extLst>
          </p:cNvPr>
          <p:cNvSpPr/>
          <p:nvPr/>
        </p:nvSpPr>
        <p:spPr>
          <a:xfrm>
            <a:off x="0" y="0"/>
            <a:ext cx="7232650" cy="6858000"/>
          </a:xfrm>
          <a:prstGeom prst="rect">
            <a:avLst/>
          </a:prstGeom>
          <a:solidFill>
            <a:srgbClr val="1213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102D40-169A-11FB-3AA6-2EB761CDC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02" y="207390"/>
            <a:ext cx="5525158" cy="35967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9F40AD-2FE3-B453-5EB4-5937A2379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02" y="3804124"/>
            <a:ext cx="6096001" cy="26825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716331-D43A-6B4E-78CB-31A11EE49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129" y="132421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04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A27D2-13DE-B0E5-7448-3040678B4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7EE2BE08-9F3E-82F2-3B26-53320B8DCF46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427E3-5E5B-C554-3D44-A390BB990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Validarea datelor introduse și tratarea erorilor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4423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5A3F7-F79D-49C8-34CE-2E578D490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4B9A7C-B581-B4B0-BED9-6E566BDC7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31378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18105B-702A-E1D2-7977-F5D9D414C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0" y="137501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0387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D436C-1768-8E26-98EB-9BD495141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482954DF-5B62-00CD-8410-D760D5F2D9CD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2CCFE-BD84-A882-79E2-A364D5A7A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Procesarea fișierelor CSV mari în bucăți</a:t>
            </a:r>
          </a:p>
        </p:txBody>
      </p:sp>
    </p:spTree>
    <p:extLst>
      <p:ext uri="{BB962C8B-B14F-4D97-AF65-F5344CB8AC3E}">
        <p14:creationId xmlns:p14="http://schemas.microsoft.com/office/powerpoint/2010/main" val="33025088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BDFEE-04C0-969A-18FF-575AF5FAE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4CB4E1-6B54-1C2E-1372-408414531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873"/>
            <a:ext cx="7264400" cy="33689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F9223E-B6C8-7253-F9FA-FE997029481F}"/>
              </a:ext>
            </a:extLst>
          </p:cNvPr>
          <p:cNvSpPr txBox="1"/>
          <p:nvPr/>
        </p:nvSpPr>
        <p:spPr>
          <a:xfrm>
            <a:off x="0" y="5092184"/>
            <a:ext cx="7264400" cy="426848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Procesarea </a:t>
            </a:r>
            <a:r>
              <a:rPr lang="en-GB" dirty="0" err="1"/>
              <a:t>fișierelor</a:t>
            </a:r>
            <a:r>
              <a:rPr lang="en-GB" dirty="0"/>
              <a:t> CSV </a:t>
            </a:r>
            <a:r>
              <a:rPr lang="en-GB" dirty="0" err="1"/>
              <a:t>mari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bucăți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0BA5A7-E647-D9FD-FC75-691D93593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0" y="160996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8642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AC71C-F335-E309-69F1-4993F12F7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15B6321C-3889-0E03-375F-F2955D35DD4F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121228-BF42-516B-1972-D453B0ACC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Verificare date lipsă și duplicate</a:t>
            </a:r>
          </a:p>
        </p:txBody>
      </p:sp>
    </p:spTree>
    <p:extLst>
      <p:ext uri="{BB962C8B-B14F-4D97-AF65-F5344CB8AC3E}">
        <p14:creationId xmlns:p14="http://schemas.microsoft.com/office/powerpoint/2010/main" val="20889144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918AE-518C-AA83-1CEE-5DFC5001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9BD8C3-A024-4843-55BE-B3C049F30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45170" cy="68399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1F43E6-7E60-B309-406F-D0F6AC6E8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5170" y="157186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9284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7D60A-781F-1BD1-EDFB-F346CECAE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5D4BC53C-3D06-7A63-AEA5-E79616CEB230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C664EC-CED3-7D08-8050-FBFBF333A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Exemplu naiv de «criptare»: ROT13</a:t>
            </a:r>
          </a:p>
        </p:txBody>
      </p:sp>
    </p:spTree>
    <p:extLst>
      <p:ext uri="{BB962C8B-B14F-4D97-AF65-F5344CB8AC3E}">
        <p14:creationId xmlns:p14="http://schemas.microsoft.com/office/powerpoint/2010/main" val="31652000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A0138B3-7671-7198-57C0-E76C0BFAED02}"/>
              </a:ext>
            </a:extLst>
          </p:cNvPr>
          <p:cNvSpPr/>
          <p:nvPr/>
        </p:nvSpPr>
        <p:spPr>
          <a:xfrm>
            <a:off x="0" y="1873250"/>
            <a:ext cx="7416800" cy="327025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7F259-5EA8-FC15-7944-6CD3F192F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308" y="2275603"/>
            <a:ext cx="3286584" cy="1600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21C91A-E2E6-46F2-2873-436B44805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255" y="4278379"/>
            <a:ext cx="3324689" cy="3143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AAC697-BAE9-4D96-E2C3-0AE60ABC0F87}"/>
              </a:ext>
            </a:extLst>
          </p:cNvPr>
          <p:cNvSpPr txBox="1"/>
          <p:nvPr/>
        </p:nvSpPr>
        <p:spPr>
          <a:xfrm>
            <a:off x="0" y="946886"/>
            <a:ext cx="7416800" cy="426848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Exemplu </a:t>
            </a:r>
            <a:r>
              <a:rPr lang="en-GB" dirty="0" err="1"/>
              <a:t>naiv</a:t>
            </a:r>
            <a:r>
              <a:rPr lang="en-GB" dirty="0"/>
              <a:t> de </a:t>
            </a:r>
            <a:r>
              <a:rPr lang="en-GB" dirty="0" err="1"/>
              <a:t>criptare</a:t>
            </a:r>
            <a:r>
              <a:rPr lang="en-GB" dirty="0"/>
              <a:t>: ROT13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1FCFEF-B86F-0771-8B41-917532026219}"/>
              </a:ext>
            </a:extLst>
          </p:cNvPr>
          <p:cNvSpPr txBox="1"/>
          <p:nvPr/>
        </p:nvSpPr>
        <p:spPr>
          <a:xfrm>
            <a:off x="0" y="5823242"/>
            <a:ext cx="12192000" cy="426848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pt-BR" dirty="0"/>
              <a:t>Tehnic, ROT13 este o metodă de codificare, nu o criptare reală.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96FEE5-DE81-7D4D-AA15-28E17EC20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091684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5309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94B4E-8F63-6DB9-A6CD-FCD509057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8299CD39-7BB5-3E28-10B3-92765F4141DE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D51C10-F2D3-47C2-6A96-2767A5C4F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s-ES" sz="7200" dirty="0">
                <a:solidFill>
                  <a:schemeClr val="accent2">
                    <a:lumMod val="75000"/>
                  </a:schemeClr>
                </a:solidFill>
              </a:rPr>
              <a:t>Criptarea </a:t>
            </a:r>
            <a:r>
              <a:rPr lang="es-ES" sz="7200" dirty="0" err="1">
                <a:solidFill>
                  <a:schemeClr val="accent2">
                    <a:lumMod val="75000"/>
                  </a:schemeClr>
                </a:solidFill>
              </a:rPr>
              <a:t>mesajelor</a:t>
            </a:r>
            <a:r>
              <a:rPr lang="es-E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ES" sz="7200" dirty="0" err="1">
                <a:solidFill>
                  <a:schemeClr val="accent2">
                    <a:lumMod val="75000"/>
                  </a:schemeClr>
                </a:solidFill>
              </a:rPr>
              <a:t>client</a:t>
            </a:r>
            <a:r>
              <a:rPr lang="es-ES" sz="7200" dirty="0">
                <a:solidFill>
                  <a:schemeClr val="accent2">
                    <a:lumMod val="75000"/>
                  </a:schemeClr>
                </a:solidFill>
              </a:rPr>
              <a:t>-server </a:t>
            </a:r>
            <a:r>
              <a:rPr lang="es-ES" sz="7200" dirty="0" err="1">
                <a:solidFill>
                  <a:schemeClr val="accent2">
                    <a:lumMod val="75000"/>
                  </a:schemeClr>
                </a:solidFill>
              </a:rPr>
              <a:t>cu</a:t>
            </a:r>
            <a:r>
              <a:rPr lang="es-ES" sz="7200" dirty="0">
                <a:solidFill>
                  <a:schemeClr val="accent2">
                    <a:lumMod val="75000"/>
                  </a:schemeClr>
                </a:solidFill>
              </a:rPr>
              <a:t> XOR</a:t>
            </a:r>
            <a:endParaRPr lang="it-IT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3599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D567A8-45CC-D42D-F6BE-6EB1AF895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29" y="2885987"/>
            <a:ext cx="6130686" cy="35262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80607A-69F9-75E7-107A-294FD1292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429" y="2885987"/>
            <a:ext cx="4809042" cy="35262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8A293F-6C14-88CE-7044-FD01FC3A01A9}"/>
              </a:ext>
            </a:extLst>
          </p:cNvPr>
          <p:cNvSpPr txBox="1"/>
          <p:nvPr/>
        </p:nvSpPr>
        <p:spPr>
          <a:xfrm>
            <a:off x="0" y="1035050"/>
            <a:ext cx="12192000" cy="623182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codare</a:t>
            </a:r>
            <a:r>
              <a:rPr lang="en-GB" dirty="0"/>
              <a:t>/</a:t>
            </a:r>
            <a:r>
              <a:rPr lang="en-GB" dirty="0" err="1"/>
              <a:t>decodare</a:t>
            </a:r>
            <a:r>
              <a:rPr lang="en-GB" dirty="0"/>
              <a:t> XOR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DB2D08-2D5D-D31D-898C-8AFDA0D89D74}"/>
              </a:ext>
            </a:extLst>
          </p:cNvPr>
          <p:cNvSpPr txBox="1"/>
          <p:nvPr/>
        </p:nvSpPr>
        <p:spPr>
          <a:xfrm>
            <a:off x="453529" y="2262805"/>
            <a:ext cx="6130686" cy="623182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Client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24DA0-09D5-F3D4-DDE4-87E08907C0B4}"/>
              </a:ext>
            </a:extLst>
          </p:cNvPr>
          <p:cNvSpPr txBox="1"/>
          <p:nvPr/>
        </p:nvSpPr>
        <p:spPr>
          <a:xfrm>
            <a:off x="6929429" y="2262805"/>
            <a:ext cx="4809042" cy="623182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Server</a:t>
            </a:r>
          </a:p>
        </p:txBody>
      </p:sp>
    </p:spTree>
    <p:extLst>
      <p:ext uri="{BB962C8B-B14F-4D97-AF65-F5344CB8AC3E}">
        <p14:creationId xmlns:p14="http://schemas.microsoft.com/office/powerpoint/2010/main" val="3325016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4548A-D0AB-F602-86B0-B71027E1F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F21F837F-BD94-ECAC-94DD-932C6CE06A1C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CECCA4-A6D4-A6D1-8534-A9F4353AC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s-ES" sz="7200" dirty="0" err="1">
                <a:solidFill>
                  <a:schemeClr val="accent2">
                    <a:lumMod val="75000"/>
                  </a:schemeClr>
                </a:solidFill>
              </a:rPr>
              <a:t>Generarea</a:t>
            </a:r>
            <a:r>
              <a:rPr lang="es-E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ES" sz="7200" dirty="0" err="1">
                <a:solidFill>
                  <a:schemeClr val="accent2">
                    <a:lumMod val="75000"/>
                  </a:schemeClr>
                </a:solidFill>
              </a:rPr>
              <a:t>executabilelor</a:t>
            </a:r>
            <a:r>
              <a:rPr lang="es-E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ES" sz="7200" dirty="0" err="1">
                <a:solidFill>
                  <a:schemeClr val="accent2">
                    <a:lumMod val="75000"/>
                  </a:schemeClr>
                </a:solidFill>
              </a:rPr>
              <a:t>și</a:t>
            </a:r>
            <a:r>
              <a:rPr lang="es-E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ES" sz="7200" dirty="0" err="1">
                <a:solidFill>
                  <a:schemeClr val="accent2">
                    <a:lumMod val="75000"/>
                  </a:schemeClr>
                </a:solidFill>
              </a:rPr>
              <a:t>configurarea</a:t>
            </a:r>
            <a:r>
              <a:rPr lang="es-ES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br>
              <a:rPr lang="es-ES" sz="7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s-ES" sz="7200" dirty="0" err="1">
                <a:solidFill>
                  <a:schemeClr val="accent2">
                    <a:lumMod val="75000"/>
                  </a:schemeClr>
                </a:solidFill>
              </a:rPr>
              <a:t>client</a:t>
            </a:r>
            <a:r>
              <a:rPr lang="es-ES" sz="7200" dirty="0">
                <a:solidFill>
                  <a:schemeClr val="accent2">
                    <a:lumMod val="75000"/>
                  </a:schemeClr>
                </a:solidFill>
              </a:rPr>
              <a:t>–server</a:t>
            </a:r>
            <a:endParaRPr lang="it-IT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6086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7AA8-E053-8473-925F-DD6B1094B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3D7641A7-0A09-8830-597B-0FC51FB3CD9F}"/>
              </a:ext>
            </a:extLst>
          </p:cNvPr>
          <p:cNvSpPr/>
          <p:nvPr/>
        </p:nvSpPr>
        <p:spPr>
          <a:xfrm>
            <a:off x="416724" y="4855606"/>
            <a:ext cx="3990176" cy="1923020"/>
          </a:xfrm>
          <a:prstGeom prst="round2DiagRect">
            <a:avLst>
              <a:gd name="adj1" fmla="val 2546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571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84296A0E-FB83-A01E-8447-73D5F02BFED9}"/>
              </a:ext>
            </a:extLst>
          </p:cNvPr>
          <p:cNvSpPr/>
          <p:nvPr/>
        </p:nvSpPr>
        <p:spPr>
          <a:xfrm>
            <a:off x="7327900" y="2811265"/>
            <a:ext cx="4318000" cy="2079666"/>
          </a:xfrm>
          <a:prstGeom prst="round2DiagRect">
            <a:avLst>
              <a:gd name="adj1" fmla="val 2546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571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1D79D-2A1D-1D6B-A4BF-61E8156E63DA}"/>
              </a:ext>
            </a:extLst>
          </p:cNvPr>
          <p:cNvSpPr txBox="1"/>
          <p:nvPr/>
        </p:nvSpPr>
        <p:spPr>
          <a:xfrm>
            <a:off x="546100" y="554777"/>
            <a:ext cx="6096000" cy="426848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pip install pyinstaller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B2C883-3A9E-2388-E1E6-072E7EEB85C8}"/>
              </a:ext>
            </a:extLst>
          </p:cNvPr>
          <p:cNvSpPr txBox="1"/>
          <p:nvPr/>
        </p:nvSpPr>
        <p:spPr>
          <a:xfrm>
            <a:off x="546100" y="1305557"/>
            <a:ext cx="6096000" cy="759247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pyinstaller</a:t>
            </a:r>
            <a:r>
              <a:rPr lang="en-GB" dirty="0"/>
              <a:t> --</a:t>
            </a:r>
            <a:r>
              <a:rPr lang="en-GB" dirty="0" err="1"/>
              <a:t>onefile</a:t>
            </a:r>
            <a:r>
              <a:rPr lang="en-GB" dirty="0"/>
              <a:t> server.py</a:t>
            </a:r>
          </a:p>
          <a:p>
            <a:r>
              <a:rPr lang="en-GB" dirty="0" err="1"/>
              <a:t>pyinstaller</a:t>
            </a:r>
            <a:r>
              <a:rPr lang="en-GB" dirty="0"/>
              <a:t> --</a:t>
            </a:r>
            <a:r>
              <a:rPr lang="en-GB" dirty="0" err="1"/>
              <a:t>onefile</a:t>
            </a:r>
            <a:r>
              <a:rPr lang="en-GB" dirty="0"/>
              <a:t> client.py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7C3D58-FE4A-BA66-38FA-B24B78D42CB7}"/>
              </a:ext>
            </a:extLst>
          </p:cNvPr>
          <p:cNvSpPr txBox="1"/>
          <p:nvPr/>
        </p:nvSpPr>
        <p:spPr>
          <a:xfrm>
            <a:off x="7353672" y="2811265"/>
            <a:ext cx="1682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 err="1"/>
              <a:t>Apare</a:t>
            </a:r>
            <a:r>
              <a:rPr lang="en-GB" dirty="0"/>
              <a:t> </a:t>
            </a:r>
            <a:r>
              <a:rPr lang="en-GB" dirty="0" err="1"/>
              <a:t>folderul</a:t>
            </a:r>
            <a:r>
              <a:rPr lang="en-GB" dirty="0"/>
              <a:t>:</a:t>
            </a:r>
          </a:p>
          <a:p>
            <a:pPr rtl="0">
              <a:buNone/>
            </a:pPr>
            <a:r>
              <a:rPr lang="en-GB" dirty="0" err="1">
                <a:latin typeface="Courier New" panose="02070309020205020404" pitchFamily="49" charset="0"/>
              </a:rPr>
              <a:t>dist</a:t>
            </a:r>
            <a:r>
              <a:rPr lang="en-GB" dirty="0">
                <a:latin typeface="Courier New" panose="02070309020205020404" pitchFamily="49" charset="0"/>
              </a:rPr>
              <a:t>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BBEF00-AE7E-025B-080B-9C24FD1AFF8B}"/>
              </a:ext>
            </a:extLst>
          </p:cNvPr>
          <p:cNvSpPr txBox="1"/>
          <p:nvPr/>
        </p:nvSpPr>
        <p:spPr>
          <a:xfrm>
            <a:off x="641350" y="49527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s.connect</a:t>
            </a:r>
            <a:r>
              <a:rPr lang="en-GB" dirty="0"/>
              <a:t>(("192.168.1.50", 5000))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7C4EEB-9BE6-5E51-AB9A-29E2EB9A10C3}"/>
              </a:ext>
            </a:extLst>
          </p:cNvPr>
          <p:cNvSpPr txBox="1"/>
          <p:nvPr/>
        </p:nvSpPr>
        <p:spPr>
          <a:xfrm>
            <a:off x="0" y="3911693"/>
            <a:ext cx="6642100" cy="759247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defRPr sz="240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Dacă</a:t>
            </a:r>
            <a:r>
              <a:rPr lang="en-GB" dirty="0"/>
              <a:t> sunt pe </a:t>
            </a:r>
            <a:r>
              <a:rPr lang="en-GB" dirty="0" err="1"/>
              <a:t>două</a:t>
            </a:r>
            <a:r>
              <a:rPr lang="en-GB" dirty="0"/>
              <a:t> </a:t>
            </a:r>
            <a:r>
              <a:rPr lang="en-GB" dirty="0" err="1"/>
              <a:t>calculatoare:clientul</a:t>
            </a:r>
            <a:r>
              <a:rPr lang="en-GB" dirty="0"/>
              <a:t> </a:t>
            </a:r>
            <a:r>
              <a:rPr lang="en-GB" dirty="0" err="1"/>
              <a:t>trebuie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știe</a:t>
            </a:r>
            <a:r>
              <a:rPr lang="en-GB" dirty="0"/>
              <a:t> IP-ul </a:t>
            </a:r>
            <a:r>
              <a:rPr lang="en-GB" dirty="0" err="1"/>
              <a:t>serverului</a:t>
            </a:r>
            <a:r>
              <a:rPr lang="en-GB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CD4D89-0B08-44EE-5E5B-2352DEA01D3F}"/>
              </a:ext>
            </a:extLst>
          </p:cNvPr>
          <p:cNvSpPr txBox="1"/>
          <p:nvPr/>
        </p:nvSpPr>
        <p:spPr>
          <a:xfrm>
            <a:off x="546100" y="2388044"/>
            <a:ext cx="6096000" cy="759247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pyinstaller</a:t>
            </a:r>
            <a:r>
              <a:rPr lang="en-GB" dirty="0"/>
              <a:t> --</a:t>
            </a:r>
            <a:r>
              <a:rPr lang="en-GB" dirty="0" err="1"/>
              <a:t>onefile</a:t>
            </a:r>
            <a:r>
              <a:rPr lang="en-GB" dirty="0"/>
              <a:t> "C:\Users\Paul\Desktop\server.py"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EBFF896-BAFF-2868-F4BC-187935AA0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672" y="554777"/>
            <a:ext cx="4292228" cy="21410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08FF381-233A-F4F5-1031-5CD21DFDFA6D}"/>
              </a:ext>
            </a:extLst>
          </p:cNvPr>
          <p:cNvSpPr/>
          <p:nvPr/>
        </p:nvSpPr>
        <p:spPr>
          <a:xfrm>
            <a:off x="0" y="3547945"/>
            <a:ext cx="6642100" cy="118063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GB" sz="2400">
              <a:solidFill>
                <a:sysClr val="window" lastClr="FFFFFF">
                  <a:lumMod val="95000"/>
                </a:sysClr>
              </a:solidFill>
              <a:latin typeface="Aptos Display" panose="02110004020202020204"/>
              <a:ea typeface="+mj-ea"/>
              <a:cs typeface="+mj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2344639-C317-8D95-A0CA-2CB47B979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493" y="5070724"/>
            <a:ext cx="6739726" cy="15740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35BAD02-FDA3-3333-C5BC-2B874D1E2E42}"/>
              </a:ext>
            </a:extLst>
          </p:cNvPr>
          <p:cNvSpPr txBox="1"/>
          <p:nvPr/>
        </p:nvSpPr>
        <p:spPr>
          <a:xfrm>
            <a:off x="7356716" y="4486274"/>
            <a:ext cx="4235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Daca </a:t>
            </a:r>
            <a:r>
              <a:rPr lang="en-GB" dirty="0" err="1"/>
              <a:t>portul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deja</a:t>
            </a:r>
            <a:r>
              <a:rPr lang="en-GB" dirty="0"/>
              <a:t> </a:t>
            </a:r>
            <a:r>
              <a:rPr lang="en-GB" dirty="0" err="1"/>
              <a:t>deschis</a:t>
            </a:r>
            <a:r>
              <a:rPr lang="en-GB" dirty="0"/>
              <a:t>:</a:t>
            </a:r>
            <a:endParaRPr lang="en-GB" dirty="0">
              <a:latin typeface="Courier New" panose="02070309020205020404" pitchFamily="49" charset="0"/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4DB6BDB6-5B7E-9FA0-3A19-739A821BA03B}"/>
              </a:ext>
            </a:extLst>
          </p:cNvPr>
          <p:cNvSpPr/>
          <p:nvPr/>
        </p:nvSpPr>
        <p:spPr>
          <a:xfrm>
            <a:off x="7537450" y="3573081"/>
            <a:ext cx="374650" cy="718235"/>
          </a:xfrm>
          <a:prstGeom prst="downArrow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GB" sz="2400">
              <a:solidFill>
                <a:sysClr val="window" lastClr="FFFFFF">
                  <a:lumMod val="95000"/>
                </a:sysClr>
              </a:solidFill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88E5DB-AE4B-D7A3-A8D6-D8C421D110EF}"/>
              </a:ext>
            </a:extLst>
          </p:cNvPr>
          <p:cNvSpPr txBox="1"/>
          <p:nvPr/>
        </p:nvSpPr>
        <p:spPr>
          <a:xfrm>
            <a:off x="8597900" y="3293319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netstat -</a:t>
            </a:r>
            <a:r>
              <a:rPr lang="en-GB" dirty="0" err="1"/>
              <a:t>ano</a:t>
            </a:r>
            <a:r>
              <a:rPr lang="en-GB" dirty="0"/>
              <a:t> | </a:t>
            </a:r>
            <a:r>
              <a:rPr lang="en-GB" dirty="0" err="1"/>
              <a:t>findstr</a:t>
            </a:r>
            <a:r>
              <a:rPr lang="en-GB" dirty="0"/>
              <a:t> :5000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D4346C-F306-725E-CB2F-B2B3763C1977}"/>
              </a:ext>
            </a:extLst>
          </p:cNvPr>
          <p:cNvSpPr txBox="1"/>
          <p:nvPr/>
        </p:nvSpPr>
        <p:spPr>
          <a:xfrm>
            <a:off x="8597900" y="3623527"/>
            <a:ext cx="296545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a = </a:t>
            </a:r>
            <a:r>
              <a:rPr lang="en-GB" sz="1100" dirty="0" err="1"/>
              <a:t>arată</a:t>
            </a:r>
            <a:r>
              <a:rPr lang="en-GB" sz="1100" dirty="0"/>
              <a:t> </a:t>
            </a:r>
            <a:r>
              <a:rPr lang="en-GB" sz="1100" dirty="0" err="1"/>
              <a:t>toate</a:t>
            </a:r>
            <a:r>
              <a:rPr lang="en-GB" sz="1100" dirty="0"/>
              <a:t> </a:t>
            </a:r>
            <a:r>
              <a:rPr lang="en-GB" sz="1100" dirty="0" err="1"/>
              <a:t>conexiunile</a:t>
            </a:r>
            <a:r>
              <a:rPr lang="en-GB" sz="1100" dirty="0"/>
              <a:t> </a:t>
            </a:r>
            <a:r>
              <a:rPr lang="en-GB" sz="1100" dirty="0" err="1"/>
              <a:t>și</a:t>
            </a:r>
            <a:r>
              <a:rPr lang="en-GB" sz="1100" dirty="0"/>
              <a:t> </a:t>
            </a:r>
            <a:r>
              <a:rPr lang="en-GB" sz="1100" dirty="0" err="1"/>
              <a:t>porturile</a:t>
            </a:r>
            <a:endParaRPr lang="en-GB" sz="1100" dirty="0"/>
          </a:p>
          <a:p>
            <a:r>
              <a:rPr lang="en-GB" sz="1100" dirty="0"/>
              <a:t>n = </a:t>
            </a:r>
            <a:r>
              <a:rPr lang="en-GB" sz="1100" dirty="0" err="1"/>
              <a:t>afișează</a:t>
            </a:r>
            <a:r>
              <a:rPr lang="en-GB" sz="1100" dirty="0"/>
              <a:t> numeric IP-ul </a:t>
            </a:r>
            <a:r>
              <a:rPr lang="en-GB" sz="1100" dirty="0" err="1"/>
              <a:t>și</a:t>
            </a:r>
            <a:r>
              <a:rPr lang="en-GB" sz="1100" dirty="0"/>
              <a:t> </a:t>
            </a:r>
            <a:r>
              <a:rPr lang="en-GB" sz="1100" dirty="0" err="1"/>
              <a:t>portul</a:t>
            </a:r>
            <a:endParaRPr lang="en-GB" sz="1100" dirty="0"/>
          </a:p>
          <a:p>
            <a:r>
              <a:rPr lang="en-GB" sz="1100" dirty="0"/>
              <a:t>o = </a:t>
            </a:r>
            <a:r>
              <a:rPr lang="en-GB" sz="1100" dirty="0" err="1"/>
              <a:t>arată</a:t>
            </a:r>
            <a:r>
              <a:rPr lang="en-GB" sz="1100" dirty="0"/>
              <a:t> PID-ul </a:t>
            </a:r>
            <a:r>
              <a:rPr lang="en-GB" sz="1100" dirty="0" err="1"/>
              <a:t>procesului</a:t>
            </a:r>
            <a:endParaRPr lang="en-GB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B4D98E-B216-60AA-5A71-7AFE29DAC887}"/>
              </a:ext>
            </a:extLst>
          </p:cNvPr>
          <p:cNvSpPr txBox="1"/>
          <p:nvPr/>
        </p:nvSpPr>
        <p:spPr>
          <a:xfrm>
            <a:off x="1994730" y="6321061"/>
            <a:ext cx="1352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ipconfig</a:t>
            </a: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D8174820-73D5-CE8D-0EC9-61B56067BCB0}"/>
              </a:ext>
            </a:extLst>
          </p:cNvPr>
          <p:cNvSpPr/>
          <p:nvPr/>
        </p:nvSpPr>
        <p:spPr>
          <a:xfrm flipV="1">
            <a:off x="2296355" y="5420481"/>
            <a:ext cx="374650" cy="815735"/>
          </a:xfrm>
          <a:prstGeom prst="downArrow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GB" sz="2400">
              <a:solidFill>
                <a:sysClr val="window" lastClr="FFFFFF">
                  <a:lumMod val="95000"/>
                </a:sysClr>
              </a:solidFill>
              <a:latin typeface="Aptos Display" panose="021100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3514789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E6255-AE81-AA4B-4679-321FD7FA4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334E5F-2A28-D793-F23F-48AB475A6A2D}"/>
              </a:ext>
            </a:extLst>
          </p:cNvPr>
          <p:cNvSpPr/>
          <p:nvPr/>
        </p:nvSpPr>
        <p:spPr>
          <a:xfrm>
            <a:off x="0" y="-1784"/>
            <a:ext cx="12192000" cy="1554416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A0A03A9D-DC2E-9F0B-177F-E9EBF8E1D0F4}"/>
              </a:ext>
            </a:extLst>
          </p:cNvPr>
          <p:cNvSpPr/>
          <p:nvPr/>
        </p:nvSpPr>
        <p:spPr>
          <a:xfrm>
            <a:off x="5397500" y="1928614"/>
            <a:ext cx="6356350" cy="4542035"/>
          </a:xfrm>
          <a:prstGeom prst="round2DiagRect">
            <a:avLst>
              <a:gd name="adj1" fmla="val 2546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571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777375-FEE4-EFA9-250C-121360C6C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61" y="309167"/>
            <a:ext cx="6535062" cy="10955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28078A-3CB5-5E45-1A77-6B3F7ADD0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199" y="2204904"/>
            <a:ext cx="4486901" cy="19147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194AF7-77D8-C176-E94A-E18F81676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199" y="4567314"/>
            <a:ext cx="5697761" cy="15413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B8694D-E773-011D-8145-BA661997E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65300"/>
            <a:ext cx="4893204" cy="5092700"/>
          </a:xfrm>
          <a:prstGeom prst="rect">
            <a:avLst/>
          </a:prstGeom>
        </p:spPr>
      </p:pic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6D352A18-1285-8FA8-3C58-87BEDB9D1A4B}"/>
              </a:ext>
            </a:extLst>
          </p:cNvPr>
          <p:cNvSpPr/>
          <p:nvPr/>
        </p:nvSpPr>
        <p:spPr>
          <a:xfrm>
            <a:off x="298450" y="6642100"/>
            <a:ext cx="1244600" cy="215900"/>
          </a:xfrm>
          <a:prstGeom prst="round2DiagRect">
            <a:avLst>
              <a:gd name="adj1" fmla="val 2546"/>
              <a:gd name="adj2" fmla="val 0"/>
            </a:avLst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1188160B-0951-7E9E-E6EE-4759A6B11CC4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1543050" y="2724150"/>
            <a:ext cx="971550" cy="4025900"/>
          </a:xfrm>
          <a:prstGeom prst="curvedConnector2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064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1C70-C074-BE4C-2CC2-817B81821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3DF85873-A68E-87E9-F9B0-D4690A5C42E1}"/>
              </a:ext>
            </a:extLst>
          </p:cNvPr>
          <p:cNvSpPr/>
          <p:nvPr/>
        </p:nvSpPr>
        <p:spPr>
          <a:xfrm>
            <a:off x="374650" y="976763"/>
            <a:ext cx="7791450" cy="4649337"/>
          </a:xfrm>
          <a:prstGeom prst="round2DiagRect">
            <a:avLst>
              <a:gd name="adj1" fmla="val 2546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571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98064F-4071-A175-0680-E979E4A71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32" y="2169903"/>
            <a:ext cx="7068536" cy="30007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BBC90D-B39F-983E-1F9F-66EFD772BCA7}"/>
              </a:ext>
            </a:extLst>
          </p:cNvPr>
          <p:cNvSpPr txBox="1"/>
          <p:nvPr/>
        </p:nvSpPr>
        <p:spPr>
          <a:xfrm>
            <a:off x="732932" y="1396484"/>
            <a:ext cx="7068536" cy="426848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defRPr sz="240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Asteapta</a:t>
            </a:r>
            <a:r>
              <a:rPr lang="en-GB" dirty="0"/>
              <a:t> </a:t>
            </a:r>
            <a:r>
              <a:rPr lang="en-GB" dirty="0" err="1"/>
              <a:t>conexiunea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0DD048-DFA6-9AC4-9E3A-AB6380F21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350" y="1257300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144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45CF7-1C91-8859-1C1C-5BA0A39F4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07F115-27D4-6409-4402-BE5AE6167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650" y="2018509"/>
            <a:ext cx="3670069" cy="3968262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34E66020-5D37-54F4-5532-A744C8C185B9}"/>
              </a:ext>
            </a:extLst>
          </p:cNvPr>
          <p:cNvSpPr/>
          <p:nvPr/>
        </p:nvSpPr>
        <p:spPr>
          <a:xfrm>
            <a:off x="3807181" y="1160913"/>
            <a:ext cx="2392659" cy="893518"/>
          </a:xfrm>
          <a:prstGeom prst="wedgeRoundRectCallout">
            <a:avLst>
              <a:gd name="adj1" fmla="val 47328"/>
              <a:gd name="adj2" fmla="val 113468"/>
              <a:gd name="adj3" fmla="val 1666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Ză end!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3365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</TotalTime>
  <Words>1088</Words>
  <Application>Microsoft Office PowerPoint</Application>
  <PresentationFormat>Widescreen</PresentationFormat>
  <Paragraphs>173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6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Python aplicat: fișiere, date și interfețe grafice</vt:lpstr>
      <vt:lpstr>Cuprins</vt:lpstr>
      <vt:lpstr>Plan!</vt:lpstr>
      <vt:lpstr>Citire fișier TXT și extragere linii după etichetă</vt:lpstr>
      <vt:lpstr>TXT Example</vt:lpstr>
      <vt:lpstr>TXT Code Example</vt:lpstr>
      <vt:lpstr>PowerPoint Presentation</vt:lpstr>
      <vt:lpstr>Citire CSV: filtrare și calcule pe angajați</vt:lpstr>
      <vt:lpstr>CSV</vt:lpstr>
      <vt:lpstr>PowerPoint Presentation</vt:lpstr>
      <vt:lpstr>PowerPoint Presentation</vt:lpstr>
      <vt:lpstr>Scriere JSON</vt:lpstr>
      <vt:lpstr>PowerPoint Presentation</vt:lpstr>
      <vt:lpstr>Citire JSON</vt:lpstr>
      <vt:lpstr>PowerPoint Presentation</vt:lpstr>
      <vt:lpstr>Exemplu combinat (JSON + procesare)</vt:lpstr>
      <vt:lpstr>PowerPoint Presentation</vt:lpstr>
      <vt:lpstr>Excel  citire, scriere, manipulare</vt:lpstr>
      <vt:lpstr>PowerPoint Presentation</vt:lpstr>
      <vt:lpstr>Generare date  random + fișiere mari</vt:lpstr>
      <vt:lpstr>PowerPoint Presentation</vt:lpstr>
      <vt:lpstr>Procesare fără a încărca tot în memorie</vt:lpstr>
      <vt:lpstr>PowerPoint Presentation</vt:lpstr>
      <vt:lpstr>PowerPoint Presentation</vt:lpstr>
      <vt:lpstr>GUI (Graphical User Interface)</vt:lpstr>
      <vt:lpstr>PowerPoint Presentation</vt:lpstr>
      <vt:lpstr>Poziționare exactă obiecte în Tkinter</vt:lpstr>
      <vt:lpstr>PowerPoint Presentation</vt:lpstr>
      <vt:lpstr>Asocierea obiectelor cu evenimente și operații</vt:lpstr>
      <vt:lpstr>PowerPoint Presentation</vt:lpstr>
      <vt:lpstr>Modificarea proprietăților obiectelor</vt:lpstr>
      <vt:lpstr>PowerPoint Presentation</vt:lpstr>
      <vt:lpstr>Validarea datelor introduse</vt:lpstr>
      <vt:lpstr>PowerPoint Presentation</vt:lpstr>
      <vt:lpstr>Citirea fișierelor text cu afișare în GUI</vt:lpstr>
      <vt:lpstr>PowerPoint Presentation</vt:lpstr>
      <vt:lpstr>Citirea fișierelor text cu afișare în GUI prin cale absolută</vt:lpstr>
      <vt:lpstr>PowerPoint Presentation</vt:lpstr>
      <vt:lpstr>Afișarea conținutului unui fișier într-un TextBox cu scrollbar</vt:lpstr>
      <vt:lpstr>PowerPoint Presentation</vt:lpstr>
      <vt:lpstr>Reprezentarea grafică a datelor cu Matplotlib</vt:lpstr>
      <vt:lpstr>PowerPoint Presentation</vt:lpstr>
      <vt:lpstr>Adăugarea titlului și a etichetelor graficului</vt:lpstr>
      <vt:lpstr>PowerPoint Presentation</vt:lpstr>
      <vt:lpstr>Reprezentarea datelor printr-un grafic cu bare</vt:lpstr>
      <vt:lpstr>PowerPoint Presentation</vt:lpstr>
      <vt:lpstr>Reprezentarea distribuției datelor prin histogramă</vt:lpstr>
      <vt:lpstr>PowerPoint Presentation</vt:lpstr>
      <vt:lpstr>Reprezentarea relației dintre variabile prin diagramă de dispersie</vt:lpstr>
      <vt:lpstr>PowerPoint Presentation</vt:lpstr>
      <vt:lpstr>Citirea și reprezentarea grafică a datelor din CSV</vt:lpstr>
      <vt:lpstr>PowerPoint Presentation</vt:lpstr>
      <vt:lpstr>Integrarea graficelor Matplotlib în GUI</vt:lpstr>
      <vt:lpstr>PowerPoint Presentation</vt:lpstr>
      <vt:lpstr>Validarea datelor introduse și tratarea erorilor</vt:lpstr>
      <vt:lpstr>PowerPoint Presentation</vt:lpstr>
      <vt:lpstr>Procesarea fișierelor CSV mari în bucăți</vt:lpstr>
      <vt:lpstr>PowerPoint Presentation</vt:lpstr>
      <vt:lpstr>Verificare date lipsă și duplicate</vt:lpstr>
      <vt:lpstr>PowerPoint Presentation</vt:lpstr>
      <vt:lpstr>Exemplu naiv de «criptare»: ROT13</vt:lpstr>
      <vt:lpstr>PowerPoint Presentation</vt:lpstr>
      <vt:lpstr>Criptarea mesajelor client-server cu XOR</vt:lpstr>
      <vt:lpstr>PowerPoint Presentation</vt:lpstr>
      <vt:lpstr>Generarea executabilelor și configurarea  client–server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Gagniuc</dc:creator>
  <cp:lastModifiedBy>Paul Gagniuc</cp:lastModifiedBy>
  <cp:revision>77</cp:revision>
  <dcterms:created xsi:type="dcterms:W3CDTF">2026-04-16T08:23:01Z</dcterms:created>
  <dcterms:modified xsi:type="dcterms:W3CDTF">2026-07-12T22:18:11Z</dcterms:modified>
</cp:coreProperties>
</file>