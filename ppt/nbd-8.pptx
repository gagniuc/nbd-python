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317" r:id="rId3"/>
    <p:sldId id="265" r:id="rId4"/>
    <p:sldId id="277" r:id="rId5"/>
    <p:sldId id="278" r:id="rId6"/>
    <p:sldId id="382" r:id="rId7"/>
    <p:sldId id="280" r:id="rId8"/>
    <p:sldId id="383" r:id="rId9"/>
    <p:sldId id="281" r:id="rId10"/>
    <p:sldId id="384" r:id="rId11"/>
    <p:sldId id="282" r:id="rId12"/>
    <p:sldId id="283" r:id="rId13"/>
    <p:sldId id="385" r:id="rId14"/>
    <p:sldId id="284" r:id="rId15"/>
    <p:sldId id="386" r:id="rId16"/>
    <p:sldId id="285" r:id="rId17"/>
    <p:sldId id="387" r:id="rId18"/>
    <p:sldId id="286" r:id="rId19"/>
    <p:sldId id="388" r:id="rId20"/>
    <p:sldId id="287" r:id="rId21"/>
    <p:sldId id="389" r:id="rId22"/>
    <p:sldId id="288" r:id="rId23"/>
    <p:sldId id="390" r:id="rId24"/>
    <p:sldId id="289" r:id="rId25"/>
    <p:sldId id="396" r:id="rId26"/>
    <p:sldId id="300" r:id="rId27"/>
    <p:sldId id="395" r:id="rId28"/>
    <p:sldId id="301" r:id="rId29"/>
    <p:sldId id="394" r:id="rId30"/>
    <p:sldId id="302" r:id="rId31"/>
    <p:sldId id="393" r:id="rId32"/>
    <p:sldId id="303" r:id="rId33"/>
    <p:sldId id="392" r:id="rId34"/>
    <p:sldId id="304" r:id="rId35"/>
    <p:sldId id="391" r:id="rId36"/>
    <p:sldId id="306" r:id="rId37"/>
    <p:sldId id="38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3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85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56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59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42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06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12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44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16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4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8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8CFC0-F46D-484C-9E59-8296F534AD66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99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me NBD - NBD">
            <a:extLst>
              <a:ext uri="{FF2B5EF4-FFF2-40B4-BE49-F238E27FC236}">
                <a16:creationId xmlns:a16="http://schemas.microsoft.com/office/drawing/2014/main" id="{216ECC55-C12A-FF3D-44B7-5CF8ECB1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7" y="5885049"/>
            <a:ext cx="2228545" cy="67901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4043AE-F419-F81C-8D93-C1FE2977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1757363"/>
            <a:ext cx="9144000" cy="1995487"/>
          </a:xfrm>
        </p:spPr>
        <p:txBody>
          <a:bodyPr>
            <a:normAutofit fontScale="90000"/>
          </a:bodyPr>
          <a:lstStyle/>
          <a:p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Procesarea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conversia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datelor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din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fișiere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validare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și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automatizări</a:t>
            </a:r>
            <a:r>
              <a:rPr lang="en-GB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03CA3-A575-95E2-234D-911D2AE69E87}"/>
              </a:ext>
            </a:extLst>
          </p:cNvPr>
          <p:cNvSpPr txBox="1"/>
          <p:nvPr/>
        </p:nvSpPr>
        <p:spPr>
          <a:xfrm>
            <a:off x="5245100" y="3752850"/>
            <a:ext cx="187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Paul A. Gagniuc</a:t>
            </a:r>
          </a:p>
        </p:txBody>
      </p:sp>
    </p:spTree>
    <p:extLst>
      <p:ext uri="{BB962C8B-B14F-4D97-AF65-F5344CB8AC3E}">
        <p14:creationId xmlns:p14="http://schemas.microsoft.com/office/powerpoint/2010/main" val="284244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A00AD50C-A2BB-4903-493D-1720B3D6DF51}"/>
              </a:ext>
            </a:extLst>
          </p:cNvPr>
          <p:cNvSpPr/>
          <p:nvPr/>
        </p:nvSpPr>
        <p:spPr>
          <a:xfrm>
            <a:off x="4125913" y="429013"/>
            <a:ext cx="7713662" cy="6086081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0FE5B-25C8-8490-884F-40A1C9C5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174625"/>
            <a:ext cx="3556000" cy="1325563"/>
          </a:xfrm>
        </p:spPr>
        <p:txBody>
          <a:bodyPr/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Cuprins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88A616-FC32-7757-3A9F-A24655DC4878}"/>
              </a:ext>
            </a:extLst>
          </p:cNvPr>
          <p:cNvCxnSpPr>
            <a:cxnSpLocks/>
          </p:cNvCxnSpPr>
          <p:nvPr/>
        </p:nvCxnSpPr>
        <p:spPr>
          <a:xfrm>
            <a:off x="285750" y="1304315"/>
            <a:ext cx="33210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87F89A-0E8B-041A-A145-0973C4BC6CAC}"/>
              </a:ext>
            </a:extLst>
          </p:cNvPr>
          <p:cNvSpPr txBox="1"/>
          <p:nvPr/>
        </p:nvSpPr>
        <p:spPr>
          <a:xfrm>
            <a:off x="352425" y="1499807"/>
            <a:ext cx="6191250" cy="50156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28600" marR="0" lvl="0" indent="-22860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defRPr>
            </a:lvl1pPr>
          </a:lstStyle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Plotare date din CSV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Date din CSV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grafic</a:t>
            </a:r>
            <a:r>
              <a:rPr lang="en-GB" dirty="0"/>
              <a:t> </a:t>
            </a:r>
            <a:r>
              <a:rPr lang="en-GB" dirty="0" err="1"/>
              <a:t>liniar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Integrare</a:t>
            </a:r>
            <a:r>
              <a:rPr lang="en-GB" dirty="0"/>
              <a:t> plot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interfață</a:t>
            </a:r>
            <a:r>
              <a:rPr lang="en-GB" dirty="0"/>
              <a:t> </a:t>
            </a:r>
            <a:r>
              <a:rPr lang="en-GB" dirty="0" err="1"/>
              <a:t>Tkinter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Validare</a:t>
            </a:r>
            <a:r>
              <a:rPr lang="en-GB" dirty="0"/>
              <a:t> input din Entry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Legarea</a:t>
            </a:r>
            <a:r>
              <a:rPr lang="en-GB" dirty="0"/>
              <a:t> </a:t>
            </a:r>
            <a:r>
              <a:rPr lang="en-GB" dirty="0" err="1"/>
              <a:t>butonului</a:t>
            </a:r>
            <a:r>
              <a:rPr lang="en-GB" dirty="0"/>
              <a:t> Check de </a:t>
            </a:r>
            <a:r>
              <a:rPr lang="en-GB" dirty="0" err="1"/>
              <a:t>tasta</a:t>
            </a:r>
            <a:r>
              <a:rPr lang="en-GB" dirty="0"/>
              <a:t> Enter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Numere</a:t>
            </a:r>
            <a:r>
              <a:rPr lang="en-GB" dirty="0"/>
              <a:t> cu </a:t>
            </a:r>
            <a:r>
              <a:rPr lang="en-GB" dirty="0" err="1"/>
              <a:t>virgulă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calcul</a:t>
            </a:r>
            <a:r>
              <a:rPr lang="en-GB" dirty="0"/>
              <a:t> smooth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Citire</a:t>
            </a:r>
            <a:r>
              <a:rPr lang="en-GB" dirty="0"/>
              <a:t> CSV mare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încărcare</a:t>
            </a:r>
            <a:r>
              <a:rPr lang="en-GB" dirty="0"/>
              <a:t> </a:t>
            </a:r>
            <a:r>
              <a:rPr lang="en-GB" dirty="0" err="1"/>
              <a:t>completă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Verificare</a:t>
            </a:r>
            <a:r>
              <a:rPr lang="en-GB" dirty="0"/>
              <a:t> date </a:t>
            </a:r>
            <a:r>
              <a:rPr lang="en-GB" dirty="0" err="1"/>
              <a:t>lipsă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duplicate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Comparare</a:t>
            </a:r>
            <a:r>
              <a:rPr lang="en-GB" dirty="0"/>
              <a:t>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CSV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Export SQL mare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Excel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mici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Raport</a:t>
            </a:r>
            <a:r>
              <a:rPr lang="en-GB" dirty="0"/>
              <a:t> statistic pe </a:t>
            </a:r>
            <a:r>
              <a:rPr lang="en-GB" dirty="0" err="1"/>
              <a:t>regiuni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tipuri</a:t>
            </a:r>
            <a:r>
              <a:rPr lang="en-GB" dirty="0"/>
              <a:t> de </a:t>
            </a:r>
            <a:r>
              <a:rPr lang="en-GB" dirty="0" err="1"/>
              <a:t>clienți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taburile</a:t>
            </a:r>
            <a:r>
              <a:rPr lang="en-GB" dirty="0"/>
              <a:t> </a:t>
            </a:r>
            <a:r>
              <a:rPr lang="en-GB" dirty="0" err="1"/>
              <a:t>dintr</a:t>
            </a:r>
            <a:r>
              <a:rPr lang="en-GB" dirty="0"/>
              <a:t>-un Excel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fișier</a:t>
            </a:r>
            <a:r>
              <a:rPr lang="en-GB" dirty="0"/>
              <a:t> XBRL/XML </a:t>
            </a:r>
            <a:r>
              <a:rPr lang="en-GB" dirty="0" err="1"/>
              <a:t>și</a:t>
            </a:r>
            <a:r>
              <a:rPr lang="en-GB" dirty="0"/>
              <a:t> export </a:t>
            </a:r>
            <a:r>
              <a:rPr lang="en-GB" dirty="0" err="1"/>
              <a:t>în</a:t>
            </a:r>
            <a:r>
              <a:rPr lang="en-GB" dirty="0"/>
              <a:t> Excel + CSV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Conversie</a:t>
            </a:r>
            <a:r>
              <a:rPr lang="en-GB" dirty="0"/>
              <a:t> Excel → XML/XBRL </a:t>
            </a:r>
            <a:r>
              <a:rPr lang="en-GB" dirty="0" err="1"/>
              <a:t>simplificat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 err="1"/>
              <a:t>Reconciliere</a:t>
            </a:r>
            <a:r>
              <a:rPr lang="en-GB" dirty="0"/>
              <a:t> </a:t>
            </a:r>
            <a:r>
              <a:rPr lang="en-GB" dirty="0" err="1"/>
              <a:t>între</a:t>
            </a:r>
            <a:r>
              <a:rPr lang="en-GB" dirty="0"/>
              <a:t> </a:t>
            </a:r>
            <a:r>
              <a:rPr lang="en-GB" dirty="0" err="1"/>
              <a:t>sursă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țintă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Reguli de </a:t>
            </a:r>
            <a:r>
              <a:rPr lang="en-GB" dirty="0" err="1"/>
              <a:t>consistență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clienți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Event Notifier </a:t>
            </a:r>
            <a:r>
              <a:rPr lang="en-GB" dirty="0" err="1"/>
              <a:t>simplificat</a:t>
            </a: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Count down</a:t>
            </a:r>
          </a:p>
        </p:txBody>
      </p:sp>
      <p:pic>
        <p:nvPicPr>
          <p:cNvPr id="8" name="Picture 7" descr="Giant Panda PNGs for Free Download">
            <a:extLst>
              <a:ext uri="{FF2B5EF4-FFF2-40B4-BE49-F238E27FC236}">
                <a16:creationId xmlns:a16="http://schemas.microsoft.com/office/drawing/2014/main" id="{9424B196-DCE1-47E1-F259-124E6418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48" y="2024062"/>
            <a:ext cx="3333750" cy="3333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5F339-2993-0A03-8F8E-A0F029100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498" y="150018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80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79C9-C597-9EE3-86C6-EA82CA9E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897D718-0EB0-29A2-741B-F470CE3012F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58C5B-56F7-B28B-0854-B466AB0D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Plotare Date din CSV</a:t>
            </a:r>
          </a:p>
        </p:txBody>
      </p:sp>
    </p:spTree>
    <p:extLst>
      <p:ext uri="{BB962C8B-B14F-4D97-AF65-F5344CB8AC3E}">
        <p14:creationId xmlns:p14="http://schemas.microsoft.com/office/powerpoint/2010/main" val="342493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1E00-25BA-83A7-37FE-22E0DC8E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4366E-A2D2-670B-884C-9ECC7AF1277C}"/>
              </a:ext>
            </a:extLst>
          </p:cNvPr>
          <p:cNvSpPr txBox="1"/>
          <p:nvPr/>
        </p:nvSpPr>
        <p:spPr>
          <a:xfrm>
            <a:off x="1" y="4324350"/>
            <a:ext cx="4798754" cy="208675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pPr algn="l"/>
            <a:r>
              <a:rPr lang="en-GB" sz="2400" dirty="0"/>
              <a:t>luna,vanzari</a:t>
            </a:r>
          </a:p>
          <a:p>
            <a:pPr algn="l"/>
            <a:r>
              <a:rPr lang="en-GB" sz="2400" dirty="0"/>
              <a:t>Ian,100</a:t>
            </a:r>
          </a:p>
          <a:p>
            <a:pPr algn="l"/>
            <a:r>
              <a:rPr lang="en-GB" sz="2400" dirty="0"/>
              <a:t>Feb,120</a:t>
            </a:r>
          </a:p>
          <a:p>
            <a:pPr algn="l"/>
            <a:r>
              <a:rPr lang="en-GB" sz="2400" dirty="0"/>
              <a:t>Mar,115</a:t>
            </a:r>
          </a:p>
          <a:p>
            <a:pPr algn="l"/>
            <a:r>
              <a:rPr lang="en-GB" sz="2400" dirty="0"/>
              <a:t>Apr,140</a:t>
            </a:r>
          </a:p>
          <a:p>
            <a:pPr algn="l"/>
            <a:r>
              <a:rPr lang="en-GB" sz="2400" dirty="0"/>
              <a:t>Mai,160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C8043-6EA7-11CD-57B7-4D0F623EBBE6}"/>
              </a:ext>
            </a:extLst>
          </p:cNvPr>
          <p:cNvSpPr txBox="1"/>
          <p:nvPr/>
        </p:nvSpPr>
        <p:spPr>
          <a:xfrm>
            <a:off x="1" y="3328671"/>
            <a:ext cx="4798754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Date din CSV + line plot</a:t>
            </a:r>
          </a:p>
          <a:p>
            <a:r>
              <a:rPr lang="en-GB" dirty="0"/>
              <a:t>CSV vanzari.csv: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9D23E-34D3-D7FA-410D-69DE2BAB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98754" cy="3168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F7415C-0E73-4EC3-73DC-99B88BEB0D54}"/>
              </a:ext>
            </a:extLst>
          </p:cNvPr>
          <p:cNvSpPr txBox="1"/>
          <p:nvPr/>
        </p:nvSpPr>
        <p:spPr>
          <a:xfrm>
            <a:off x="5694075" y="1710812"/>
            <a:ext cx="6497925" cy="46088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Adaptati</a:t>
            </a:r>
            <a:r>
              <a:rPr lang="en-GB" dirty="0"/>
              <a:t> </a:t>
            </a:r>
            <a:r>
              <a:rPr lang="en-GB" dirty="0" err="1"/>
              <a:t>calea</a:t>
            </a:r>
            <a:r>
              <a:rPr lang="en-GB" dirty="0"/>
              <a:t>!</a:t>
            </a:r>
          </a:p>
        </p:txBody>
      </p:sp>
      <p:pic>
        <p:nvPicPr>
          <p:cNvPr id="2" name="Picture 1" descr="Giant Panda PNGs for Free Download">
            <a:extLst>
              <a:ext uri="{FF2B5EF4-FFF2-40B4-BE49-F238E27FC236}">
                <a16:creationId xmlns:a16="http://schemas.microsoft.com/office/drawing/2014/main" id="{0FC42FA7-2AE3-733C-8B6C-E1A4A993A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011" y="2903928"/>
            <a:ext cx="3333750" cy="33337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5961E4A-16AF-C29F-3849-4BD976D49A50}"/>
              </a:ext>
            </a:extLst>
          </p:cNvPr>
          <p:cNvSpPr txBox="1">
            <a:spLocks/>
          </p:cNvSpPr>
          <p:nvPr/>
        </p:nvSpPr>
        <p:spPr>
          <a:xfrm>
            <a:off x="5694076" y="318876"/>
            <a:ext cx="6497924" cy="1325563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pandas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081BDB-9866-4BE2-D464-454D422260F3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311650" y="1315600"/>
            <a:ext cx="1382425" cy="625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9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BF5E-4CD8-DEA6-14D9-F7B9B22C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C9D0C-F73A-9F0E-0260-DBB3CE1232E0}"/>
              </a:ext>
            </a:extLst>
          </p:cNvPr>
          <p:cNvSpPr/>
          <p:nvPr/>
        </p:nvSpPr>
        <p:spPr>
          <a:xfrm>
            <a:off x="0" y="0"/>
            <a:ext cx="6356350" cy="68580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02D40-169A-11FB-3AA6-2EB761CD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5158" cy="3596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9F40AD-2FE3-B453-5EB4-5937A237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734"/>
            <a:ext cx="6096001" cy="2682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9C950A-68F2-51A0-3A33-9DB1AA041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350" y="14448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0A7D-12B2-800A-DDAD-6A360B60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C496C4E3-E980-0A8A-C36E-FBD248EACD0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7A856-65F1-7C04-D994-A4462EE8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Validare input din Entry</a:t>
            </a:r>
          </a:p>
        </p:txBody>
      </p:sp>
    </p:spTree>
    <p:extLst>
      <p:ext uri="{BB962C8B-B14F-4D97-AF65-F5344CB8AC3E}">
        <p14:creationId xmlns:p14="http://schemas.microsoft.com/office/powerpoint/2010/main" val="2582886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A3F7-F79D-49C8-34CE-2E578D49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4B9A7C-B581-B4B0-BED9-6E566BDC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3137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FA381E-1D7C-99DA-774E-100D19D6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650" y="15549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3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18A4-5A04-1174-FE48-D0C8849F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3827E957-774F-F954-0AF6-524FDA4C0858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A39F4-2A92-AF55-AC9A-BC65FF2D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Legarea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butonului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Check de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tasta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Enter</a:t>
            </a:r>
          </a:p>
        </p:txBody>
      </p:sp>
    </p:spTree>
    <p:extLst>
      <p:ext uri="{BB962C8B-B14F-4D97-AF65-F5344CB8AC3E}">
        <p14:creationId xmlns:p14="http://schemas.microsoft.com/office/powerpoint/2010/main" val="70901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55E1-4C9E-9DA6-A113-0B1730C7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BF0B4-5BBD-6CA8-6C74-73F1E60908EC}"/>
              </a:ext>
            </a:extLst>
          </p:cNvPr>
          <p:cNvSpPr txBox="1"/>
          <p:nvPr/>
        </p:nvSpPr>
        <p:spPr>
          <a:xfrm>
            <a:off x="0" y="2843768"/>
            <a:ext cx="12192000" cy="131504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root.bind</a:t>
            </a:r>
            <a:r>
              <a:rPr lang="en-GB" dirty="0"/>
              <a:t>("&lt;Return&gt;", lambda event: </a:t>
            </a:r>
            <a:r>
              <a:rPr lang="en-GB" dirty="0" err="1"/>
              <a:t>verifica</a:t>
            </a:r>
            <a:r>
              <a:rPr lang="en-GB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3122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A530-C2B9-D5A7-FA61-13F72058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7F361D79-7C65-8471-C578-DD95D693FCC2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765E4-B9B1-3BE7-D246-91F1BBA5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Numere cu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virgulă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sz="7200" dirty="0" err="1">
                <a:solidFill>
                  <a:schemeClr val="accent2">
                    <a:lumMod val="75000"/>
                  </a:schemeClr>
                </a:solidFill>
              </a:rPr>
              <a:t>calcul</a:t>
            </a:r>
            <a:r>
              <a:rPr lang="en-GB" sz="7200" dirty="0">
                <a:solidFill>
                  <a:schemeClr val="accent2">
                    <a:lumMod val="75000"/>
                  </a:schemeClr>
                </a:solidFill>
              </a:rPr>
              <a:t> smooth</a:t>
            </a:r>
          </a:p>
        </p:txBody>
      </p:sp>
    </p:spTree>
    <p:extLst>
      <p:ext uri="{BB962C8B-B14F-4D97-AF65-F5344CB8AC3E}">
        <p14:creationId xmlns:p14="http://schemas.microsoft.com/office/powerpoint/2010/main" val="2192674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06A2-0498-01CD-D9BB-0CF2D874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FB871A-2899-8E1F-C597-C2A58D00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3825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44BE90-F9FB-27D5-F37B-6B391F20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200" y="3295374"/>
            <a:ext cx="3294915" cy="3562626"/>
          </a:xfrm>
          <a:prstGeom prst="rect">
            <a:avLst/>
          </a:prstGeom>
        </p:spPr>
      </p:pic>
      <p:pic>
        <p:nvPicPr>
          <p:cNvPr id="8" name="Picture 7" descr="Magic Wand 800x622 PNG picture - Transparent Background ...">
            <a:extLst>
              <a:ext uri="{FF2B5EF4-FFF2-40B4-BE49-F238E27FC236}">
                <a16:creationId xmlns:a16="http://schemas.microsoft.com/office/drawing/2014/main" id="{CD82B6E2-77BE-2FD3-A4FA-1BC4F16DA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850" y="65466"/>
            <a:ext cx="4497602" cy="349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4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02D9-20ED-E4FC-71A1-F47C5D6A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0C57AE-7096-4C35-BB9F-A9BE8724DC15}"/>
              </a:ext>
            </a:extLst>
          </p:cNvPr>
          <p:cNvSpPr/>
          <p:nvPr/>
        </p:nvSpPr>
        <p:spPr>
          <a:xfrm>
            <a:off x="0" y="0"/>
            <a:ext cx="8610600" cy="68580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845E5-7466-5141-22CD-50B0109AF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555244" cy="4000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DD04DA-7D3A-1C1B-7E54-5C76A02EE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750" y="15359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0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0FF6-3864-F7AA-8C83-FA5AB8AD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19CF82A-D9EF-9379-D51B-C4495B004159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45B8D-1DE2-0C10-26DC-1304139F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Citire CSV mare fără încărcare completă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88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DFEE-04C0-969A-18FF-575AF5FA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CB4E1-6B54-1C2E-1372-40841453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37450" cy="3495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41E3D1-2A3B-5150-4823-2AB7B8FC13D3}"/>
              </a:ext>
            </a:extLst>
          </p:cNvPr>
          <p:cNvSpPr txBox="1"/>
          <p:nvPr/>
        </p:nvSpPr>
        <p:spPr>
          <a:xfrm>
            <a:off x="0" y="4799797"/>
            <a:ext cx="121920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Citiți un </a:t>
            </a:r>
            <a:r>
              <a:rPr lang="en-GB" dirty="0" err="1"/>
              <a:t>fișier</a:t>
            </a:r>
            <a:r>
              <a:rPr lang="en-GB" dirty="0"/>
              <a:t> CSV mare pe </a:t>
            </a:r>
            <a:r>
              <a:rPr lang="en-GB" dirty="0" err="1"/>
              <a:t>bucăți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calculați</a:t>
            </a:r>
            <a:r>
              <a:rPr lang="en-GB" dirty="0"/>
              <a:t> </a:t>
            </a:r>
            <a:r>
              <a:rPr lang="en-GB" dirty="0" err="1"/>
              <a:t>totalul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coloane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D9A53-1860-7C32-D1E6-E6B04201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900" y="1211158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64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EF2C-5BBA-DC63-1C30-D660DCA4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255C4119-7CE8-A288-A26F-E793916A9E9B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FA7E2-BC42-33DA-6401-C1EA0388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Verificare date lipsă și duplicate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65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18AE-518C-AA83-1CEE-5DFC5001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9BD8C3-A024-4843-55BE-B3C049F3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5170" cy="6839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2ADE5E-E9DB-44CA-11E2-E87AAD1B1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170" y="165020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2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4B66-C142-05A9-641B-913E3D65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95F0587D-F391-958E-A64F-A4A32800D7CF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C0B45-FD23-9983-6A78-B8D066AB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Comparare două fișiere CSV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22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2CEF-AB24-FEF8-C70C-1E86E10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45659-1FA5-CA84-352F-233416504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534703" cy="3702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792EFB-8302-C9C2-E552-0985EDF5834A}"/>
              </a:ext>
            </a:extLst>
          </p:cNvPr>
          <p:cNvSpPr txBox="1"/>
          <p:nvPr/>
        </p:nvSpPr>
        <p:spPr>
          <a:xfrm>
            <a:off x="0" y="4790970"/>
            <a:ext cx="6964051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diferente</a:t>
            </a:r>
            <a:r>
              <a:rPr lang="en-GB" dirty="0"/>
              <a:t>["_merge"] != "both"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F1138-5126-E93B-EBB1-6C7AC45D0D12}"/>
              </a:ext>
            </a:extLst>
          </p:cNvPr>
          <p:cNvSpPr txBox="1"/>
          <p:nvPr/>
        </p:nvSpPr>
        <p:spPr>
          <a:xfrm>
            <a:off x="5118427" y="4188946"/>
            <a:ext cx="7073573" cy="369332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păstrează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rândurile</a:t>
            </a:r>
            <a:r>
              <a:rPr lang="en-GB" dirty="0"/>
              <a:t> care nu sunt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ambele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1384B-8508-4565-81CD-0568062628EB}"/>
              </a:ext>
            </a:extLst>
          </p:cNvPr>
          <p:cNvSpPr txBox="1"/>
          <p:nvPr/>
        </p:nvSpPr>
        <p:spPr>
          <a:xfrm>
            <a:off x="1572" y="5486418"/>
            <a:ext cx="5268928" cy="109164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both =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ambele</a:t>
            </a:r>
            <a:r>
              <a:rPr lang="en-GB" dirty="0"/>
              <a:t> </a:t>
            </a:r>
            <a:r>
              <a:rPr lang="en-GB" dirty="0" err="1"/>
              <a:t>fișiere</a:t>
            </a:r>
            <a:endParaRPr lang="en-GB" dirty="0"/>
          </a:p>
          <a:p>
            <a:r>
              <a:rPr lang="en-GB" dirty="0" err="1"/>
              <a:t>left_only</a:t>
            </a:r>
            <a:r>
              <a:rPr lang="en-GB" dirty="0"/>
              <a:t> =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primul</a:t>
            </a:r>
            <a:endParaRPr lang="en-GB" dirty="0"/>
          </a:p>
          <a:p>
            <a:r>
              <a:rPr lang="en-GB" dirty="0" err="1"/>
              <a:t>right_only</a:t>
            </a:r>
            <a:r>
              <a:rPr lang="en-GB" dirty="0"/>
              <a:t> =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al </a:t>
            </a:r>
            <a:r>
              <a:rPr lang="en-GB" dirty="0" err="1"/>
              <a:t>doilea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4E82D-2441-BD7E-ECB9-48F7F2BE8BEC}"/>
              </a:ext>
            </a:extLst>
          </p:cNvPr>
          <p:cNvSpPr txBox="1"/>
          <p:nvPr/>
        </p:nvSpPr>
        <p:spPr>
          <a:xfrm>
            <a:off x="5493012" y="6098753"/>
            <a:ext cx="6698988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Deci _merge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o </a:t>
            </a:r>
            <a:r>
              <a:rPr lang="en-GB" dirty="0" err="1"/>
              <a:t>etichetă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comparație</a:t>
            </a:r>
            <a:r>
              <a:rPr lang="en-GB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63465-BBE4-7075-E756-3FF959737733}"/>
              </a:ext>
            </a:extLst>
          </p:cNvPr>
          <p:cNvSpPr txBox="1"/>
          <p:nvPr/>
        </p:nvSpPr>
        <p:spPr>
          <a:xfrm>
            <a:off x="8126122" y="1461185"/>
            <a:ext cx="4065878" cy="92333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Comparați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CSV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afișați</a:t>
            </a:r>
            <a:r>
              <a:rPr lang="en-GB" dirty="0"/>
              <a:t> </a:t>
            </a:r>
            <a:r>
              <a:rPr lang="en-GB" dirty="0" err="1"/>
              <a:t>liniile</a:t>
            </a:r>
            <a:r>
              <a:rPr lang="en-GB" dirty="0"/>
              <a:t> care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primul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nu </a:t>
            </a:r>
            <a:r>
              <a:rPr lang="en-GB" dirty="0" err="1"/>
              <a:t>există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al </a:t>
            </a:r>
            <a:r>
              <a:rPr lang="en-GB" dirty="0" err="1"/>
              <a:t>doilea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56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5211-1AEE-AFD5-BDE1-579C9331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AD50DAA-492A-1FF1-3AC0-6779FDDF2000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676BC-B731-9779-0710-9E345998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Export SQL mare în fișiere Excel mai mici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408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265B-430E-877D-7895-B23D07D1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1B2B1-8C65-CB67-35C1-76E70A166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417"/>
            <a:ext cx="5959736" cy="34674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39758B-AE3C-6B62-FDC5-D59B663807E0}"/>
              </a:ext>
            </a:extLst>
          </p:cNvPr>
          <p:cNvSpPr txBox="1"/>
          <p:nvPr/>
        </p:nvSpPr>
        <p:spPr>
          <a:xfrm>
            <a:off x="1572" y="5094474"/>
            <a:ext cx="5958164" cy="57607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iloc</a:t>
            </a:r>
            <a:r>
              <a:rPr lang="en-GB" dirty="0"/>
              <a:t> </a:t>
            </a:r>
            <a:r>
              <a:rPr lang="en-GB" dirty="0" err="1"/>
              <a:t>înseamnă</a:t>
            </a:r>
            <a:r>
              <a:rPr lang="en-GB" dirty="0"/>
              <a:t> index location.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6154F-661E-5251-50B8-E5AFCB864333}"/>
              </a:ext>
            </a:extLst>
          </p:cNvPr>
          <p:cNvSpPr txBox="1"/>
          <p:nvPr/>
        </p:nvSpPr>
        <p:spPr>
          <a:xfrm>
            <a:off x="1" y="0"/>
            <a:ext cx="12192000" cy="546100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 err="1"/>
              <a:t>Împarte</a:t>
            </a:r>
            <a:r>
              <a:rPr lang="en-GB" dirty="0"/>
              <a:t>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numere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păstrează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partea</a:t>
            </a:r>
            <a:r>
              <a:rPr lang="en-GB" dirty="0"/>
              <a:t> </a:t>
            </a:r>
            <a:r>
              <a:rPr lang="en-GB" dirty="0" err="1"/>
              <a:t>întreagă</a:t>
            </a:r>
            <a:r>
              <a:rPr lang="en-GB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ACA20-AE50-B0D7-40B0-94DD4D52BE3D}"/>
              </a:ext>
            </a:extLst>
          </p:cNvPr>
          <p:cNvSpPr txBox="1"/>
          <p:nvPr/>
        </p:nvSpPr>
        <p:spPr>
          <a:xfrm>
            <a:off x="7322495" y="1008499"/>
            <a:ext cx="3473450" cy="1424044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Simulați un export mare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împărțiți</a:t>
            </a:r>
            <a:r>
              <a:rPr lang="en-GB" dirty="0"/>
              <a:t> </a:t>
            </a:r>
            <a:r>
              <a:rPr lang="en-GB" dirty="0" err="1"/>
              <a:t>datele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Excel de </a:t>
            </a:r>
            <a:r>
              <a:rPr lang="en-GB" dirty="0" err="1"/>
              <a:t>câte</a:t>
            </a:r>
            <a:r>
              <a:rPr lang="en-GB" dirty="0"/>
              <a:t> 1000 de </a:t>
            </a:r>
            <a:r>
              <a:rPr lang="en-GB" dirty="0" err="1"/>
              <a:t>linii</a:t>
            </a:r>
            <a:r>
              <a:rPr lang="en-GB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609B3-E032-FDC8-233D-332737015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00" y="268202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43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E55F2-0EA7-805D-7CAD-F021768B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C773B88A-A663-36D2-DF4C-D053A822EFF2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AD7B5-EA74-3895-6C23-00B8C974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Raport statistic pe regiuni și tipuri de clienți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245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4AFE-DA00-7B4C-8160-55AFEF7B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F5A9BF-D4AD-C698-C5CB-5448F1802711}"/>
              </a:ext>
            </a:extLst>
          </p:cNvPr>
          <p:cNvSpPr/>
          <p:nvPr/>
        </p:nvSpPr>
        <p:spPr>
          <a:xfrm>
            <a:off x="0" y="1524000"/>
            <a:ext cx="7620000" cy="53340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28CC2-AF5C-CAEA-D1CB-E863CB46C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0892"/>
            <a:ext cx="7544275" cy="26418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CBFACB-2976-DF5B-EF25-572053FA4B2F}"/>
              </a:ext>
            </a:extLst>
          </p:cNvPr>
          <p:cNvSpPr txBox="1"/>
          <p:nvPr/>
        </p:nvSpPr>
        <p:spPr>
          <a:xfrm>
            <a:off x="-1" y="255865"/>
            <a:ext cx="7620000" cy="109164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Dintr-un </a:t>
            </a:r>
            <a:r>
              <a:rPr lang="en-GB" dirty="0" err="1"/>
              <a:t>fișier</a:t>
            </a:r>
            <a:r>
              <a:rPr lang="en-GB" dirty="0"/>
              <a:t> cu </a:t>
            </a:r>
            <a:r>
              <a:rPr lang="en-GB" dirty="0" err="1"/>
              <a:t>produse</a:t>
            </a:r>
            <a:r>
              <a:rPr lang="en-GB" dirty="0"/>
              <a:t>, </a:t>
            </a:r>
            <a:r>
              <a:rPr lang="en-GB" dirty="0" err="1"/>
              <a:t>regiuni</a:t>
            </a:r>
            <a:r>
              <a:rPr lang="en-GB" dirty="0"/>
              <a:t>, </a:t>
            </a:r>
            <a:r>
              <a:rPr lang="en-GB" dirty="0" err="1"/>
              <a:t>vârste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tipuri</a:t>
            </a:r>
            <a:r>
              <a:rPr lang="en-GB" dirty="0"/>
              <a:t> de </a:t>
            </a:r>
            <a:r>
              <a:rPr lang="en-GB" dirty="0" err="1"/>
              <a:t>clienți</a:t>
            </a:r>
            <a:r>
              <a:rPr lang="en-GB" dirty="0"/>
              <a:t>, </a:t>
            </a:r>
            <a:r>
              <a:rPr lang="en-GB" dirty="0" err="1"/>
              <a:t>calculați</a:t>
            </a:r>
            <a:r>
              <a:rPr lang="en-GB" dirty="0"/>
              <a:t> </a:t>
            </a:r>
            <a:r>
              <a:rPr lang="en-GB" dirty="0" err="1"/>
              <a:t>numărul</a:t>
            </a:r>
            <a:r>
              <a:rPr lang="en-GB" dirty="0"/>
              <a:t> de </a:t>
            </a:r>
            <a:r>
              <a:rPr lang="en-GB" dirty="0" err="1"/>
              <a:t>produse</a:t>
            </a:r>
            <a:r>
              <a:rPr lang="en-GB" dirty="0"/>
              <a:t> pe </a:t>
            </a:r>
            <a:r>
              <a:rPr lang="en-GB" dirty="0" err="1"/>
              <a:t>regiune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pe tip de client.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53341-E34A-7FC6-B91A-7CC9CAFEF9D9}"/>
              </a:ext>
            </a:extLst>
          </p:cNvPr>
          <p:cNvSpPr txBox="1"/>
          <p:nvPr/>
        </p:nvSpPr>
        <p:spPr>
          <a:xfrm>
            <a:off x="8032750" y="255865"/>
            <a:ext cx="4159250" cy="4582835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sz="2000" dirty="0" err="1"/>
              <a:t>produs,regiune,tip_client,varsta</a:t>
            </a:r>
            <a:endParaRPr lang="en-GB" sz="2000" dirty="0"/>
          </a:p>
          <a:p>
            <a:r>
              <a:rPr lang="en-GB" sz="2000" dirty="0"/>
              <a:t>Laptop,Bucuresti,Individual,34</a:t>
            </a:r>
          </a:p>
          <a:p>
            <a:r>
              <a:rPr lang="en-GB" sz="2000" dirty="0"/>
              <a:t>Telefon,Cluj,Individual,22</a:t>
            </a:r>
          </a:p>
          <a:p>
            <a:r>
              <a:rPr lang="en-GB" sz="2000" dirty="0"/>
              <a:t>Tableta,Bucuresti,Companie,41</a:t>
            </a:r>
          </a:p>
          <a:p>
            <a:r>
              <a:rPr lang="en-GB" sz="2000" dirty="0"/>
              <a:t>Monitor,Iasi,Companie,38</a:t>
            </a:r>
          </a:p>
          <a:p>
            <a:r>
              <a:rPr lang="en-GB" sz="2000" dirty="0"/>
              <a:t>Mouse,Cluj,Individual,29</a:t>
            </a:r>
          </a:p>
          <a:p>
            <a:r>
              <a:rPr lang="en-GB" sz="2000" dirty="0"/>
              <a:t>Tastatura,Iasi,Individual,25</a:t>
            </a:r>
          </a:p>
          <a:p>
            <a:r>
              <a:rPr lang="en-GB" sz="2000" dirty="0"/>
              <a:t>Laptop,Bucuresti,Companie,45</a:t>
            </a:r>
          </a:p>
          <a:p>
            <a:r>
              <a:rPr lang="en-GB" sz="2000" dirty="0"/>
              <a:t>Telefon,Timisoara,Individual,31</a:t>
            </a:r>
          </a:p>
          <a:p>
            <a:r>
              <a:rPr lang="en-GB" sz="2000" dirty="0"/>
              <a:t>Monitor,Timisoara,Companie,52</a:t>
            </a:r>
          </a:p>
          <a:p>
            <a:r>
              <a:rPr lang="en-GB" sz="2000" dirty="0"/>
              <a:t>Tableta,Cluj,Companie,40</a:t>
            </a:r>
          </a:p>
          <a:p>
            <a:r>
              <a:rPr lang="en-GB" sz="2000" dirty="0"/>
              <a:t>Mouse,Bucuresti,Individual,27</a:t>
            </a:r>
          </a:p>
          <a:p>
            <a:r>
              <a:rPr lang="en-GB" sz="2000" dirty="0"/>
              <a:t>Tastatura,Iasi,Companie,36</a:t>
            </a:r>
          </a:p>
          <a:p>
            <a:r>
              <a:rPr lang="en-GB" sz="2000" dirty="0"/>
              <a:t>Laptop,Timisoara,Individual,33</a:t>
            </a:r>
          </a:p>
          <a:p>
            <a:r>
              <a:rPr lang="en-GB" sz="2000" dirty="0"/>
              <a:t>Telefon,Bucuresti,Individual,24</a:t>
            </a:r>
          </a:p>
          <a:p>
            <a:r>
              <a:rPr lang="en-GB" sz="2000" dirty="0"/>
              <a:t>Monitor,Cluj,Companie,48</a:t>
            </a:r>
          </a:p>
        </p:txBody>
      </p:sp>
      <p:pic>
        <p:nvPicPr>
          <p:cNvPr id="8" name="Picture 7" descr="Giant Panda PNGs for Free Download">
            <a:extLst>
              <a:ext uri="{FF2B5EF4-FFF2-40B4-BE49-F238E27FC236}">
                <a16:creationId xmlns:a16="http://schemas.microsoft.com/office/drawing/2014/main" id="{FD4A11EE-3FF6-2EBD-110F-C7DB9A9CC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850" y="5118100"/>
            <a:ext cx="15811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97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A0CB-0FD7-8BB7-033B-A230B7598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2EE9BDA-7C8F-C95C-0687-710BD26D9CF8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4973F-61BE-A03E-0016-25024995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Citire toate taburile dintr-un Excel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986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7E1D-E354-21AA-F02D-77B19F30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9E549-901C-06E2-3AC7-4588A12A0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3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E84F9-A041-46FA-89F2-EBE3D9B0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313"/>
            <a:ext cx="991690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1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C758-151B-69E1-4B1C-63819FD0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59B10B7-6B5F-838B-9F3C-6E80F65B0B05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8FB39-4254-4B5E-B7E3-1D323FC0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Citire fișier XBRL/XML și export în Excel + CSV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698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0EE14-12AC-ADE2-D332-6DBF5981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36658-4DB1-EDF3-CC98-6DE20743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9094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5734ED-D4B9-F56A-798D-219B1F97E6E0}"/>
              </a:ext>
            </a:extLst>
          </p:cNvPr>
          <p:cNvSpPr txBox="1"/>
          <p:nvPr/>
        </p:nvSpPr>
        <p:spPr>
          <a:xfrm>
            <a:off x="7620000" y="799584"/>
            <a:ext cx="45720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Exemplu </a:t>
            </a:r>
            <a:r>
              <a:rPr lang="en-GB" dirty="0" err="1"/>
              <a:t>simplu</a:t>
            </a:r>
            <a:r>
              <a:rPr lang="en-GB" dirty="0"/>
              <a:t> de raport.xml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AAE6AA-408B-9D6F-9277-4E6079596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0941" y="2533649"/>
            <a:ext cx="4399359" cy="2406651"/>
          </a:xfr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&lt;</a:t>
            </a:r>
            <a:r>
              <a:rPr lang="en-GB" sz="18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raport</a:t>
            </a: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&gt;</a:t>
            </a:r>
            <a:b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</a:b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&lt;item name="Active"&gt;1000000&lt;/item&gt;</a:t>
            </a:r>
            <a:b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</a:b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&lt;item name="</a:t>
            </a:r>
            <a:r>
              <a:rPr lang="en-GB" sz="18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Datorii</a:t>
            </a: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"&gt;400000&lt;/item&gt;</a:t>
            </a:r>
            <a:b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</a:b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&lt;item name="Capital"&gt;600000&lt;/item&gt;</a:t>
            </a:r>
            <a:b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</a:b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&lt;/</a:t>
            </a:r>
            <a:r>
              <a:rPr lang="en-GB" sz="1800" dirty="0" err="1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raport</a:t>
            </a:r>
            <a:r>
              <a:rPr lang="en-GB" sz="1800" dirty="0">
                <a:solidFill>
                  <a:sysClr val="window" lastClr="FFFFFF">
                    <a:lumMod val="95000"/>
                  </a:sysClr>
                </a:solidFill>
                <a:latin typeface="Aptos Display" panose="02110004020202020204"/>
                <a:ea typeface="+mj-ea"/>
                <a:cs typeface="+mj-c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43308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24E1C-9486-E43E-778A-9CED1F42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2051CB1-7E30-2634-F3D5-46B0A7E4EDF4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E0380-F779-55ED-50C8-397B7CC0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Conversie Excel → XML/XBRL simplificat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256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7AA8-E053-8473-925F-DD6B1094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C5BCD-F6F4-5FA9-DC75-E0E860CF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524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D7D4A2-2FBD-C485-913E-E192A54102EB}"/>
              </a:ext>
            </a:extLst>
          </p:cNvPr>
          <p:cNvSpPr txBox="1"/>
          <p:nvPr/>
        </p:nvSpPr>
        <p:spPr>
          <a:xfrm>
            <a:off x="5613400" y="146050"/>
            <a:ext cx="6578600" cy="759247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Trebuie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avem</a:t>
            </a:r>
            <a:r>
              <a:rPr lang="en-GB" dirty="0"/>
              <a:t> un </a:t>
            </a:r>
            <a:r>
              <a:rPr lang="en-GB" dirty="0" err="1"/>
              <a:t>fisier</a:t>
            </a:r>
            <a:r>
              <a:rPr lang="en-GB" dirty="0"/>
              <a:t> date.xlsx pe Desktop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7E0FE-8771-0339-CD4D-BC30EB67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50" y="1897517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47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29F7-2C15-7C8F-728D-33E162D7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E610FE6B-1D71-1BC7-0881-A39A5D4B3D8D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EFC1-63D4-264C-7D2D-A3C36518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fr-FR" sz="7200" dirty="0">
                <a:solidFill>
                  <a:schemeClr val="accent2">
                    <a:lumMod val="75000"/>
                  </a:schemeClr>
                </a:solidFill>
              </a:rPr>
              <a:t>Reconciliere </a:t>
            </a:r>
            <a:r>
              <a:rPr lang="fr-FR" sz="7200" dirty="0" err="1">
                <a:solidFill>
                  <a:schemeClr val="accent2">
                    <a:lumMod val="75000"/>
                  </a:schemeClr>
                </a:solidFill>
              </a:rPr>
              <a:t>între</a:t>
            </a:r>
            <a:r>
              <a:rPr lang="fr-FR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7200" dirty="0" err="1">
                <a:solidFill>
                  <a:schemeClr val="accent2">
                    <a:lumMod val="75000"/>
                  </a:schemeClr>
                </a:solidFill>
              </a:rPr>
              <a:t>sursă</a:t>
            </a:r>
            <a:r>
              <a:rPr lang="fr-FR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7200" dirty="0" err="1">
                <a:solidFill>
                  <a:schemeClr val="accent2">
                    <a:lumMod val="75000"/>
                  </a:schemeClr>
                </a:solidFill>
              </a:rPr>
              <a:t>și</a:t>
            </a:r>
            <a:r>
              <a:rPr lang="fr-FR" sz="7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7200" dirty="0" err="1">
                <a:solidFill>
                  <a:schemeClr val="accent2">
                    <a:lumMod val="75000"/>
                  </a:schemeClr>
                </a:solidFill>
              </a:rPr>
              <a:t>țintă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737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6255-AE81-AA4B-4679-321FD7FA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A4E8084-975C-22EF-FACB-079E3EEE0669}"/>
              </a:ext>
            </a:extLst>
          </p:cNvPr>
          <p:cNvSpPr/>
          <p:nvPr/>
        </p:nvSpPr>
        <p:spPr>
          <a:xfrm>
            <a:off x="5627073" y="2571750"/>
            <a:ext cx="5890854" cy="305435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B076A-2B4B-7563-A0DC-FF1FEFD7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3640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07AAFD-FB35-5BDF-EC0B-E9E666C87FF0}"/>
              </a:ext>
            </a:extLst>
          </p:cNvPr>
          <p:cNvSpPr txBox="1"/>
          <p:nvPr/>
        </p:nvSpPr>
        <p:spPr>
          <a:xfrm>
            <a:off x="5588000" y="337235"/>
            <a:ext cx="6604000" cy="1091646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Compară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fișiere</a:t>
            </a:r>
            <a:r>
              <a:rPr lang="en-GB" dirty="0"/>
              <a:t> CSV, sursa.csv </a:t>
            </a:r>
            <a:r>
              <a:rPr lang="en-GB" dirty="0" err="1"/>
              <a:t>și</a:t>
            </a:r>
            <a:r>
              <a:rPr lang="en-GB" dirty="0"/>
              <a:t> tinta.csv, </a:t>
            </a:r>
            <a:r>
              <a:rPr lang="en-GB" dirty="0" err="1"/>
              <a:t>după</a:t>
            </a:r>
            <a:r>
              <a:rPr lang="en-GB" dirty="0"/>
              <a:t> </a:t>
            </a:r>
            <a:r>
              <a:rPr lang="en-GB" dirty="0" err="1"/>
              <a:t>coloana</a:t>
            </a:r>
            <a:r>
              <a:rPr lang="en-GB" dirty="0"/>
              <a:t> </a:t>
            </a:r>
            <a:r>
              <a:rPr lang="en-GB" dirty="0" err="1"/>
              <a:t>cont</a:t>
            </a:r>
            <a:r>
              <a:rPr lang="en-GB" dirty="0"/>
              <a:t>, </a:t>
            </a:r>
            <a:r>
              <a:rPr lang="en-GB" dirty="0" err="1"/>
              <a:t>apoi</a:t>
            </a:r>
            <a:r>
              <a:rPr lang="en-GB" dirty="0"/>
              <a:t> </a:t>
            </a:r>
            <a:r>
              <a:rPr lang="en-GB" dirty="0" err="1"/>
              <a:t>verifică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soldurile</a:t>
            </a:r>
            <a:r>
              <a:rPr lang="en-GB" dirty="0"/>
              <a:t> sunt </a:t>
            </a:r>
            <a:r>
              <a:rPr lang="en-GB" dirty="0" err="1"/>
              <a:t>egale</a:t>
            </a:r>
            <a:r>
              <a:rPr lang="en-GB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D99D2-73EB-F089-F1CD-C81018D4A4D7}"/>
              </a:ext>
            </a:extLst>
          </p:cNvPr>
          <p:cNvSpPr txBox="1"/>
          <p:nvPr/>
        </p:nvSpPr>
        <p:spPr>
          <a:xfrm>
            <a:off x="7042150" y="3238500"/>
            <a:ext cx="1530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sursa.csv</a:t>
            </a:r>
          </a:p>
          <a:p>
            <a:endParaRPr lang="en-GB" dirty="0"/>
          </a:p>
          <a:p>
            <a:r>
              <a:rPr lang="en-GB" dirty="0"/>
              <a:t>cont,sold</a:t>
            </a:r>
          </a:p>
          <a:p>
            <a:r>
              <a:rPr lang="en-GB" dirty="0"/>
              <a:t>A1,1000</a:t>
            </a:r>
          </a:p>
          <a:p>
            <a:r>
              <a:rPr lang="en-GB" dirty="0"/>
              <a:t>A2,2500</a:t>
            </a:r>
          </a:p>
          <a:p>
            <a:r>
              <a:rPr lang="en-GB" dirty="0"/>
              <a:t>A3,3000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F52B3-EAB9-DF41-80DB-B6E3A890FBCC}"/>
              </a:ext>
            </a:extLst>
          </p:cNvPr>
          <p:cNvSpPr txBox="1"/>
          <p:nvPr/>
        </p:nvSpPr>
        <p:spPr>
          <a:xfrm>
            <a:off x="9042400" y="3238500"/>
            <a:ext cx="1447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tinta.csv</a:t>
            </a:r>
          </a:p>
          <a:p>
            <a:endParaRPr lang="en-GB" dirty="0"/>
          </a:p>
          <a:p>
            <a:r>
              <a:rPr lang="en-GB" dirty="0"/>
              <a:t>cont,sold</a:t>
            </a:r>
          </a:p>
          <a:p>
            <a:r>
              <a:rPr lang="en-GB" dirty="0"/>
              <a:t>A1,1000</a:t>
            </a:r>
          </a:p>
          <a:p>
            <a:r>
              <a:rPr lang="en-GB" dirty="0"/>
              <a:t>A2,2400</a:t>
            </a:r>
          </a:p>
          <a:p>
            <a:r>
              <a:rPr lang="en-GB" dirty="0"/>
              <a:t>A3,3000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B5F498-AFAC-AFAE-60AC-097CC79FF16B}"/>
              </a:ext>
            </a:extLst>
          </p:cNvPr>
          <p:cNvCxnSpPr/>
          <p:nvPr/>
        </p:nvCxnSpPr>
        <p:spPr>
          <a:xfrm>
            <a:off x="6140450" y="3657600"/>
            <a:ext cx="483235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06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B518-9F36-DA24-EBE0-91F55785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70F7E1C-5332-9D06-11B8-9EDB2412F0F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85EF0-03E7-02AD-F7C8-B3479936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Reguli de consistență pentru clienți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487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1C70-C074-BE4C-2CC2-817B8182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9E742-088A-D06B-A6F1-D3CB892F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5481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C61AC1-CD8B-1F9A-B931-4D104840B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82" y="0"/>
            <a:ext cx="4454601" cy="1186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B33B52-85ED-502D-D6FE-B6F46EADD98C}"/>
              </a:ext>
            </a:extLst>
          </p:cNvPr>
          <p:cNvSpPr txBox="1"/>
          <p:nvPr/>
        </p:nvSpPr>
        <p:spPr>
          <a:xfrm>
            <a:off x="9480550" y="319435"/>
            <a:ext cx="2711450" cy="426848"/>
          </a:xfrm>
          <a:prstGeom prst="rect">
            <a:avLst/>
          </a:prstGeom>
          <a:solidFill>
            <a:srgbClr val="E97132"/>
          </a:solidFill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defRPr>
            </a:lvl1pPr>
          </a:lstStyle>
          <a:p>
            <a:r>
              <a:rPr lang="en-GB" dirty="0"/>
              <a:t>clienti.xlsx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C4CE2-ABED-2C51-C14A-1AD81C825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382" y="1383220"/>
            <a:ext cx="4454601" cy="21682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E9FCAB-FBB6-79E8-4670-EB2A1E49D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4286" y="5791201"/>
            <a:ext cx="8417715" cy="1066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D7944-89C9-E152-D757-D791D2AAD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4050" y="1383220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14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8FFE-A3EA-4F91-ACE2-E08CA2CC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C7C61893-51A9-BA4F-3E1D-B416F8FD0C23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980D7-C22A-128E-5CCC-0AEB21F5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Event Notifier simplificat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714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2B84-76C2-95BE-0F76-C68B6629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E6D63-B606-C6D7-5D83-CC732EF4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67034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507466-D4CE-FB9A-FDBD-BC430D14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00" y="144486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53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DF878-1AD0-CAAE-9A1B-BD7A1E50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C9DF0B8-A70E-BA69-6D6B-195BBE6FD782}"/>
              </a:ext>
            </a:extLst>
          </p:cNvPr>
          <p:cNvSpPr/>
          <p:nvPr/>
        </p:nvSpPr>
        <p:spPr>
          <a:xfrm>
            <a:off x="1606550" y="1114814"/>
            <a:ext cx="8978900" cy="4406900"/>
          </a:xfrm>
          <a:prstGeom prst="round2Diag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 w="762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5FE29-FE0A-AFF2-1820-DDF2FD5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793" y="2649132"/>
            <a:ext cx="8584834" cy="1325563"/>
          </a:xfrm>
        </p:spPr>
        <p:txBody>
          <a:bodyPr>
            <a:noAutofit/>
          </a:bodyPr>
          <a:lstStyle/>
          <a:p>
            <a:pPr algn="ctr"/>
            <a:r>
              <a:rPr lang="it-IT" sz="7200" dirty="0">
                <a:solidFill>
                  <a:schemeClr val="accent2">
                    <a:lumMod val="75000"/>
                  </a:schemeClr>
                </a:solidFill>
              </a:rPr>
              <a:t>Count down</a:t>
            </a:r>
            <a:endParaRPr lang="en-GB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79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D0D0-A294-772B-289C-80D61AB9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DCB27-4D45-4C22-3986-EFABC85C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4889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52D854-7D74-E82E-BB3D-6AEC8345F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50" y="1491459"/>
            <a:ext cx="3670069" cy="39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72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CF7-1C91-8859-1C1C-5BA0A39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07F115-27D4-6409-4402-BE5AE61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50" y="2018509"/>
            <a:ext cx="3670069" cy="3968262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34E66020-5D37-54F4-5532-A744C8C185B9}"/>
              </a:ext>
            </a:extLst>
          </p:cNvPr>
          <p:cNvSpPr/>
          <p:nvPr/>
        </p:nvSpPr>
        <p:spPr>
          <a:xfrm>
            <a:off x="3807181" y="1160913"/>
            <a:ext cx="2392659" cy="893518"/>
          </a:xfrm>
          <a:prstGeom prst="wedgeRoundRectCallout">
            <a:avLst>
              <a:gd name="adj1" fmla="val 47328"/>
              <a:gd name="adj2" fmla="val 11346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Ză end!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36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575</TotalTime>
  <Words>607</Words>
  <Application>Microsoft Office PowerPoint</Application>
  <PresentationFormat>Widescreen</PresentationFormat>
  <Paragraphs>94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Wingdings</vt:lpstr>
      <vt:lpstr>Office Theme</vt:lpstr>
      <vt:lpstr>Procesarea și conversia datelor din fișiere, validare și automatizări practice</vt:lpstr>
      <vt:lpstr>Cuprins</vt:lpstr>
      <vt:lpstr>Plotare Date din CSV</vt:lpstr>
      <vt:lpstr>PowerPoint Presentation</vt:lpstr>
      <vt:lpstr>PowerPoint Presentation</vt:lpstr>
      <vt:lpstr>Validare input din Entry</vt:lpstr>
      <vt:lpstr>PowerPoint Presentation</vt:lpstr>
      <vt:lpstr>Legarea butonului Check de tasta Enter</vt:lpstr>
      <vt:lpstr>PowerPoint Presentation</vt:lpstr>
      <vt:lpstr>Numere cu virgulă și calcul smooth</vt:lpstr>
      <vt:lpstr>PowerPoint Presentation</vt:lpstr>
      <vt:lpstr>PowerPoint Presentation</vt:lpstr>
      <vt:lpstr>Citire CSV mare fără încărcare completă</vt:lpstr>
      <vt:lpstr>PowerPoint Presentation</vt:lpstr>
      <vt:lpstr>Verificare date lipsă și duplicate</vt:lpstr>
      <vt:lpstr>PowerPoint Presentation</vt:lpstr>
      <vt:lpstr>Comparare două fișiere CSV</vt:lpstr>
      <vt:lpstr>PowerPoint Presentation</vt:lpstr>
      <vt:lpstr>Export SQL mare în fișiere Excel mai mici</vt:lpstr>
      <vt:lpstr>PowerPoint Presentation</vt:lpstr>
      <vt:lpstr>Raport statistic pe regiuni și tipuri de clienți</vt:lpstr>
      <vt:lpstr>PowerPoint Presentation</vt:lpstr>
      <vt:lpstr>Citire toate taburile dintr-un Excel</vt:lpstr>
      <vt:lpstr>PowerPoint Presentation</vt:lpstr>
      <vt:lpstr>Citire fișier XBRL/XML și export în Excel + CSV</vt:lpstr>
      <vt:lpstr>PowerPoint Presentation</vt:lpstr>
      <vt:lpstr>Conversie Excel → XML/XBRL simplificat</vt:lpstr>
      <vt:lpstr>PowerPoint Presentation</vt:lpstr>
      <vt:lpstr>Reconciliere între sursă și țintă</vt:lpstr>
      <vt:lpstr>PowerPoint Presentation</vt:lpstr>
      <vt:lpstr>Reguli de consistență pentru clienți</vt:lpstr>
      <vt:lpstr>PowerPoint Presentation</vt:lpstr>
      <vt:lpstr>Event Notifier simplificat</vt:lpstr>
      <vt:lpstr>PowerPoint Presentation</vt:lpstr>
      <vt:lpstr>Count down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72</cp:revision>
  <dcterms:created xsi:type="dcterms:W3CDTF">2026-04-16T08:23:01Z</dcterms:created>
  <dcterms:modified xsi:type="dcterms:W3CDTF">2026-07-12T15:38:47Z</dcterms:modified>
</cp:coreProperties>
</file>