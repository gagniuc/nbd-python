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sldIdLst>
    <p:sldId id="300" r:id="rId3"/>
    <p:sldId id="299" r:id="rId4"/>
    <p:sldId id="301" r:id="rId5"/>
    <p:sldId id="256" r:id="rId6"/>
    <p:sldId id="283" r:id="rId7"/>
    <p:sldId id="265" r:id="rId8"/>
    <p:sldId id="257" r:id="rId9"/>
    <p:sldId id="259" r:id="rId10"/>
    <p:sldId id="258" r:id="rId11"/>
    <p:sldId id="272" r:id="rId12"/>
    <p:sldId id="274" r:id="rId13"/>
    <p:sldId id="269" r:id="rId14"/>
    <p:sldId id="275" r:id="rId15"/>
    <p:sldId id="261" r:id="rId16"/>
    <p:sldId id="260" r:id="rId17"/>
    <p:sldId id="262" r:id="rId18"/>
    <p:sldId id="263" r:id="rId19"/>
    <p:sldId id="264" r:id="rId20"/>
    <p:sldId id="266" r:id="rId21"/>
    <p:sldId id="267" r:id="rId22"/>
    <p:sldId id="268" r:id="rId23"/>
    <p:sldId id="273" r:id="rId24"/>
    <p:sldId id="271" r:id="rId25"/>
    <p:sldId id="279" r:id="rId26"/>
    <p:sldId id="276" r:id="rId27"/>
    <p:sldId id="280" r:id="rId28"/>
    <p:sldId id="281" r:id="rId29"/>
    <p:sldId id="282" r:id="rId30"/>
    <p:sldId id="277" r:id="rId31"/>
    <p:sldId id="287" r:id="rId32"/>
    <p:sldId id="284" r:id="rId33"/>
    <p:sldId id="285" r:id="rId34"/>
    <p:sldId id="286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7" r:id="rId43"/>
    <p:sldId id="296" r:id="rId44"/>
    <p:sldId id="381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39DA-028D-2A4E-2761-2908A1939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2228E-6B94-DDBF-C56D-E0A0D9FFE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97DE9-0EA0-3214-9723-C1A1D78C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3F8FD-3D08-4B41-A4DD-60A424B5821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D5F02-0982-AD73-6346-2B542A30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B3CEA-1D3C-0CE5-E815-52F7D96F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743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6A647-E1B4-48FD-BE81-17CBF5B9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9CB99-508A-386F-2422-389436B5D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BC8DB-2FFF-A64F-9252-8535DA4D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3F8FD-3D08-4B41-A4DD-60A424B5821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1A78B-5F98-C52A-CFFF-8C0AEB879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F9E3E-4B87-9D54-05B9-90750E37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325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BDE4D-3141-C35F-3310-AA1FD3E84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A6A6C-992E-B83C-DB3E-4728C242B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755A6-71AA-B3B2-3C24-DFD37CFD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3F8FD-3D08-4B41-A4DD-60A424B5821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30E14-F833-3CDA-3B8D-1B6281CE0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EBFB5-B51A-71D6-EF8B-FDE5EF1B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58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122A1-F5AE-770D-E73C-DCD33716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31E69-2CCD-7FC3-4386-AE3F571BD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D8475-B591-3C10-2AB4-B612E4F88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DAD8C-CAF7-BA7C-FFCB-BDE4DB0A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3F8FD-3D08-4B41-A4DD-60A424B5821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EA20E-9F87-4F89-B1D2-28887D1E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28069-A89A-C2D4-40C7-A130393A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645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D822-257E-8198-EC17-AB6B65EA0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066D3-EAFB-7EDA-E188-1C3FFFF3A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A063A-3492-9907-98A5-D1CDF35FD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3571B0-6CB0-41BE-3010-41A04AC20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BCD995-2240-9B04-167A-6CBAD3B3B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79980-0B63-BDB6-965C-BE4C73E81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3F8FD-3D08-4B41-A4DD-60A424B5821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355469-E700-97B6-9B2E-6606FCCC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E748B-77A6-09E4-8D05-01E91CD97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7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CFE0-B80F-6D8E-D516-897665CA5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DD3BBF-5981-A9A5-1E2F-C269708E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3F8FD-3D08-4B41-A4DD-60A424B5821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95BB9-8C75-AC09-6155-B7FB58A81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EF7A5-2307-2B00-C112-3E9682C1E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246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2D8350-9730-C23B-3ACD-43138E146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3F8FD-3D08-4B41-A4DD-60A424B5821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6DB97-42BD-5EF8-5B35-BA77C3337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EDE69-75E0-FB63-E5E2-96D1F7C99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714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E2951-C8DA-017C-4169-0262DBE8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044A8-C05E-B3F3-A0A1-DABD630E3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7CF7D-8E40-6F5A-B500-BFAEF720D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AF8D3-1359-DEF2-34DD-94EA10C8B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3F8FD-3D08-4B41-A4DD-60A424B5821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3F4745-F43D-C7EA-7634-96A96707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16017-A4BE-8D37-5267-84E21ABEF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98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9AE3-5881-5C96-1A39-C41099D8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DC9A0A-EB86-4B2A-C908-1EDCC788D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E0DE8-2EC9-2521-1500-E61BAE0DE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36AF6-0CFB-840E-BD0C-A94908C3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3F8FD-3D08-4B41-A4DD-60A424B5821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A6298-56E2-B496-BA47-55AD0019D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C19AE-FD6A-0D17-D7DF-F64F9E94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3409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3E47-1366-3E30-DCE4-305DB581E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A4E2E-CCE2-8BCD-B04C-61913078D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953B2-0379-B3F7-73D0-028477B76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3F8FD-3D08-4B41-A4DD-60A424B5821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D3582-3129-C6F1-C9AB-68D665B0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BC3D3-3C4E-4A3C-AE01-A97E9492C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99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7BD1D3-09B6-84DE-87A1-2B5F801D1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612F5-528E-F9FB-0CC4-CC825AB53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86029-8271-AC36-D789-57281535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3F8FD-3D08-4B41-A4DD-60A424B5821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90C03-0916-2002-A1C3-180EBE3C7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4776B-B833-8192-F32F-0E5B961E7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507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098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464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590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245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421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581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4551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8360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0031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3375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999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3F2945-211A-5000-E087-59362E6B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D3775-CCA0-C163-F6EF-2D2055593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FB3CB-0A58-3F92-12DF-C1DA1FCA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53F8FD-3D08-4B41-A4DD-60A424B5821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9741B-E88C-0EB6-F89C-7E9B3A70A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61078-EE13-AEE9-AEE0-0E8AE902B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727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53F8FD-3D08-4B41-A4DD-60A424B5821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70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omeniu.com/upload_si_primeste_json/" TargetMode="External"/><Relationship Id="rId2" Type="http://schemas.openxmlformats.org/officeDocument/2006/relationships/hyperlink" Target="http://192.168.1.5/upload_si_primeste_json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me NBD - NBD">
            <a:extLst>
              <a:ext uri="{FF2B5EF4-FFF2-40B4-BE49-F238E27FC236}">
                <a16:creationId xmlns:a16="http://schemas.microsoft.com/office/drawing/2014/main" id="{216ECC55-C12A-FF3D-44B7-5CF8ECB11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27" y="5885049"/>
            <a:ext cx="2228545" cy="67901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D4043AE-F419-F81C-8D93-C1FE2977D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900" y="1757363"/>
            <a:ext cx="9144000" cy="1995487"/>
          </a:xfrm>
        </p:spPr>
        <p:txBody>
          <a:bodyPr>
            <a:normAutofit/>
          </a:bodyPr>
          <a:lstStyle/>
          <a:p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Sisteme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Client-Server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Execuție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la Distanță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03CA3-A575-95E2-234D-911D2AE69E87}"/>
              </a:ext>
            </a:extLst>
          </p:cNvPr>
          <p:cNvSpPr txBox="1"/>
          <p:nvPr/>
        </p:nvSpPr>
        <p:spPr>
          <a:xfrm>
            <a:off x="5156200" y="3752850"/>
            <a:ext cx="187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Paul A. Gagniuc</a:t>
            </a:r>
          </a:p>
        </p:txBody>
      </p:sp>
    </p:spTree>
    <p:extLst>
      <p:ext uri="{BB962C8B-B14F-4D97-AF65-F5344CB8AC3E}">
        <p14:creationId xmlns:p14="http://schemas.microsoft.com/office/powerpoint/2010/main" val="191808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FE5B-25C8-8490-884F-40A1C9C53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3" y="174625"/>
            <a:ext cx="3556000" cy="1325563"/>
          </a:xfrm>
        </p:spPr>
        <p:txBody>
          <a:bodyPr/>
          <a:lstStyle/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Cuprins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BB5EC-AB77-6A02-3B85-F756F77659FB}"/>
              </a:ext>
            </a:extLst>
          </p:cNvPr>
          <p:cNvSpPr txBox="1"/>
          <p:nvPr/>
        </p:nvSpPr>
        <p:spPr>
          <a:xfrm>
            <a:off x="3844925" y="742946"/>
            <a:ext cx="4502150" cy="557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Actualizarea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automată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paginii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web.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Capturarea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traficului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rețea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cu Wireshark.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Vizualizarea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datelor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în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clar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în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rețea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Necesitatea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criptării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comunicațiilor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Modificarea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endpoint-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urilor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fără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schimbarea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logicii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clientului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Injectarea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și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transmiterea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valori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numerice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Generarea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trenduri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grafice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Transferul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fișiere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către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un server la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distanță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Upload multipart/form-data.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Lucrul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cu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căi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fișiere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în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Python.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Salvarea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fișierelor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pe server.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Construirea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jurnal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transferuri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răspunsurilor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structurate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JSON.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Generarea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listelor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fișiere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pe server.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Parsarea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și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salvarea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JSON-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ului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primit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la server.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Persistența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locală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datelor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JSON.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Construirea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chat client-server.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Utilizarea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Tkinter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pentru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GUI.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Actualizarea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dinamică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unei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interfețe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grafice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Gestionarea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utilizatorilor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conectați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54D81-CC59-8061-3F92-0570BD56F359}"/>
              </a:ext>
            </a:extLst>
          </p:cNvPr>
          <p:cNvSpPr txBox="1"/>
          <p:nvPr/>
        </p:nvSpPr>
        <p:spPr>
          <a:xfrm>
            <a:off x="7962900" y="711198"/>
            <a:ext cx="4419600" cy="5168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Schimbul de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mesaje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în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timp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real.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Verificarea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integrității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documentelor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Generarea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hash-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urilor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MD5.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Construirea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registru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veridicitate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Validarea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document pe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baza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hash-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ului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Diferența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dintre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document original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și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document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modificat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Execuția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la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distanță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scripturilor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Python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PHP.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Utilizarea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shell_exec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popen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și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pclose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Transmiterea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parametrilor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către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scripturi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Python.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Controlul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aplicațiilor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GUI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HTTP.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popup-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uri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parametrizabile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Utilizarea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argumentelor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din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linia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comandă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sys.argv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Gestionarea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ferestrelor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Tkinter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Automatizarea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închiderii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aplicațiilor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timer.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Execuția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la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distanță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executabilelor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compilate.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Compilarea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Python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în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.exe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cu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PyInstaller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Diferența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dintre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script Python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și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executabil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compilat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Flux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complet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  <a:b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 Python → HTTP → PHP →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execuție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aplicație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pe server.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8D6E36-948E-C0DB-5648-67ECFB3DD2ED}"/>
              </a:ext>
            </a:extLst>
          </p:cNvPr>
          <p:cNvSpPr txBox="1"/>
          <p:nvPr/>
        </p:nvSpPr>
        <p:spPr>
          <a:xfrm>
            <a:off x="225425" y="1584715"/>
            <a:ext cx="6096000" cy="473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Ce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este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un endpoint HTTP.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Ce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este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un REST API.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Comunicarea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client-server.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Structura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unei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cereri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HTTP.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Trimiterea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datelor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metoda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POST.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Comunicarea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IP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și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port.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Utilizarea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serverului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local XAMPP.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Rolul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directorului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htdocs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Scrierea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client HTTP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în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Python.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Utilizarea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urllib.request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și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urllib.parse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Codificarea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parametrilor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HTTP.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Recepția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și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procesarea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răspunsului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serverului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Construirea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server PHP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simplu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Salvarea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datelor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pe server.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Identificarea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clientului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IP.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Gestionarea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mesajelor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text.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Construirea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unei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interfețe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server live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în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browser.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88A616-FC32-7757-3A9F-A24655DC4878}"/>
              </a:ext>
            </a:extLst>
          </p:cNvPr>
          <p:cNvCxnSpPr>
            <a:cxnSpLocks/>
          </p:cNvCxnSpPr>
          <p:nvPr/>
        </p:nvCxnSpPr>
        <p:spPr>
          <a:xfrm>
            <a:off x="285750" y="1304315"/>
            <a:ext cx="332105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080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7F52-08E8-CCAE-5803-AF09D192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Titluri</a:t>
            </a:r>
            <a:r>
              <a:rPr lang="en-US" dirty="0"/>
              <a:t> </a:t>
            </a:r>
            <a:r>
              <a:rPr lang="en-US" dirty="0" err="1"/>
              <a:t>sectiuni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FF849-F0A9-C9C5-01A8-D72692DCB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/>
              <a:t>Trimiterea</a:t>
            </a:r>
            <a:r>
              <a:rPr lang="en-GB" dirty="0"/>
              <a:t> de </a:t>
            </a:r>
            <a:r>
              <a:rPr lang="en-GB" dirty="0" err="1"/>
              <a:t>mesaje</a:t>
            </a:r>
            <a:r>
              <a:rPr lang="en-GB" dirty="0"/>
              <a:t> text pe </a:t>
            </a:r>
            <a:r>
              <a:rPr lang="en-GB" dirty="0" err="1"/>
              <a:t>serverul</a:t>
            </a:r>
            <a:r>
              <a:rPr lang="en-GB" dirty="0"/>
              <a:t> de la </a:t>
            </a:r>
            <a:r>
              <a:rPr lang="en-GB" dirty="0" err="1"/>
              <a:t>distanta</a:t>
            </a:r>
            <a:endParaRPr lang="en-GB" dirty="0"/>
          </a:p>
          <a:p>
            <a:r>
              <a:rPr lang="en-GB" dirty="0" err="1"/>
              <a:t>Injectie</a:t>
            </a:r>
            <a:r>
              <a:rPr lang="en-GB" dirty="0"/>
              <a:t> trend</a:t>
            </a:r>
          </a:p>
          <a:p>
            <a:r>
              <a:rPr lang="en-GB" dirty="0"/>
              <a:t>Upload de </a:t>
            </a:r>
            <a:r>
              <a:rPr lang="en-GB" dirty="0" err="1"/>
              <a:t>fisiere</a:t>
            </a:r>
            <a:r>
              <a:rPr lang="en-GB" dirty="0"/>
              <a:t> pe </a:t>
            </a:r>
            <a:r>
              <a:rPr lang="en-GB" dirty="0" err="1"/>
              <a:t>serverul</a:t>
            </a:r>
            <a:r>
              <a:rPr lang="en-GB" dirty="0"/>
              <a:t> de la </a:t>
            </a:r>
            <a:r>
              <a:rPr lang="en-GB" dirty="0" err="1"/>
              <a:t>distanta</a:t>
            </a:r>
            <a:endParaRPr lang="en-GB" dirty="0"/>
          </a:p>
          <a:p>
            <a:r>
              <a:rPr lang="en-GB" dirty="0"/>
              <a:t>Upload + </a:t>
            </a:r>
            <a:r>
              <a:rPr lang="en-GB" dirty="0" err="1"/>
              <a:t>răspuns</a:t>
            </a:r>
            <a:r>
              <a:rPr lang="en-GB" dirty="0"/>
              <a:t> </a:t>
            </a:r>
            <a:r>
              <a:rPr lang="en-GB" dirty="0" err="1"/>
              <a:t>structurat</a:t>
            </a:r>
            <a:r>
              <a:rPr lang="en-GB" dirty="0"/>
              <a:t> + info </a:t>
            </a:r>
            <a:r>
              <a:rPr lang="en-GB" dirty="0" err="1"/>
              <a:t>fișier</a:t>
            </a:r>
            <a:r>
              <a:rPr lang="en-GB" dirty="0"/>
              <a:t> </a:t>
            </a:r>
            <a:r>
              <a:rPr lang="en-GB" dirty="0" err="1"/>
              <a:t>primit</a:t>
            </a:r>
            <a:endParaRPr lang="en-GB" dirty="0"/>
          </a:p>
          <a:p>
            <a:r>
              <a:rPr lang="en-GB" dirty="0"/>
              <a:t>Upload + </a:t>
            </a:r>
            <a:r>
              <a:rPr lang="en-GB" dirty="0" err="1"/>
              <a:t>răspuns</a:t>
            </a:r>
            <a:r>
              <a:rPr lang="en-GB" dirty="0"/>
              <a:t> </a:t>
            </a:r>
            <a:r>
              <a:rPr lang="en-GB" dirty="0" err="1"/>
              <a:t>structurat</a:t>
            </a:r>
            <a:r>
              <a:rPr lang="en-GB" dirty="0"/>
              <a:t> + </a:t>
            </a:r>
            <a:r>
              <a:rPr lang="en-GB" dirty="0" err="1"/>
              <a:t>listă</a:t>
            </a:r>
            <a:r>
              <a:rPr lang="en-GB" dirty="0"/>
              <a:t> de </a:t>
            </a:r>
            <a:r>
              <a:rPr lang="en-GB" dirty="0" err="1"/>
              <a:t>fișiere</a:t>
            </a:r>
            <a:r>
              <a:rPr lang="en-GB" dirty="0"/>
              <a:t> primate</a:t>
            </a:r>
          </a:p>
          <a:p>
            <a:r>
              <a:rPr lang="en-GB" dirty="0"/>
              <a:t>Chat</a:t>
            </a:r>
          </a:p>
          <a:p>
            <a:r>
              <a:rPr lang="en-GB" dirty="0" err="1"/>
              <a:t>Verificare</a:t>
            </a:r>
            <a:r>
              <a:rPr lang="en-GB" dirty="0"/>
              <a:t> </a:t>
            </a:r>
            <a:r>
              <a:rPr lang="en-GB" dirty="0" err="1"/>
              <a:t>integritate</a:t>
            </a:r>
            <a:r>
              <a:rPr lang="en-GB" dirty="0"/>
              <a:t> </a:t>
            </a:r>
            <a:r>
              <a:rPr lang="en-GB" dirty="0" err="1"/>
              <a:t>documente</a:t>
            </a:r>
            <a:endParaRPr lang="en-GB" dirty="0"/>
          </a:p>
          <a:p>
            <a:r>
              <a:rPr lang="en-GB" dirty="0" err="1"/>
              <a:t>Execuție</a:t>
            </a:r>
            <a:r>
              <a:rPr lang="en-GB" dirty="0"/>
              <a:t> la </a:t>
            </a:r>
            <a:r>
              <a:rPr lang="en-GB" dirty="0" err="1"/>
              <a:t>distanță</a:t>
            </a:r>
            <a:r>
              <a:rPr lang="en-GB" dirty="0"/>
              <a:t> Python </a:t>
            </a:r>
            <a:r>
              <a:rPr lang="en-GB" dirty="0" err="1"/>
              <a:t>prin</a:t>
            </a:r>
            <a:r>
              <a:rPr lang="en-GB" dirty="0"/>
              <a:t> PHP</a:t>
            </a:r>
          </a:p>
          <a:p>
            <a:r>
              <a:rPr lang="en-GB" dirty="0" err="1"/>
              <a:t>Execuție</a:t>
            </a:r>
            <a:r>
              <a:rPr lang="en-GB" dirty="0"/>
              <a:t> la </a:t>
            </a:r>
            <a:r>
              <a:rPr lang="en-GB" dirty="0" err="1"/>
              <a:t>distanta</a:t>
            </a:r>
            <a:r>
              <a:rPr lang="en-GB" dirty="0"/>
              <a:t> a </a:t>
            </a:r>
            <a:r>
              <a:rPr lang="en-GB" dirty="0" err="1"/>
              <a:t>fisierelor</a:t>
            </a:r>
            <a:r>
              <a:rPr lang="en-GB" dirty="0"/>
              <a:t> compilate (*.exe)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737342-093F-0813-14A8-3FDD096EFF5D}"/>
              </a:ext>
            </a:extLst>
          </p:cNvPr>
          <p:cNvCxnSpPr>
            <a:cxnSpLocks/>
          </p:cNvCxnSpPr>
          <p:nvPr/>
        </p:nvCxnSpPr>
        <p:spPr>
          <a:xfrm>
            <a:off x="566576" y="1374165"/>
            <a:ext cx="11333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455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C55ED9A7-577D-28C6-679D-61A166EEDB1E}"/>
              </a:ext>
            </a:extLst>
          </p:cNvPr>
          <p:cNvSpPr/>
          <p:nvPr/>
        </p:nvSpPr>
        <p:spPr>
          <a:xfrm>
            <a:off x="1606550" y="644685"/>
            <a:ext cx="8978900" cy="3526892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A1F334-4EF8-6B48-3D88-A5ED64F3D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9331"/>
            <a:ext cx="9144000" cy="1404869"/>
          </a:xfrm>
        </p:spPr>
        <p:txBody>
          <a:bodyPr/>
          <a:lstStyle/>
          <a:p>
            <a:r>
              <a:rPr lang="en-GB" dirty="0"/>
              <a:t>endpoint HTTP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D3330-CC9F-B6DF-8796-525ACD359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66947"/>
            <a:ext cx="9144000" cy="1655762"/>
          </a:xfrm>
        </p:spPr>
        <p:txBody>
          <a:bodyPr/>
          <a:lstStyle/>
          <a:p>
            <a:r>
              <a:rPr lang="en-GB" dirty="0"/>
              <a:t>Este un </a:t>
            </a:r>
            <a:r>
              <a:rPr lang="en-GB" dirty="0" err="1"/>
              <a:t>punct</a:t>
            </a:r>
            <a:r>
              <a:rPr lang="en-GB" dirty="0"/>
              <a:t> de </a:t>
            </a:r>
            <a:r>
              <a:rPr lang="en-GB" dirty="0" err="1"/>
              <a:t>acces</a:t>
            </a:r>
            <a:r>
              <a:rPr lang="en-GB" dirty="0"/>
              <a:t> </a:t>
            </a:r>
            <a:r>
              <a:rPr lang="en-GB" dirty="0" err="1"/>
              <a:t>către</a:t>
            </a:r>
            <a:r>
              <a:rPr lang="en-GB" dirty="0"/>
              <a:t> o </a:t>
            </a:r>
            <a:r>
              <a:rPr lang="en-GB" dirty="0" err="1"/>
              <a:t>funcție</a:t>
            </a:r>
            <a:r>
              <a:rPr lang="en-GB" dirty="0"/>
              <a:t>/</a:t>
            </a:r>
            <a:r>
              <a:rPr lang="en-GB" dirty="0" err="1"/>
              <a:t>serviciu</a:t>
            </a:r>
            <a:r>
              <a:rPr lang="en-GB" dirty="0"/>
              <a:t> de pe server.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FD297-C5EB-BFE7-9925-9994AD203D50}"/>
              </a:ext>
            </a:extLst>
          </p:cNvPr>
          <p:cNvSpPr txBox="1"/>
          <p:nvPr/>
        </p:nvSpPr>
        <p:spPr>
          <a:xfrm>
            <a:off x="4290774" y="5074654"/>
            <a:ext cx="40303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Nota: un REST API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un server care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oferă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funcții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prin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adrese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web.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AC1469-9AD9-7ACC-D862-121F6FE10872}"/>
              </a:ext>
            </a:extLst>
          </p:cNvPr>
          <p:cNvSpPr txBox="1"/>
          <p:nvPr/>
        </p:nvSpPr>
        <p:spPr>
          <a:xfrm>
            <a:off x="4290774" y="2806184"/>
            <a:ext cx="60949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Ex: </a:t>
            </a:r>
          </a:p>
          <a:p>
            <a:r>
              <a:rPr lang="en-GB" dirty="0">
                <a:hlinkClick r:id="rId2"/>
              </a:rPr>
              <a:t>http://192.168.1.5/upload_si_primeste_json/</a:t>
            </a:r>
            <a:endParaRPr lang="en-GB" dirty="0"/>
          </a:p>
          <a:p>
            <a:r>
              <a:rPr lang="en-GB" dirty="0">
                <a:hlinkClick r:id="rId3"/>
              </a:rPr>
              <a:t>http://www.domeniu.com/upload_si_primeste_json/</a:t>
            </a:r>
            <a:endParaRPr lang="en-GB" dirty="0"/>
          </a:p>
          <a:p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27ED08-4B7F-58F7-DFF9-15313BB31330}"/>
              </a:ext>
            </a:extLst>
          </p:cNvPr>
          <p:cNvSpPr txBox="1"/>
          <p:nvPr/>
        </p:nvSpPr>
        <p:spPr>
          <a:xfrm>
            <a:off x="4290774" y="5857803"/>
            <a:ext cx="6094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Clientul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trimite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cerere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HTTP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către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acea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adresă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iar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serverul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răspunde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cu date, de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obicei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JSON.</a:t>
            </a:r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509090ED-6877-EDED-6144-14B5DBFD595C}"/>
              </a:ext>
            </a:extLst>
          </p:cNvPr>
          <p:cNvSpPr/>
          <p:nvPr/>
        </p:nvSpPr>
        <p:spPr>
          <a:xfrm>
            <a:off x="8367746" y="4268793"/>
            <a:ext cx="480225" cy="1655762"/>
          </a:xfrm>
          <a:prstGeom prst="upArrow">
            <a:avLst>
              <a:gd name="adj1" fmla="val 50000"/>
              <a:gd name="adj2" fmla="val 100685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49A5F3-918D-0800-CA17-4DBC5997C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50" y="4939185"/>
            <a:ext cx="3204375" cy="15344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5543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2DFA6DBC-3448-B7AA-EC6A-6C83B3D74B95}"/>
              </a:ext>
            </a:extLst>
          </p:cNvPr>
          <p:cNvSpPr/>
          <p:nvPr/>
        </p:nvSpPr>
        <p:spPr>
          <a:xfrm>
            <a:off x="481639" y="1480143"/>
            <a:ext cx="11267414" cy="4914078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D0B1D-9479-1075-19A7-FBCED553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823"/>
            <a:ext cx="10515600" cy="1113644"/>
          </a:xfrm>
        </p:spPr>
        <p:txBody>
          <a:bodyPr/>
          <a:lstStyle/>
          <a:p>
            <a:r>
              <a:rPr lang="en-US" dirty="0"/>
              <a:t>Server local </a:t>
            </a:r>
            <a:r>
              <a:rPr lang="en-US" dirty="0">
                <a:solidFill>
                  <a:srgbClr val="C00000"/>
                </a:solidFill>
              </a:rPr>
              <a:t>XAMPP</a:t>
            </a:r>
            <a:endParaRPr lang="en-GB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05122-678D-600A-F530-613157285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20" y="2649365"/>
            <a:ext cx="4957895" cy="3130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267798-1E85-D796-6117-D97E8C95E676}"/>
              </a:ext>
            </a:extLst>
          </p:cNvPr>
          <p:cNvSpPr txBox="1"/>
          <p:nvPr/>
        </p:nvSpPr>
        <p:spPr>
          <a:xfrm>
            <a:off x="6346290" y="2035023"/>
            <a:ext cx="2945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C:\xampp\htdocs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CDF287-EE3A-DD79-CE4C-D333FE32F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290" y="2649364"/>
            <a:ext cx="4906546" cy="31305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9CEE85-5B70-92A0-9883-38B0814DE2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811" y="156183"/>
            <a:ext cx="2548889" cy="18438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070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F79C9-C597-9EE3-86C6-EA82CA9E0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D897D718-0EB0-29A2-741B-F470CE3012F3}"/>
              </a:ext>
            </a:extLst>
          </p:cNvPr>
          <p:cNvSpPr/>
          <p:nvPr/>
        </p:nvSpPr>
        <p:spPr>
          <a:xfrm>
            <a:off x="1606550" y="8227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58C5B-56F7-B28B-0854-B466AB0D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3570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Trimiterea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de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mesaje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text pe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serverul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de la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distanta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BC79AE-F701-7BA5-94FF-B135C8F33ADD}"/>
              </a:ext>
            </a:extLst>
          </p:cNvPr>
          <p:cNvGrpSpPr/>
          <p:nvPr/>
        </p:nvGrpSpPr>
        <p:grpSpPr>
          <a:xfrm>
            <a:off x="2325379" y="5538873"/>
            <a:ext cx="7368924" cy="928497"/>
            <a:chOff x="2414279" y="5802009"/>
            <a:chExt cx="7368924" cy="92849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7C41B21-C11D-D0D2-BFBF-70AD326C6256}"/>
                </a:ext>
              </a:extLst>
            </p:cNvPr>
            <p:cNvSpPr/>
            <p:nvPr/>
          </p:nvSpPr>
          <p:spPr>
            <a:xfrm>
              <a:off x="2414279" y="5986676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</a:t>
              </a:r>
              <a:endParaRPr lang="en-GB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71D3BAC-0EAF-8ACA-95FE-A3CA9F22A454}"/>
                </a:ext>
              </a:extLst>
            </p:cNvPr>
            <p:cNvSpPr/>
            <p:nvPr/>
          </p:nvSpPr>
          <p:spPr>
            <a:xfrm>
              <a:off x="7599168" y="5986675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Server</a:t>
              </a:r>
              <a:endParaRPr lang="en-GB" dirty="0"/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95CEA8E2-6CE2-6F28-0F55-743F45159E24}"/>
                </a:ext>
              </a:extLst>
            </p:cNvPr>
            <p:cNvSpPr/>
            <p:nvPr/>
          </p:nvSpPr>
          <p:spPr>
            <a:xfrm>
              <a:off x="4782510" y="6085352"/>
              <a:ext cx="2664259" cy="374970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342BCE-B789-0594-E5BC-4E90DB27950C}"/>
                </a:ext>
              </a:extLst>
            </p:cNvPr>
            <p:cNvSpPr txBox="1"/>
            <p:nvPr/>
          </p:nvSpPr>
          <p:spPr>
            <a:xfrm>
              <a:off x="5705133" y="5802009"/>
              <a:ext cx="6364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text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9F472B-35FB-597A-D860-F71118336328}"/>
                </a:ext>
              </a:extLst>
            </p:cNvPr>
            <p:cNvSpPr txBox="1"/>
            <p:nvPr/>
          </p:nvSpPr>
          <p:spPr>
            <a:xfrm>
              <a:off x="5605588" y="6361174"/>
              <a:ext cx="11586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I</a:t>
              </a:r>
              <a:r>
                <a:rPr lang="en-GB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P:port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4934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72B98-E120-68D8-D0E0-548515336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69600" cy="1325563"/>
          </a:xfrm>
        </p:spPr>
        <p:txBody>
          <a:bodyPr/>
          <a:lstStyle/>
          <a:p>
            <a:r>
              <a:rPr lang="en-US" dirty="0" err="1"/>
              <a:t>Serverul</a:t>
            </a:r>
            <a:r>
              <a:rPr lang="en-US" dirty="0"/>
              <a:t> central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asteapta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mesaje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la client …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937D89-E8CA-50C9-D2F6-19FE22CFD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13" y="2287339"/>
            <a:ext cx="9421540" cy="35533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1A5093-0956-4A5B-0B39-6255FCF45706}"/>
              </a:ext>
            </a:extLst>
          </p:cNvPr>
          <p:cNvCxnSpPr>
            <a:cxnSpLocks/>
          </p:cNvCxnSpPr>
          <p:nvPr/>
        </p:nvCxnSpPr>
        <p:spPr>
          <a:xfrm>
            <a:off x="477676" y="1736115"/>
            <a:ext cx="11333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903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A5B5A-E2F0-5518-DEC3-01C47FEA7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852"/>
            <a:ext cx="10515600" cy="784225"/>
          </a:xfrm>
        </p:spPr>
        <p:txBody>
          <a:bodyPr/>
          <a:lstStyle/>
          <a:p>
            <a:r>
              <a:rPr lang="en-US" dirty="0" err="1"/>
              <a:t>Mesajele</a:t>
            </a:r>
            <a:r>
              <a:rPr lang="en-US" dirty="0"/>
              <a:t> se </a:t>
            </a:r>
            <a:r>
              <a:rPr lang="en-US" dirty="0" err="1"/>
              <a:t>trimit</a:t>
            </a:r>
            <a:r>
              <a:rPr lang="en-US" dirty="0"/>
              <a:t> din </a:t>
            </a:r>
            <a:r>
              <a:rPr lang="en-US" dirty="0" err="1"/>
              <a:t>consola</a:t>
            </a:r>
            <a:r>
              <a:rPr lang="en-US" dirty="0"/>
              <a:t>: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E29C2B-558B-5CB7-FE6F-70F2EEDE6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7077"/>
            <a:ext cx="12192000" cy="14267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646625D-795E-4DA7-6C6C-34C8F3E2D020}"/>
              </a:ext>
            </a:extLst>
          </p:cNvPr>
          <p:cNvSpPr txBox="1">
            <a:spLocks/>
          </p:cNvSpPr>
          <p:nvPr/>
        </p:nvSpPr>
        <p:spPr>
          <a:xfrm>
            <a:off x="0" y="2667191"/>
            <a:ext cx="10515600" cy="784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Si sunt </a:t>
            </a:r>
            <a:r>
              <a:rPr lang="en-US" dirty="0" err="1"/>
              <a:t>receptionate</a:t>
            </a:r>
            <a:r>
              <a:rPr lang="en-US" dirty="0"/>
              <a:t> de </a:t>
            </a:r>
            <a:r>
              <a:rPr lang="en-US" dirty="0" err="1"/>
              <a:t>serverul</a:t>
            </a:r>
            <a:r>
              <a:rPr lang="en-US" dirty="0"/>
              <a:t> de la </a:t>
            </a:r>
            <a:r>
              <a:rPr lang="en-US" dirty="0" err="1"/>
              <a:t>distanta</a:t>
            </a:r>
            <a:r>
              <a:rPr lang="en-US" dirty="0"/>
              <a:t>: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F6BCD-185C-E6CF-974C-2D9D91026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79802"/>
            <a:ext cx="12192000" cy="34781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4760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20681-DF8A-D87F-6E30-E1B36BBF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385" y="218207"/>
            <a:ext cx="5397500" cy="1325563"/>
          </a:xfr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Scrieti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partea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de client: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E7B575-8AF7-5D59-961A-0A3FF3093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6305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201ABF-62A2-E18B-249A-C2A7381942E9}"/>
              </a:ext>
            </a:extLst>
          </p:cNvPr>
          <p:cNvSpPr txBox="1"/>
          <p:nvPr/>
        </p:nvSpPr>
        <p:spPr>
          <a:xfrm>
            <a:off x="5683250" y="3060701"/>
            <a:ext cx="5029200" cy="711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600" dirty="0" err="1"/>
              <a:t>Transformă</a:t>
            </a:r>
            <a:r>
              <a:rPr lang="fr-FR" sz="1600" dirty="0"/>
              <a:t> </a:t>
            </a:r>
            <a:r>
              <a:rPr lang="fr-FR" sz="1600" dirty="0" err="1"/>
              <a:t>datele</a:t>
            </a:r>
            <a:r>
              <a:rPr lang="fr-FR" sz="1600" dirty="0"/>
              <a:t> Python </a:t>
            </a:r>
            <a:r>
              <a:rPr lang="fr-FR" sz="1600" dirty="0" err="1"/>
              <a:t>într</a:t>
            </a:r>
            <a:r>
              <a:rPr lang="fr-FR" sz="1600" dirty="0"/>
              <a:t>-un </a:t>
            </a:r>
            <a:r>
              <a:rPr lang="fr-FR" sz="1600" dirty="0" err="1"/>
              <a:t>text</a:t>
            </a:r>
            <a:r>
              <a:rPr lang="fr-FR" sz="1600" dirty="0"/>
              <a:t> </a:t>
            </a:r>
            <a:r>
              <a:rPr lang="fr-FR" sz="1600" dirty="0" err="1"/>
              <a:t>compatibil</a:t>
            </a:r>
            <a:r>
              <a:rPr lang="fr-FR" sz="1600" dirty="0"/>
              <a:t> HTTP (ex., </a:t>
            </a:r>
            <a:r>
              <a:rPr lang="fr-FR" sz="1600" dirty="0" err="1"/>
              <a:t>nume</a:t>
            </a:r>
            <a:r>
              <a:rPr lang="fr-FR" sz="1600" dirty="0"/>
              <a:t>=</a:t>
            </a:r>
            <a:r>
              <a:rPr lang="fr-FR" sz="1600" dirty="0" err="1"/>
              <a:t>Paul&amp;mesaj</a:t>
            </a:r>
            <a:r>
              <a:rPr lang="fr-FR" sz="1600" dirty="0"/>
              <a:t>=Salut), </a:t>
            </a:r>
            <a:r>
              <a:rPr lang="fr-FR" sz="1600" dirty="0" err="1"/>
              <a:t>iar</a:t>
            </a:r>
            <a:r>
              <a:rPr lang="fr-FR" sz="1600" dirty="0"/>
              <a:t> a </a:t>
            </a:r>
            <a:r>
              <a:rPr lang="fr-FR" sz="1600" dirty="0" err="1"/>
              <a:t>doua</a:t>
            </a:r>
            <a:r>
              <a:rPr lang="fr-FR" sz="1600" dirty="0"/>
              <a:t> </a:t>
            </a:r>
            <a:r>
              <a:rPr lang="fr-FR" sz="1600" dirty="0" err="1"/>
              <a:t>transformă</a:t>
            </a:r>
            <a:r>
              <a:rPr lang="fr-FR" sz="1600" dirty="0"/>
              <a:t> </a:t>
            </a:r>
            <a:r>
              <a:rPr lang="fr-FR" sz="1600" dirty="0" err="1"/>
              <a:t>acel</a:t>
            </a:r>
            <a:r>
              <a:rPr lang="fr-FR" sz="1600" dirty="0"/>
              <a:t> </a:t>
            </a:r>
            <a:r>
              <a:rPr lang="fr-FR" sz="1600" dirty="0" err="1"/>
              <a:t>text</a:t>
            </a:r>
            <a:r>
              <a:rPr lang="fr-FR" sz="1600" dirty="0"/>
              <a:t> </a:t>
            </a:r>
            <a:r>
              <a:rPr lang="fr-FR" sz="1600" dirty="0" err="1"/>
              <a:t>în</a:t>
            </a:r>
            <a:r>
              <a:rPr lang="fr-FR" sz="1600" dirty="0"/>
              <a:t> bytes </a:t>
            </a:r>
            <a:r>
              <a:rPr lang="fr-FR" sz="1600" dirty="0" err="1"/>
              <a:t>pentru</a:t>
            </a:r>
            <a:r>
              <a:rPr lang="fr-FR" sz="1600" dirty="0"/>
              <a:t> a </a:t>
            </a:r>
            <a:r>
              <a:rPr lang="fr-FR" sz="1600" dirty="0" err="1"/>
              <a:t>putea</a:t>
            </a:r>
            <a:r>
              <a:rPr lang="fr-FR" sz="1600" dirty="0"/>
              <a:t> fi </a:t>
            </a:r>
            <a:r>
              <a:rPr lang="fr-FR" sz="1600" dirty="0" err="1"/>
              <a:t>trimis</a:t>
            </a:r>
            <a:r>
              <a:rPr lang="fr-FR" sz="1600" dirty="0"/>
              <a:t> </a:t>
            </a:r>
            <a:r>
              <a:rPr lang="fr-FR" sz="1600" dirty="0" err="1"/>
              <a:t>prin</a:t>
            </a:r>
            <a:r>
              <a:rPr lang="fr-FR" sz="1600" dirty="0"/>
              <a:t> </a:t>
            </a:r>
            <a:r>
              <a:rPr lang="fr-FR" sz="1600" dirty="0" err="1"/>
              <a:t>rețea</a:t>
            </a:r>
            <a:r>
              <a:rPr lang="fr-FR" sz="1600" dirty="0"/>
              <a:t> </a:t>
            </a:r>
            <a:r>
              <a:rPr lang="fr-FR" sz="1600" dirty="0" err="1"/>
              <a:t>către</a:t>
            </a:r>
            <a:r>
              <a:rPr lang="fr-FR" sz="1600" dirty="0"/>
              <a:t> server.</a:t>
            </a:r>
            <a:endParaRPr lang="en-GB" sz="1600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32E5D5C5-C047-F02B-5DCE-9A36B737A923}"/>
              </a:ext>
            </a:extLst>
          </p:cNvPr>
          <p:cNvSpPr/>
          <p:nvPr/>
        </p:nvSpPr>
        <p:spPr>
          <a:xfrm>
            <a:off x="5226050" y="3060700"/>
            <a:ext cx="260350" cy="711200"/>
          </a:xfrm>
          <a:prstGeom prst="rightBrace">
            <a:avLst>
              <a:gd name="adj1" fmla="val 32723"/>
              <a:gd name="adj2" fmla="val 47183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40A85A78-9544-F601-0BFC-7425ABAB25EB}"/>
              </a:ext>
            </a:extLst>
          </p:cNvPr>
          <p:cNvSpPr/>
          <p:nvPr/>
        </p:nvSpPr>
        <p:spPr>
          <a:xfrm>
            <a:off x="3727450" y="3835400"/>
            <a:ext cx="260350" cy="1130300"/>
          </a:xfrm>
          <a:prstGeom prst="rightBrace">
            <a:avLst>
              <a:gd name="adj1" fmla="val 32723"/>
              <a:gd name="adj2" fmla="val 47183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355377-6146-D905-A375-BCE524CC0669}"/>
              </a:ext>
            </a:extLst>
          </p:cNvPr>
          <p:cNvSpPr txBox="1"/>
          <p:nvPr/>
        </p:nvSpPr>
        <p:spPr>
          <a:xfrm>
            <a:off x="4273550" y="4132047"/>
            <a:ext cx="5607050" cy="537006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6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err="1"/>
              <a:t>Construiește</a:t>
            </a:r>
            <a:r>
              <a:rPr lang="en-GB" dirty="0"/>
              <a:t> </a:t>
            </a:r>
            <a:r>
              <a:rPr lang="en-GB" dirty="0" err="1"/>
              <a:t>cererea</a:t>
            </a:r>
            <a:r>
              <a:rPr lang="en-GB" dirty="0"/>
              <a:t> HTTP care </a:t>
            </a:r>
            <a:r>
              <a:rPr lang="en-GB" dirty="0" err="1"/>
              <a:t>va</a:t>
            </a:r>
            <a:r>
              <a:rPr lang="en-GB" dirty="0"/>
              <a:t> fi </a:t>
            </a:r>
            <a:r>
              <a:rPr lang="en-GB" dirty="0" err="1"/>
              <a:t>trimisă</a:t>
            </a:r>
            <a:r>
              <a:rPr lang="en-GB" dirty="0"/>
              <a:t> </a:t>
            </a:r>
            <a:r>
              <a:rPr lang="en-GB" dirty="0" err="1"/>
              <a:t>către</a:t>
            </a:r>
            <a:r>
              <a:rPr lang="en-GB" dirty="0"/>
              <a:t> server, </a:t>
            </a:r>
            <a:r>
              <a:rPr lang="en-GB" dirty="0" err="1"/>
              <a:t>folosind</a:t>
            </a:r>
            <a:r>
              <a:rPr lang="en-GB" dirty="0"/>
              <a:t> </a:t>
            </a:r>
            <a:r>
              <a:rPr lang="en-GB" dirty="0" err="1"/>
              <a:t>adresa</a:t>
            </a:r>
            <a:r>
              <a:rPr lang="en-GB" dirty="0"/>
              <a:t> </a:t>
            </a:r>
            <a:r>
              <a:rPr lang="en-GB" dirty="0" err="1"/>
              <a:t>serverului</a:t>
            </a:r>
            <a:r>
              <a:rPr lang="en-GB" dirty="0"/>
              <a:t>, </a:t>
            </a:r>
            <a:r>
              <a:rPr lang="en-GB" dirty="0" err="1"/>
              <a:t>datele</a:t>
            </a:r>
            <a:r>
              <a:rPr lang="en-GB" dirty="0"/>
              <a:t> </a:t>
            </a:r>
            <a:r>
              <a:rPr lang="en-GB" dirty="0" err="1"/>
              <a:t>codificate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metoda</a:t>
            </a:r>
            <a:r>
              <a:rPr lang="en-GB" dirty="0"/>
              <a:t> POST.</a:t>
            </a:r>
          </a:p>
        </p:txBody>
      </p:sp>
    </p:spTree>
    <p:extLst>
      <p:ext uri="{BB962C8B-B14F-4D97-AF65-F5344CB8AC3E}">
        <p14:creationId xmlns:p14="http://schemas.microsoft.com/office/powerpoint/2010/main" val="1348417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E945-B0A0-04F7-D34B-78EF9AC5C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55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Wireshark !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criptari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?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CE2696-C70E-FEE4-F8D6-245A2794A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83" y="1628343"/>
            <a:ext cx="7067063" cy="48645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2183562A-EB44-A253-0470-E57769481CC7}"/>
              </a:ext>
            </a:extLst>
          </p:cNvPr>
          <p:cNvSpPr/>
          <p:nvPr/>
        </p:nvSpPr>
        <p:spPr>
          <a:xfrm>
            <a:off x="6953386" y="4558658"/>
            <a:ext cx="4400414" cy="670999"/>
          </a:xfrm>
          <a:prstGeom prst="leftArrow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83480-CF34-4117-65FB-952939F4D104}"/>
              </a:ext>
            </a:extLst>
          </p:cNvPr>
          <p:cNvSpPr txBox="1"/>
          <p:nvPr/>
        </p:nvSpPr>
        <p:spPr>
          <a:xfrm>
            <a:off x="8923174" y="4012179"/>
            <a:ext cx="16955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clar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pot fi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captate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CEF1A9-9BC1-29A3-043C-A11D2BC44296}"/>
              </a:ext>
            </a:extLst>
          </p:cNvPr>
          <p:cNvCxnSpPr>
            <a:cxnSpLocks/>
          </p:cNvCxnSpPr>
          <p:nvPr/>
        </p:nvCxnSpPr>
        <p:spPr>
          <a:xfrm>
            <a:off x="566576" y="1374165"/>
            <a:ext cx="11333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29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2BBA7-2A82-354B-C48B-06BFCC934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72390A90-F1D7-EB82-F0D4-91AE9F84E007}"/>
              </a:ext>
            </a:extLst>
          </p:cNvPr>
          <p:cNvSpPr/>
          <p:nvPr/>
        </p:nvSpPr>
        <p:spPr>
          <a:xfrm>
            <a:off x="1859842" y="1124316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16371-81D6-8942-3CAA-A3D1D3CF1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042" y="2264934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Injectie trend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CF4F5A9-6047-7BE4-04B6-97C615111C2C}"/>
              </a:ext>
            </a:extLst>
          </p:cNvPr>
          <p:cNvGrpSpPr/>
          <p:nvPr/>
        </p:nvGrpSpPr>
        <p:grpSpPr>
          <a:xfrm>
            <a:off x="2215693" y="5209951"/>
            <a:ext cx="7368924" cy="928497"/>
            <a:chOff x="2414279" y="5802009"/>
            <a:chExt cx="7368924" cy="92849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25A1A8E-B26D-48AE-B2CA-5C347741B090}"/>
                </a:ext>
              </a:extLst>
            </p:cNvPr>
            <p:cNvSpPr/>
            <p:nvPr/>
          </p:nvSpPr>
          <p:spPr>
            <a:xfrm>
              <a:off x="2414279" y="5986676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Client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DF994E9-1466-DA74-8DFB-23B4937DFBF2}"/>
                </a:ext>
              </a:extLst>
            </p:cNvPr>
            <p:cNvSpPr/>
            <p:nvPr/>
          </p:nvSpPr>
          <p:spPr>
            <a:xfrm>
              <a:off x="7599168" y="5986675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Server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3D08985E-4710-B0C1-EBC0-B44CFD6BEB47}"/>
                </a:ext>
              </a:extLst>
            </p:cNvPr>
            <p:cNvSpPr/>
            <p:nvPr/>
          </p:nvSpPr>
          <p:spPr>
            <a:xfrm>
              <a:off x="4782510" y="6085352"/>
              <a:ext cx="2664259" cy="374970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289C21-2B00-F94B-4E5A-96AFA9863D56}"/>
                </a:ext>
              </a:extLst>
            </p:cNvPr>
            <p:cNvSpPr txBox="1"/>
            <p:nvPr/>
          </p:nvSpPr>
          <p:spPr>
            <a:xfrm>
              <a:off x="5743575" y="5802009"/>
              <a:ext cx="9609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text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3FC3F96-3B32-BC36-F55C-085F46B6FA7B}"/>
                </a:ext>
              </a:extLst>
            </p:cNvPr>
            <p:cNvSpPr txBox="1"/>
            <p:nvPr/>
          </p:nvSpPr>
          <p:spPr>
            <a:xfrm>
              <a:off x="5605588" y="6361174"/>
              <a:ext cx="11586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P:port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9917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CEAFD-4961-814C-8AB4-2CA434684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28" y="114598"/>
            <a:ext cx="6122524" cy="951106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Injectie</a:t>
            </a:r>
            <a:r>
              <a:rPr lang="en-US" dirty="0"/>
              <a:t> de </a:t>
            </a:r>
            <a:r>
              <a:rPr lang="en-US" dirty="0" err="1"/>
              <a:t>valori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2E68D1-B2C1-4E82-F4BF-5B531272B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52" y="1440161"/>
            <a:ext cx="6312500" cy="52105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F57204-E3B8-20C5-9973-01242A1C7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861" y="0"/>
            <a:ext cx="5424139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DD5204-E336-76E3-9DDB-3242E21389EC}"/>
              </a:ext>
            </a:extLst>
          </p:cNvPr>
          <p:cNvSpPr txBox="1"/>
          <p:nvPr/>
        </p:nvSpPr>
        <p:spPr>
          <a:xfrm>
            <a:off x="185929" y="966300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 client.py se </a:t>
            </a:r>
            <a:r>
              <a:rPr lang="en-GB" dirty="0" err="1"/>
              <a:t>schimba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endpoint-ul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02F5334-4ED4-9D75-CD58-A85D8FE6E7A3}"/>
              </a:ext>
            </a:extLst>
          </p:cNvPr>
          <p:cNvSpPr/>
          <p:nvPr/>
        </p:nvSpPr>
        <p:spPr>
          <a:xfrm>
            <a:off x="297253" y="1154726"/>
            <a:ext cx="6996980" cy="37497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B6047D-7EF0-AB44-DF0C-829E2A769CF5}"/>
              </a:ext>
            </a:extLst>
          </p:cNvPr>
          <p:cNvCxnSpPr/>
          <p:nvPr/>
        </p:nvCxnSpPr>
        <p:spPr>
          <a:xfrm>
            <a:off x="1466987" y="920254"/>
            <a:ext cx="4183873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506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DB39B2-3D7B-DC0F-D143-D365AE736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9797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6515CB-0B0C-D339-CC06-581F20D2B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703" y="858506"/>
            <a:ext cx="3282082" cy="1325563"/>
          </a:xfr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Rezultat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!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312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788D7A46-2F77-B936-766C-64573473F186}"/>
              </a:ext>
            </a:extLst>
          </p:cNvPr>
          <p:cNvSpPr/>
          <p:nvPr/>
        </p:nvSpPr>
        <p:spPr>
          <a:xfrm>
            <a:off x="1859842" y="1124316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C0BF75-8471-E379-B0EE-72C18D8D1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042" y="2264934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Upload de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fisiere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pe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serverul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de la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distanta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B5CAEF-5492-1FC8-1138-508E41A2D4FF}"/>
              </a:ext>
            </a:extLst>
          </p:cNvPr>
          <p:cNvGrpSpPr/>
          <p:nvPr/>
        </p:nvGrpSpPr>
        <p:grpSpPr>
          <a:xfrm>
            <a:off x="2215693" y="5209951"/>
            <a:ext cx="7368924" cy="928497"/>
            <a:chOff x="2414279" y="5802009"/>
            <a:chExt cx="7368924" cy="92849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14F4139-924A-8D8A-13CB-249594C5D660}"/>
                </a:ext>
              </a:extLst>
            </p:cNvPr>
            <p:cNvSpPr/>
            <p:nvPr/>
          </p:nvSpPr>
          <p:spPr>
            <a:xfrm>
              <a:off x="2414279" y="5986676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</a:t>
              </a:r>
              <a:endParaRPr lang="en-GB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6987D04-AAF4-C9E0-B410-F7A7D2958747}"/>
                </a:ext>
              </a:extLst>
            </p:cNvPr>
            <p:cNvSpPr/>
            <p:nvPr/>
          </p:nvSpPr>
          <p:spPr>
            <a:xfrm>
              <a:off x="7599168" y="5986675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Server</a:t>
              </a:r>
              <a:endParaRPr lang="en-GB" dirty="0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AB0A75D1-B9BC-AE89-E433-90A46B83273B}"/>
                </a:ext>
              </a:extLst>
            </p:cNvPr>
            <p:cNvSpPr/>
            <p:nvPr/>
          </p:nvSpPr>
          <p:spPr>
            <a:xfrm>
              <a:off x="4782510" y="6085352"/>
              <a:ext cx="2664259" cy="374970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AE4DC9C-64DA-837A-2A88-1439AB2A3065}"/>
                </a:ext>
              </a:extLst>
            </p:cNvPr>
            <p:cNvSpPr txBox="1"/>
            <p:nvPr/>
          </p:nvSpPr>
          <p:spPr>
            <a:xfrm>
              <a:off x="5605589" y="5802009"/>
              <a:ext cx="9609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 err="1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fisiere</a:t>
              </a:r>
              <a:endParaRPr lang="en-GB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B7CDAB-2C04-5E8B-95F4-FA04F1A9598F}"/>
                </a:ext>
              </a:extLst>
            </p:cNvPr>
            <p:cNvSpPr txBox="1"/>
            <p:nvPr/>
          </p:nvSpPr>
          <p:spPr>
            <a:xfrm>
              <a:off x="5605588" y="6361174"/>
              <a:ext cx="11586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I</a:t>
              </a:r>
              <a:r>
                <a:rPr lang="en-GB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P:port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7246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831EE-EF2A-D08C-88DD-693AE3824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 de </a:t>
            </a:r>
            <a:r>
              <a:rPr lang="en-US" dirty="0" err="1"/>
              <a:t>fisiere</a:t>
            </a:r>
            <a:r>
              <a:rPr lang="en-US" dirty="0"/>
              <a:t> pe </a:t>
            </a:r>
            <a:r>
              <a:rPr lang="en-US" dirty="0" err="1"/>
              <a:t>serverul</a:t>
            </a:r>
            <a:r>
              <a:rPr lang="en-US" dirty="0"/>
              <a:t> de la </a:t>
            </a:r>
            <a:r>
              <a:rPr lang="en-US" dirty="0" err="1"/>
              <a:t>distanta</a:t>
            </a:r>
            <a:r>
              <a:rPr lang="en-US" dirty="0"/>
              <a:t>: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D5448-7593-8F5F-3AB1-3B664AAE1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550" y="1942120"/>
            <a:ext cx="5038526" cy="20329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CC9D1D-6230-F240-D228-67F971C40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20" y="1942120"/>
            <a:ext cx="6203174" cy="36643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3D33BB-AF32-960D-4CCE-72782B37A765}"/>
              </a:ext>
            </a:extLst>
          </p:cNvPr>
          <p:cNvCxnSpPr>
            <a:cxnSpLocks/>
          </p:cNvCxnSpPr>
          <p:nvPr/>
        </p:nvCxnSpPr>
        <p:spPr>
          <a:xfrm>
            <a:off x="488320" y="1610988"/>
            <a:ext cx="11333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029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4269-EDC9-BD91-C1C7-A3B78F26B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Transferul</a:t>
            </a:r>
            <a:r>
              <a:rPr lang="en-US" dirty="0"/>
              <a:t> se face din </a:t>
            </a:r>
            <a:r>
              <a:rPr lang="en-US" dirty="0" err="1"/>
              <a:t>consola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2C4FF3-459D-4B6C-C0EC-03971CF4526E}"/>
              </a:ext>
            </a:extLst>
          </p:cNvPr>
          <p:cNvSpPr txBox="1">
            <a:spLocks/>
          </p:cNvSpPr>
          <p:nvPr/>
        </p:nvSpPr>
        <p:spPr>
          <a:xfrm>
            <a:off x="895350" y="4663097"/>
            <a:ext cx="102425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Imputul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calea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fisier</a:t>
            </a:r>
            <a:r>
              <a:rPr lang="en-US" dirty="0"/>
              <a:t>:</a:t>
            </a:r>
          </a:p>
          <a:p>
            <a:r>
              <a:rPr lang="en-GB" dirty="0">
                <a:solidFill>
                  <a:srgbClr val="C00000"/>
                </a:solidFill>
              </a:rPr>
              <a:t>C:\Users\Paul\Desktop\NBD UPB\angajati.csv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E86E3E-453F-B29D-D18B-58E67EE0F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1874395"/>
            <a:ext cx="9002381" cy="197195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552E82-637A-C06C-F338-83518DA0E38C}"/>
              </a:ext>
            </a:extLst>
          </p:cNvPr>
          <p:cNvCxnSpPr>
            <a:cxnSpLocks/>
          </p:cNvCxnSpPr>
          <p:nvPr/>
        </p:nvCxnSpPr>
        <p:spPr>
          <a:xfrm>
            <a:off x="566576" y="4346575"/>
            <a:ext cx="11333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FC8692-8238-7596-DDF5-B835BDBAB034}"/>
              </a:ext>
            </a:extLst>
          </p:cNvPr>
          <p:cNvCxnSpPr>
            <a:cxnSpLocks/>
          </p:cNvCxnSpPr>
          <p:nvPr/>
        </p:nvCxnSpPr>
        <p:spPr>
          <a:xfrm>
            <a:off x="566576" y="1374165"/>
            <a:ext cx="11333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436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3FE4D-318B-380B-4FA4-825811CCB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11125"/>
            <a:ext cx="11938000" cy="1038225"/>
          </a:xfrm>
        </p:spPr>
        <p:txBody>
          <a:bodyPr/>
          <a:lstStyle/>
          <a:p>
            <a:r>
              <a:rPr lang="en-US" dirty="0"/>
              <a:t>Dupa </a:t>
            </a:r>
            <a:r>
              <a:rPr lang="en-US" dirty="0" err="1"/>
              <a:t>primirea</a:t>
            </a:r>
            <a:r>
              <a:rPr lang="en-US" dirty="0"/>
              <a:t> </a:t>
            </a:r>
            <a:r>
              <a:rPr lang="en-US" dirty="0" err="1"/>
              <a:t>fisierului</a:t>
            </a:r>
            <a:r>
              <a:rPr lang="en-US" dirty="0"/>
              <a:t>: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2CB2C0-232D-68AC-2630-ACC26BD61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5798"/>
            <a:ext cx="12192000" cy="566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9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D25D3-7633-C8C2-8288-F5F9744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7AD9DA-6D8E-7695-A433-BF26E4FC9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21313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22845F0-2125-3A9F-BC32-30249F37DB62}"/>
              </a:ext>
            </a:extLst>
          </p:cNvPr>
          <p:cNvSpPr txBox="1">
            <a:spLocks/>
          </p:cNvSpPr>
          <p:nvPr/>
        </p:nvSpPr>
        <p:spPr>
          <a:xfrm>
            <a:off x="5797550" y="219075"/>
            <a:ext cx="5829300" cy="11207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Scrieti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partea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de client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pentru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trimiterea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fisiere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CB0B8B-1FF2-98ED-3643-8113B28FA93D}"/>
              </a:ext>
            </a:extLst>
          </p:cNvPr>
          <p:cNvSpPr txBox="1"/>
          <p:nvPr/>
        </p:nvSpPr>
        <p:spPr>
          <a:xfrm>
            <a:off x="6794499" y="1568855"/>
            <a:ext cx="5238750" cy="758606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6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boundary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textul</a:t>
            </a:r>
            <a:r>
              <a:rPr lang="en-GB" dirty="0"/>
              <a:t> special care </a:t>
            </a:r>
            <a:r>
              <a:rPr lang="en-GB" dirty="0" err="1"/>
              <a:t>separă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pachetul</a:t>
            </a:r>
            <a:r>
              <a:rPr lang="en-GB" dirty="0"/>
              <a:t> HTTP </a:t>
            </a:r>
            <a:r>
              <a:rPr lang="en-GB" dirty="0" err="1"/>
              <a:t>câmpul</a:t>
            </a:r>
            <a:r>
              <a:rPr lang="en-GB" dirty="0"/>
              <a:t> </a:t>
            </a:r>
            <a:r>
              <a:rPr lang="en-GB" dirty="0" err="1"/>
              <a:t>nume_student</a:t>
            </a:r>
            <a:r>
              <a:rPr lang="en-GB" dirty="0"/>
              <a:t> de </a:t>
            </a:r>
            <a:r>
              <a:rPr lang="en-GB" dirty="0" err="1"/>
              <a:t>câmpul</a:t>
            </a:r>
            <a:r>
              <a:rPr lang="en-GB" dirty="0"/>
              <a:t> </a:t>
            </a:r>
            <a:r>
              <a:rPr lang="en-GB" dirty="0" err="1"/>
              <a:t>fisier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marchează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începe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se </a:t>
            </a:r>
            <a:r>
              <a:rPr lang="en-GB" dirty="0" err="1"/>
              <a:t>termină</a:t>
            </a:r>
            <a:r>
              <a:rPr lang="en-GB" dirty="0"/>
              <a:t> </a:t>
            </a:r>
            <a:r>
              <a:rPr lang="en-GB" dirty="0" err="1"/>
              <a:t>fiecare</a:t>
            </a:r>
            <a:r>
              <a:rPr lang="en-GB" dirty="0"/>
              <a:t> </a:t>
            </a:r>
            <a:r>
              <a:rPr lang="en-GB" dirty="0" err="1"/>
              <a:t>parte</a:t>
            </a:r>
            <a:r>
              <a:rPr lang="en-GB" dirty="0"/>
              <a:t> </a:t>
            </a:r>
            <a:r>
              <a:rPr lang="en-GB" dirty="0" err="1"/>
              <a:t>trimisă</a:t>
            </a:r>
            <a:r>
              <a:rPr lang="en-GB" dirty="0"/>
              <a:t> </a:t>
            </a:r>
            <a:r>
              <a:rPr lang="en-GB" dirty="0" err="1"/>
              <a:t>către</a:t>
            </a:r>
            <a:r>
              <a:rPr lang="en-GB" dirty="0"/>
              <a:t> server.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AF479-139E-6F1A-1BE6-5A1E799C8B90}"/>
              </a:ext>
            </a:extLst>
          </p:cNvPr>
          <p:cNvSpPr txBox="1"/>
          <p:nvPr/>
        </p:nvSpPr>
        <p:spPr>
          <a:xfrm>
            <a:off x="6794500" y="2727357"/>
            <a:ext cx="3384550" cy="758606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6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err="1"/>
              <a:t>codul</a:t>
            </a:r>
            <a:r>
              <a:rPr lang="en-GB" dirty="0"/>
              <a:t> </a:t>
            </a:r>
            <a:r>
              <a:rPr lang="en-GB" dirty="0" err="1"/>
              <a:t>simulează</a:t>
            </a:r>
            <a:r>
              <a:rPr lang="en-GB" dirty="0"/>
              <a:t> </a:t>
            </a:r>
            <a:r>
              <a:rPr lang="en-GB" dirty="0" err="1"/>
              <a:t>uploadul</a:t>
            </a:r>
            <a:r>
              <a:rPr lang="en-GB" dirty="0"/>
              <a:t> </a:t>
            </a:r>
            <a:r>
              <a:rPr lang="en-GB" dirty="0" err="1"/>
              <a:t>unui</a:t>
            </a:r>
            <a:r>
              <a:rPr lang="en-GB" dirty="0"/>
              <a:t> formular HTML din browser, cu un </a:t>
            </a:r>
            <a:r>
              <a:rPr lang="en-GB" dirty="0" err="1"/>
              <a:t>câmp</a:t>
            </a:r>
            <a:r>
              <a:rPr lang="en-GB" dirty="0"/>
              <a:t> text </a:t>
            </a:r>
            <a:r>
              <a:rPr lang="en-GB" dirty="0" err="1"/>
              <a:t>și</a:t>
            </a:r>
            <a:r>
              <a:rPr lang="en-GB" dirty="0"/>
              <a:t> un </a:t>
            </a:r>
            <a:r>
              <a:rPr lang="en-GB" dirty="0" err="1"/>
              <a:t>fișier</a:t>
            </a:r>
            <a:r>
              <a:rPr lang="en-GB" dirty="0"/>
              <a:t> </a:t>
            </a:r>
            <a:r>
              <a:rPr lang="en-GB" dirty="0" err="1"/>
              <a:t>atașat</a:t>
            </a:r>
            <a:r>
              <a:rPr lang="en-GB" dirty="0"/>
              <a:t>.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22EDC520-0115-1EF4-9C86-AE6C248FA399}"/>
              </a:ext>
            </a:extLst>
          </p:cNvPr>
          <p:cNvSpPr/>
          <p:nvPr/>
        </p:nvSpPr>
        <p:spPr>
          <a:xfrm>
            <a:off x="6360963" y="2327461"/>
            <a:ext cx="260350" cy="2073089"/>
          </a:xfrm>
          <a:prstGeom prst="rightBrace">
            <a:avLst>
              <a:gd name="adj1" fmla="val 32723"/>
              <a:gd name="adj2" fmla="val 47183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1B3195C7-CE1F-76CD-7E1F-53E3F90ED962}"/>
              </a:ext>
            </a:extLst>
          </p:cNvPr>
          <p:cNvSpPr/>
          <p:nvPr/>
        </p:nvSpPr>
        <p:spPr>
          <a:xfrm>
            <a:off x="3089274" y="2035361"/>
            <a:ext cx="91207" cy="292100"/>
          </a:xfrm>
          <a:prstGeom prst="rightBrace">
            <a:avLst>
              <a:gd name="adj1" fmla="val 32723"/>
              <a:gd name="adj2" fmla="val 47183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B42AE0-1DF0-8797-DD8D-D77739F7672C}"/>
              </a:ext>
            </a:extLst>
          </p:cNvPr>
          <p:cNvCxnSpPr>
            <a:cxnSpLocks/>
          </p:cNvCxnSpPr>
          <p:nvPr/>
        </p:nvCxnSpPr>
        <p:spPr>
          <a:xfrm flipH="1">
            <a:off x="3353668" y="1948158"/>
            <a:ext cx="3318445" cy="233253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B7715F9-0626-C3B0-598A-295A6B712EB6}"/>
              </a:ext>
            </a:extLst>
          </p:cNvPr>
          <p:cNvSpPr txBox="1"/>
          <p:nvPr/>
        </p:nvSpPr>
        <p:spPr>
          <a:xfrm>
            <a:off x="7079381" y="6097238"/>
            <a:ext cx="4668987" cy="54168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6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\r = carriage return (</a:t>
            </a:r>
            <a:r>
              <a:rPr lang="en-GB" dirty="0" err="1"/>
              <a:t>mută</a:t>
            </a:r>
            <a:r>
              <a:rPr lang="en-GB" dirty="0"/>
              <a:t> </a:t>
            </a:r>
            <a:r>
              <a:rPr lang="en-GB" dirty="0" err="1"/>
              <a:t>cursorul</a:t>
            </a:r>
            <a:r>
              <a:rPr lang="en-GB" dirty="0"/>
              <a:t> la </a:t>
            </a:r>
            <a:r>
              <a:rPr lang="en-GB" dirty="0" err="1"/>
              <a:t>începutul</a:t>
            </a:r>
            <a:r>
              <a:rPr lang="en-GB" dirty="0"/>
              <a:t> </a:t>
            </a:r>
            <a:r>
              <a:rPr lang="en-GB" dirty="0" err="1"/>
              <a:t>liniei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/>
              <a:t>\n = newline (</a:t>
            </a:r>
            <a:r>
              <a:rPr lang="en-GB" dirty="0" err="1"/>
              <a:t>trece</a:t>
            </a:r>
            <a:r>
              <a:rPr lang="en-GB" dirty="0"/>
              <a:t> pe </a:t>
            </a:r>
            <a:r>
              <a:rPr lang="en-GB" dirty="0" err="1"/>
              <a:t>linia</a:t>
            </a:r>
            <a:r>
              <a:rPr lang="en-GB" dirty="0"/>
              <a:t> </a:t>
            </a:r>
            <a:r>
              <a:rPr lang="en-GB" dirty="0" err="1"/>
              <a:t>următoare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7333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02CE6-9D8A-70F5-BE16-888EB45EA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A8083E6D-8183-1651-BF14-A05EAB99B1EA}"/>
              </a:ext>
            </a:extLst>
          </p:cNvPr>
          <p:cNvSpPr/>
          <p:nvPr/>
        </p:nvSpPr>
        <p:spPr>
          <a:xfrm>
            <a:off x="1748078" y="979590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CBCEE6-41D4-EB06-DC80-ED9EFCB97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278" y="2120208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Upload +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răspuns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structurat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+ info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fișier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primit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0BA5500-A42A-AE94-C820-EE405BC60B89}"/>
              </a:ext>
            </a:extLst>
          </p:cNvPr>
          <p:cNvGrpSpPr/>
          <p:nvPr/>
        </p:nvGrpSpPr>
        <p:grpSpPr>
          <a:xfrm>
            <a:off x="2229216" y="5025525"/>
            <a:ext cx="7368924" cy="961619"/>
            <a:chOff x="2327526" y="5538642"/>
            <a:chExt cx="7368924" cy="96161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2A5CF38-FB11-BD08-029A-33F44F6F4C19}"/>
                </a:ext>
              </a:extLst>
            </p:cNvPr>
            <p:cNvSpPr/>
            <p:nvPr/>
          </p:nvSpPr>
          <p:spPr>
            <a:xfrm>
              <a:off x="2327526" y="5756431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</a:t>
              </a:r>
              <a:endParaRPr lang="en-GB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DE1BEAA-1D86-B156-3AB8-A60447CD567F}"/>
                </a:ext>
              </a:extLst>
            </p:cNvPr>
            <p:cNvSpPr/>
            <p:nvPr/>
          </p:nvSpPr>
          <p:spPr>
            <a:xfrm>
              <a:off x="7512415" y="5756430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Server</a:t>
              </a:r>
              <a:endParaRPr lang="en-GB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AF3FA4-406D-AC2B-1F4C-6782A6BF518B}"/>
                </a:ext>
              </a:extLst>
            </p:cNvPr>
            <p:cNvSpPr txBox="1"/>
            <p:nvPr/>
          </p:nvSpPr>
          <p:spPr>
            <a:xfrm>
              <a:off x="5303072" y="5538642"/>
              <a:ext cx="15858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 err="1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fisiere</a:t>
              </a:r>
              <a:r>
                <a:rPr lang="en-GB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 : </a:t>
              </a:r>
              <a:r>
                <a:rPr lang="en-GB" dirty="0" err="1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json</a:t>
              </a:r>
              <a:endParaRPr lang="en-GB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96B928-9094-939D-7C23-921B47DE8756}"/>
                </a:ext>
              </a:extLst>
            </p:cNvPr>
            <p:cNvSpPr txBox="1"/>
            <p:nvPr/>
          </p:nvSpPr>
          <p:spPr>
            <a:xfrm>
              <a:off x="5518835" y="6130929"/>
              <a:ext cx="11586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I</a:t>
              </a:r>
              <a:r>
                <a:rPr lang="en-GB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P:port</a:t>
              </a:r>
            </a:p>
          </p:txBody>
        </p:sp>
        <p:sp>
          <p:nvSpPr>
            <p:cNvPr id="10" name="Arrow: Left-Right 9">
              <a:extLst>
                <a:ext uri="{FF2B5EF4-FFF2-40B4-BE49-F238E27FC236}">
                  <a16:creationId xmlns:a16="http://schemas.microsoft.com/office/drawing/2014/main" id="{734E3C8C-F8C8-87E7-0E5B-11FD555A587C}"/>
                </a:ext>
              </a:extLst>
            </p:cNvPr>
            <p:cNvSpPr/>
            <p:nvPr/>
          </p:nvSpPr>
          <p:spPr>
            <a:xfrm>
              <a:off x="4627689" y="5857142"/>
              <a:ext cx="2743200" cy="357739"/>
            </a:xfrm>
            <a:prstGeom prst="left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11683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0A0F-F5D4-0AF0-0C72-F6766978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0143"/>
          </a:xfrm>
        </p:spPr>
        <p:txBody>
          <a:bodyPr/>
          <a:lstStyle/>
          <a:p>
            <a:r>
              <a:rPr lang="en-US" dirty="0" err="1"/>
              <a:t>Exercitiu</a:t>
            </a:r>
            <a:r>
              <a:rPr lang="en-US" dirty="0"/>
              <a:t>! Ne </a:t>
            </a:r>
            <a:r>
              <a:rPr lang="en-US" dirty="0" err="1"/>
              <a:t>mutam</a:t>
            </a:r>
            <a:r>
              <a:rPr lang="en-US" dirty="0"/>
              <a:t> pe endpoint-ul: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8BED8-E8F2-FE45-15AC-91879D9A4BCD}"/>
              </a:ext>
            </a:extLst>
          </p:cNvPr>
          <p:cNvSpPr txBox="1"/>
          <p:nvPr/>
        </p:nvSpPr>
        <p:spPr>
          <a:xfrm>
            <a:off x="838200" y="1506022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C00000"/>
                </a:solidFill>
              </a:rPr>
              <a:t>http://192.168.1.5/upload_si_primeste_json/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0897E7-7562-3515-AC1E-041BA36C8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76" y="2522273"/>
            <a:ext cx="6601746" cy="34580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D3E13A9-8ACF-C417-019A-79029D31D75B}"/>
              </a:ext>
            </a:extLst>
          </p:cNvPr>
          <p:cNvSpPr txBox="1">
            <a:spLocks/>
          </p:cNvSpPr>
          <p:nvPr/>
        </p:nvSpPr>
        <p:spPr>
          <a:xfrm>
            <a:off x="7545445" y="2422503"/>
            <a:ext cx="4249658" cy="2929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arenR"/>
            </a:pPr>
            <a:r>
              <a:rPr lang="en-US" dirty="0" err="1"/>
              <a:t>Folosim</a:t>
            </a:r>
            <a:r>
              <a:rPr lang="en-US" dirty="0"/>
              <a:t> </a:t>
            </a:r>
            <a:r>
              <a:rPr lang="en-US" dirty="0" err="1"/>
              <a:t>clientul</a:t>
            </a:r>
            <a:r>
              <a:rPr lang="en-US" dirty="0"/>
              <a:t> anterior, </a:t>
            </a:r>
            <a:r>
              <a:rPr lang="en-US" dirty="0" err="1"/>
              <a:t>insa</a:t>
            </a:r>
            <a:r>
              <a:rPr lang="en-US" dirty="0"/>
              <a:t>, </a:t>
            </a:r>
          </a:p>
          <a:p>
            <a:pPr marL="742950" indent="-742950">
              <a:buAutoNum type="arabicParenR"/>
            </a:pPr>
            <a:endParaRPr lang="en-US" dirty="0"/>
          </a:p>
          <a:p>
            <a:pPr marL="742950" indent="-742950">
              <a:buAutoNum type="arabicParenR"/>
            </a:pPr>
            <a:r>
              <a:rPr lang="en-US" dirty="0" err="1"/>
              <a:t>schimbam</a:t>
            </a:r>
            <a:r>
              <a:rPr lang="en-US" dirty="0"/>
              <a:t> link-ul din client, la care se face </a:t>
            </a:r>
            <a:r>
              <a:rPr lang="en-US" dirty="0" err="1"/>
              <a:t>cererea</a:t>
            </a:r>
            <a:r>
              <a:rPr lang="en-US" dirty="0"/>
              <a:t> (link-ul cu </a:t>
            </a:r>
            <a:r>
              <a:rPr lang="en-US" dirty="0" err="1"/>
              <a:t>rosu</a:t>
            </a:r>
            <a:r>
              <a:rPr lang="en-US" dirty="0"/>
              <a:t>).</a:t>
            </a:r>
          </a:p>
          <a:p>
            <a:pPr marL="742950" indent="-742950">
              <a:buAutoNum type="arabicParenR"/>
            </a:pPr>
            <a:endParaRPr lang="en-US" dirty="0"/>
          </a:p>
          <a:p>
            <a:pPr marL="742950" indent="-742950">
              <a:buAutoNum type="arabicParenR"/>
            </a:pPr>
            <a:r>
              <a:rPr lang="en-US" dirty="0" err="1"/>
              <a:t>Apoi</a:t>
            </a:r>
            <a:r>
              <a:rPr lang="en-US" dirty="0"/>
              <a:t>,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incarcarea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fisier</a:t>
            </a:r>
            <a:r>
              <a:rPr lang="en-US" dirty="0"/>
              <a:t> la </a:t>
            </a:r>
            <a:r>
              <a:rPr lang="en-US" dirty="0" err="1"/>
              <a:t>noul</a:t>
            </a:r>
            <a:r>
              <a:rPr lang="en-US" dirty="0"/>
              <a:t> endpoint, </a:t>
            </a:r>
            <a:r>
              <a:rPr lang="en-US" dirty="0" err="1"/>
              <a:t>serverul</a:t>
            </a:r>
            <a:r>
              <a:rPr lang="en-US" dirty="0"/>
              <a:t> </a:t>
            </a:r>
            <a:r>
              <a:rPr lang="en-US" dirty="0" err="1"/>
              <a:t>returneaza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de </a:t>
            </a:r>
            <a:r>
              <a:rPr lang="en-US" dirty="0" err="1"/>
              <a:t>fisiere</a:t>
            </a:r>
            <a:r>
              <a:rPr lang="en-US" dirty="0"/>
              <a:t> </a:t>
            </a:r>
            <a:r>
              <a:rPr lang="en-US" dirty="0" err="1"/>
              <a:t>existenta</a:t>
            </a:r>
            <a:r>
              <a:rPr lang="en-US" dirty="0"/>
              <a:t> sub forma de  JSON.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BB649-74CC-EB17-5AB5-13285D1F9A84}"/>
              </a:ext>
            </a:extLst>
          </p:cNvPr>
          <p:cNvSpPr txBox="1"/>
          <p:nvPr/>
        </p:nvSpPr>
        <p:spPr>
          <a:xfrm>
            <a:off x="566576" y="6236069"/>
            <a:ext cx="8868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REST API = un set de </a:t>
            </a:r>
            <a:r>
              <a:rPr lang="en-GB" dirty="0" err="1"/>
              <a:t>adrese</a:t>
            </a:r>
            <a:r>
              <a:rPr lang="en-GB" dirty="0"/>
              <a:t> web </a:t>
            </a:r>
            <a:r>
              <a:rPr lang="en-GB" dirty="0" err="1"/>
              <a:t>prin</a:t>
            </a:r>
            <a:r>
              <a:rPr lang="en-GB" dirty="0"/>
              <a:t> care un program </a:t>
            </a:r>
            <a:r>
              <a:rPr lang="en-GB" dirty="0" err="1"/>
              <a:t>vorbește</a:t>
            </a:r>
            <a:r>
              <a:rPr lang="en-GB" dirty="0"/>
              <a:t> cu un server.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71C83-1771-0BF3-D050-70633B1BCEB6}"/>
              </a:ext>
            </a:extLst>
          </p:cNvPr>
          <p:cNvSpPr/>
          <p:nvPr/>
        </p:nvSpPr>
        <p:spPr>
          <a:xfrm flipH="1">
            <a:off x="8071388" y="2522273"/>
            <a:ext cx="45719" cy="3458058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C6BDD1-DDF7-3785-FBF1-2130E5DECFF2}"/>
              </a:ext>
            </a:extLst>
          </p:cNvPr>
          <p:cNvCxnSpPr>
            <a:cxnSpLocks/>
          </p:cNvCxnSpPr>
          <p:nvPr/>
        </p:nvCxnSpPr>
        <p:spPr>
          <a:xfrm>
            <a:off x="566576" y="2229359"/>
            <a:ext cx="11333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917B80-4B4E-2013-6132-AA0CDA3AF3E9}"/>
              </a:ext>
            </a:extLst>
          </p:cNvPr>
          <p:cNvCxnSpPr>
            <a:cxnSpLocks/>
          </p:cNvCxnSpPr>
          <p:nvPr/>
        </p:nvCxnSpPr>
        <p:spPr>
          <a:xfrm>
            <a:off x="566576" y="1374165"/>
            <a:ext cx="11333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776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ow: Bent 10">
            <a:extLst>
              <a:ext uri="{FF2B5EF4-FFF2-40B4-BE49-F238E27FC236}">
                <a16:creationId xmlns:a16="http://schemas.microsoft.com/office/drawing/2014/main" id="{4F7DBF2C-749F-C796-53D3-91C4C66586B4}"/>
              </a:ext>
            </a:extLst>
          </p:cNvPr>
          <p:cNvSpPr/>
          <p:nvPr/>
        </p:nvSpPr>
        <p:spPr>
          <a:xfrm rot="5400000">
            <a:off x="6256074" y="2379205"/>
            <a:ext cx="2210348" cy="1657762"/>
          </a:xfrm>
          <a:prstGeom prst="ben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1C1593-2F0C-DDF0-A5E2-0A81F5393F3B}"/>
              </a:ext>
            </a:extLst>
          </p:cNvPr>
          <p:cNvSpPr/>
          <p:nvPr/>
        </p:nvSpPr>
        <p:spPr>
          <a:xfrm>
            <a:off x="644684" y="2102912"/>
            <a:ext cx="5887683" cy="283090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02A3F4-BA7B-CB5F-A087-E245A87EB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Modificati</a:t>
            </a:r>
            <a:r>
              <a:rPr lang="en-US" dirty="0"/>
              <a:t> client.py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adaugarea</a:t>
            </a:r>
            <a:r>
              <a:rPr lang="en-US" dirty="0"/>
              <a:t> </a:t>
            </a:r>
            <a:r>
              <a:rPr lang="en-US" dirty="0" err="1"/>
              <a:t>modulului</a:t>
            </a:r>
            <a:r>
              <a:rPr lang="en-US" dirty="0"/>
              <a:t> de </a:t>
            </a:r>
            <a:r>
              <a:rPr lang="en-US" dirty="0" err="1"/>
              <a:t>salvare</a:t>
            </a:r>
            <a:r>
              <a:rPr lang="en-US" dirty="0"/>
              <a:t> a </a:t>
            </a:r>
            <a:r>
              <a:rPr lang="en-US" dirty="0" err="1"/>
              <a:t>raspunsului</a:t>
            </a:r>
            <a:r>
              <a:rPr lang="en-US" dirty="0"/>
              <a:t> in </a:t>
            </a:r>
            <a:r>
              <a:rPr lang="en-US" dirty="0" err="1"/>
              <a:t>fisier</a:t>
            </a:r>
            <a:r>
              <a:rPr lang="en-US" dirty="0"/>
              <a:t> JSON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FD6EFA-410B-BDD3-B411-8E37E807B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93" y="2474912"/>
            <a:ext cx="1066949" cy="171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30D1D0-B5B5-21A3-2B8E-AE14A0BFA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60" y="2817778"/>
            <a:ext cx="5330500" cy="18857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7396095-8BE0-781B-D3C2-4AD7A1686FE4}"/>
              </a:ext>
            </a:extLst>
          </p:cNvPr>
          <p:cNvSpPr txBox="1"/>
          <p:nvPr/>
        </p:nvSpPr>
        <p:spPr>
          <a:xfrm>
            <a:off x="8190129" y="2912514"/>
            <a:ext cx="2287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raspuns_server.json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68B672-5A6B-8519-8DC5-930F97672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265" y="4503673"/>
            <a:ext cx="3356732" cy="221034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990768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0D12A-4EB7-3882-6897-69F2B6C5B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778F5183-B44F-1B6E-206C-D26B67B54655}"/>
              </a:ext>
            </a:extLst>
          </p:cNvPr>
          <p:cNvSpPr/>
          <p:nvPr/>
        </p:nvSpPr>
        <p:spPr>
          <a:xfrm>
            <a:off x="1748078" y="979590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3A1A0A-1289-D437-6E9F-8F9F5B5D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278" y="2120208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Upload +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răspuns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structurat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+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listă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de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fișiere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primite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863C05-56DC-8577-F138-3B7020D36258}"/>
              </a:ext>
            </a:extLst>
          </p:cNvPr>
          <p:cNvGrpSpPr/>
          <p:nvPr/>
        </p:nvGrpSpPr>
        <p:grpSpPr>
          <a:xfrm>
            <a:off x="2229216" y="5025525"/>
            <a:ext cx="7368924" cy="961619"/>
            <a:chOff x="2327526" y="5538642"/>
            <a:chExt cx="7368924" cy="96161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8BBED7A-4CF5-EADD-7F21-150E4DCD6A8D}"/>
                </a:ext>
              </a:extLst>
            </p:cNvPr>
            <p:cNvSpPr/>
            <p:nvPr/>
          </p:nvSpPr>
          <p:spPr>
            <a:xfrm>
              <a:off x="2327526" y="5756431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</a:t>
              </a:r>
              <a:endParaRPr lang="en-GB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8488C43-C86F-84FA-03F1-810C2A9F651B}"/>
                </a:ext>
              </a:extLst>
            </p:cNvPr>
            <p:cNvSpPr/>
            <p:nvPr/>
          </p:nvSpPr>
          <p:spPr>
            <a:xfrm>
              <a:off x="7512415" y="5756430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Server</a:t>
              </a:r>
              <a:endParaRPr lang="en-GB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759F375-09F5-71C3-58D9-A73A98694DD4}"/>
                </a:ext>
              </a:extLst>
            </p:cNvPr>
            <p:cNvSpPr txBox="1"/>
            <p:nvPr/>
          </p:nvSpPr>
          <p:spPr>
            <a:xfrm>
              <a:off x="5303072" y="5538642"/>
              <a:ext cx="15858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 err="1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fisiere</a:t>
              </a:r>
              <a:r>
                <a:rPr lang="en-GB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 : </a:t>
              </a:r>
              <a:r>
                <a:rPr lang="en-GB" dirty="0" err="1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json</a:t>
              </a:r>
              <a:endParaRPr lang="en-GB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6BFF9DA-520E-37E7-E38C-C860F244BE7E}"/>
                </a:ext>
              </a:extLst>
            </p:cNvPr>
            <p:cNvSpPr txBox="1"/>
            <p:nvPr/>
          </p:nvSpPr>
          <p:spPr>
            <a:xfrm>
              <a:off x="5518835" y="6130929"/>
              <a:ext cx="11586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I</a:t>
              </a:r>
              <a:r>
                <a:rPr lang="en-GB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P:port</a:t>
              </a:r>
            </a:p>
          </p:txBody>
        </p:sp>
        <p:sp>
          <p:nvSpPr>
            <p:cNvPr id="10" name="Arrow: Left-Right 9">
              <a:extLst>
                <a:ext uri="{FF2B5EF4-FFF2-40B4-BE49-F238E27FC236}">
                  <a16:creationId xmlns:a16="http://schemas.microsoft.com/office/drawing/2014/main" id="{3DA8D4E5-13D0-BE73-74F5-6F87E173FC84}"/>
                </a:ext>
              </a:extLst>
            </p:cNvPr>
            <p:cNvSpPr/>
            <p:nvPr/>
          </p:nvSpPr>
          <p:spPr>
            <a:xfrm>
              <a:off x="4627689" y="5857142"/>
              <a:ext cx="2743200" cy="357739"/>
            </a:xfrm>
            <a:prstGeom prst="left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4545149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ow: Bent 13">
            <a:extLst>
              <a:ext uri="{FF2B5EF4-FFF2-40B4-BE49-F238E27FC236}">
                <a16:creationId xmlns:a16="http://schemas.microsoft.com/office/drawing/2014/main" id="{3644ADD2-30FC-FB20-1F05-25F4239B1AB1}"/>
              </a:ext>
            </a:extLst>
          </p:cNvPr>
          <p:cNvSpPr/>
          <p:nvPr/>
        </p:nvSpPr>
        <p:spPr>
          <a:xfrm rot="5400000">
            <a:off x="9572555" y="2723539"/>
            <a:ext cx="2046163" cy="1456023"/>
          </a:xfrm>
          <a:prstGeom prst="bentArrow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43E4D6-B68B-6973-5C04-266484EE6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94" y="361231"/>
            <a:ext cx="10515600" cy="1325563"/>
          </a:xfrm>
        </p:spPr>
        <p:txBody>
          <a:bodyPr/>
          <a:lstStyle/>
          <a:p>
            <a:r>
              <a:rPr lang="en-US" dirty="0"/>
              <a:t>Ne </a:t>
            </a:r>
            <a:r>
              <a:rPr lang="en-US" dirty="0" err="1"/>
              <a:t>mutam</a:t>
            </a:r>
            <a:r>
              <a:rPr lang="en-US" dirty="0"/>
              <a:t> pe: </a:t>
            </a:r>
            <a:r>
              <a:rPr lang="es-ES" dirty="0"/>
              <a:t>upload_si_primeste_lista_json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D3BBCF-C3C4-9006-0B1D-BEE45BDFEF1F}"/>
              </a:ext>
            </a:extLst>
          </p:cNvPr>
          <p:cNvSpPr txBox="1"/>
          <p:nvPr/>
        </p:nvSpPr>
        <p:spPr>
          <a:xfrm>
            <a:off x="778994" y="169068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C00000"/>
                </a:solidFill>
              </a:rPr>
              <a:t>http://192.168.1.5/</a:t>
            </a:r>
            <a:r>
              <a:rPr lang="es-ES" sz="2800" dirty="0">
                <a:solidFill>
                  <a:srgbClr val="C00000"/>
                </a:solidFill>
              </a:rPr>
              <a:t>upload_si_primeste_lista_json</a:t>
            </a:r>
            <a:r>
              <a:rPr lang="en-GB" sz="2800" dirty="0">
                <a:solidFill>
                  <a:srgbClr val="C00000"/>
                </a:solidFill>
              </a:rPr>
              <a:t>/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83F9FC7-E82D-383D-775E-91A832437CD6}"/>
              </a:ext>
            </a:extLst>
          </p:cNvPr>
          <p:cNvSpPr txBox="1">
            <a:spLocks/>
          </p:cNvSpPr>
          <p:nvPr/>
        </p:nvSpPr>
        <p:spPr>
          <a:xfrm>
            <a:off x="778994" y="30123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Acelasi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client.py ne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salva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lista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fisierelor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incarcate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pe server.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24D150-23C2-BAA4-574B-CB756EE707E0}"/>
              </a:ext>
            </a:extLst>
          </p:cNvPr>
          <p:cNvSpPr txBox="1"/>
          <p:nvPr/>
        </p:nvSpPr>
        <p:spPr>
          <a:xfrm>
            <a:off x="778994" y="2428466"/>
            <a:ext cx="9660954" cy="36933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</a:rPr>
              <a:t>adresa_server</a:t>
            </a:r>
            <a:r>
              <a:rPr lang="en-GB" dirty="0">
                <a:solidFill>
                  <a:schemeClr val="bg1"/>
                </a:solidFill>
              </a:rPr>
              <a:t> = "http://192.168.1.5/</a:t>
            </a:r>
            <a:r>
              <a:rPr lang="en-GB" dirty="0" err="1">
                <a:solidFill>
                  <a:schemeClr val="bg1"/>
                </a:solidFill>
              </a:rPr>
              <a:t>upload_si_primeste_lista_json</a:t>
            </a:r>
            <a:r>
              <a:rPr lang="en-GB" dirty="0">
                <a:solidFill>
                  <a:schemeClr val="bg1"/>
                </a:solidFill>
              </a:rPr>
              <a:t>/"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0075C3-6BC4-696F-E441-1253EB3E1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263" y="4597638"/>
            <a:ext cx="5524386" cy="16616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CA7F6B-FD5F-96B7-7F75-4AAE75D9B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51" y="4597638"/>
            <a:ext cx="4617279" cy="16616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7443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1BC84-4460-291D-21B8-529564EEF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E20EEC2D-669F-377E-915F-D99705B93B57}"/>
              </a:ext>
            </a:extLst>
          </p:cNvPr>
          <p:cNvSpPr/>
          <p:nvPr/>
        </p:nvSpPr>
        <p:spPr>
          <a:xfrm>
            <a:off x="1748078" y="979590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7B7490-9286-B28C-43E8-7C6FA4C46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278" y="2120208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Chat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320B28-C99F-65CD-F08B-C20C9D120B08}"/>
              </a:ext>
            </a:extLst>
          </p:cNvPr>
          <p:cNvGrpSpPr/>
          <p:nvPr/>
        </p:nvGrpSpPr>
        <p:grpSpPr>
          <a:xfrm>
            <a:off x="2229216" y="5025525"/>
            <a:ext cx="7368924" cy="961619"/>
            <a:chOff x="2327526" y="5538642"/>
            <a:chExt cx="7368924" cy="96161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11FA1CF-906E-4335-DB5E-BC673B2DA662}"/>
                </a:ext>
              </a:extLst>
            </p:cNvPr>
            <p:cNvSpPr/>
            <p:nvPr/>
          </p:nvSpPr>
          <p:spPr>
            <a:xfrm>
              <a:off x="2327526" y="5756431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Client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D12401C-5065-BC65-2D6E-9E84DE2F2319}"/>
                </a:ext>
              </a:extLst>
            </p:cNvPr>
            <p:cNvSpPr/>
            <p:nvPr/>
          </p:nvSpPr>
          <p:spPr>
            <a:xfrm>
              <a:off x="7512415" y="5756430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Server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75AB46-8AAE-07F5-FA4A-76467CDB0CEA}"/>
                </a:ext>
              </a:extLst>
            </p:cNvPr>
            <p:cNvSpPr txBox="1"/>
            <p:nvPr/>
          </p:nvSpPr>
          <p:spPr>
            <a:xfrm>
              <a:off x="5643916" y="5538642"/>
              <a:ext cx="12450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text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F56667-9B38-1A44-9384-252A4D329A18}"/>
                </a:ext>
              </a:extLst>
            </p:cNvPr>
            <p:cNvSpPr txBox="1"/>
            <p:nvPr/>
          </p:nvSpPr>
          <p:spPr>
            <a:xfrm>
              <a:off x="5518835" y="6130929"/>
              <a:ext cx="11586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P:port</a:t>
              </a:r>
            </a:p>
          </p:txBody>
        </p:sp>
        <p:sp>
          <p:nvSpPr>
            <p:cNvPr id="10" name="Arrow: Left-Right 9">
              <a:extLst>
                <a:ext uri="{FF2B5EF4-FFF2-40B4-BE49-F238E27FC236}">
                  <a16:creationId xmlns:a16="http://schemas.microsoft.com/office/drawing/2014/main" id="{02AF85AC-D53B-F5C5-F886-DA49C1738934}"/>
                </a:ext>
              </a:extLst>
            </p:cNvPr>
            <p:cNvSpPr/>
            <p:nvPr/>
          </p:nvSpPr>
          <p:spPr>
            <a:xfrm>
              <a:off x="4627689" y="5857142"/>
              <a:ext cx="2743200" cy="357739"/>
            </a:xfrm>
            <a:prstGeom prst="left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3330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67BDD-D588-D1B8-D236-CDC6406AA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17" y="378282"/>
            <a:ext cx="10515600" cy="1325563"/>
          </a:xfrm>
        </p:spPr>
        <p:txBody>
          <a:bodyPr/>
          <a:lstStyle/>
          <a:p>
            <a:r>
              <a:rPr lang="en-US" dirty="0"/>
              <a:t>Server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855740-6C96-EE50-A607-E3D72FB88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17" y="1807114"/>
            <a:ext cx="6464743" cy="45870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11EB0-5963-9988-BFC4-489B2EA8283B}"/>
              </a:ext>
            </a:extLst>
          </p:cNvPr>
          <p:cNvCxnSpPr>
            <a:cxnSpLocks/>
          </p:cNvCxnSpPr>
          <p:nvPr/>
        </p:nvCxnSpPr>
        <p:spPr>
          <a:xfrm>
            <a:off x="429452" y="1492577"/>
            <a:ext cx="11333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AB65FD4-E0ED-D0A1-CB08-F56DD9C48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00" y="2116525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29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46DFEB-B336-8E8A-B247-06EDBF568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7374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2A3B45-C592-AF3E-123A-A99995381086}"/>
              </a:ext>
            </a:extLst>
          </p:cNvPr>
          <p:cNvSpPr txBox="1"/>
          <p:nvPr/>
        </p:nvSpPr>
        <p:spPr>
          <a:xfrm>
            <a:off x="5026628" y="4071567"/>
            <a:ext cx="6096000" cy="164500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6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 err="1"/>
              <a:t>afiseaza_chat</a:t>
            </a:r>
            <a:r>
              <a:rPr lang="en-GB" b="1" dirty="0"/>
              <a:t>(text)</a:t>
            </a:r>
            <a:br>
              <a:rPr lang="en-GB" dirty="0"/>
            </a:br>
            <a:r>
              <a:rPr lang="en-GB" dirty="0" err="1"/>
              <a:t>Șterge</a:t>
            </a:r>
            <a:r>
              <a:rPr lang="en-GB" dirty="0"/>
              <a:t> zona de chat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afișează</a:t>
            </a:r>
            <a:r>
              <a:rPr lang="en-GB" dirty="0"/>
              <a:t> </a:t>
            </a:r>
            <a:r>
              <a:rPr lang="en-GB" dirty="0" err="1"/>
              <a:t>textul</a:t>
            </a:r>
            <a:r>
              <a:rPr lang="en-GB" dirty="0"/>
              <a:t> nou </a:t>
            </a:r>
            <a:r>
              <a:rPr lang="en-GB" dirty="0" err="1"/>
              <a:t>primit</a:t>
            </a:r>
            <a:r>
              <a:rPr lang="en-GB" dirty="0"/>
              <a:t> de la server.</a:t>
            </a:r>
          </a:p>
          <a:p>
            <a:endParaRPr lang="en-GB" dirty="0"/>
          </a:p>
          <a:p>
            <a:r>
              <a:rPr lang="en-GB" b="1" dirty="0" err="1"/>
              <a:t>trimite_mesaj</a:t>
            </a:r>
            <a:r>
              <a:rPr lang="en-GB" b="1" dirty="0"/>
              <a:t>()</a:t>
            </a:r>
            <a:br>
              <a:rPr lang="en-GB" dirty="0"/>
            </a:br>
            <a:r>
              <a:rPr lang="en-GB" dirty="0"/>
              <a:t>Ia </a:t>
            </a:r>
            <a:r>
              <a:rPr lang="en-GB" dirty="0" err="1"/>
              <a:t>mesajul</a:t>
            </a:r>
            <a:r>
              <a:rPr lang="en-GB" dirty="0"/>
              <a:t> </a:t>
            </a:r>
            <a:r>
              <a:rPr lang="en-GB" dirty="0" err="1"/>
              <a:t>introdus</a:t>
            </a:r>
            <a:r>
              <a:rPr lang="en-GB" dirty="0"/>
              <a:t> de </a:t>
            </a:r>
            <a:r>
              <a:rPr lang="en-GB" dirty="0" err="1"/>
              <a:t>utilizator</a:t>
            </a:r>
            <a:r>
              <a:rPr lang="en-GB" dirty="0"/>
              <a:t>, </a:t>
            </a:r>
            <a:r>
              <a:rPr lang="en-GB" dirty="0" err="1"/>
              <a:t>îl</a:t>
            </a:r>
            <a:r>
              <a:rPr lang="en-GB" dirty="0"/>
              <a:t> </a:t>
            </a:r>
            <a:r>
              <a:rPr lang="en-GB" dirty="0" err="1"/>
              <a:t>trimite</a:t>
            </a:r>
            <a:r>
              <a:rPr lang="en-GB" dirty="0"/>
              <a:t> la server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actualizează</a:t>
            </a:r>
            <a:r>
              <a:rPr lang="en-GB" dirty="0"/>
              <a:t> </a:t>
            </a:r>
            <a:r>
              <a:rPr lang="en-GB" dirty="0" err="1"/>
              <a:t>chatul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 err="1"/>
              <a:t>actualizeaza_chat</a:t>
            </a:r>
            <a:r>
              <a:rPr lang="en-GB" b="1" dirty="0"/>
              <a:t>()</a:t>
            </a:r>
            <a:br>
              <a:rPr lang="en-GB" dirty="0"/>
            </a:br>
            <a:r>
              <a:rPr lang="en-GB" dirty="0"/>
              <a:t>Cere periodic </a:t>
            </a:r>
            <a:r>
              <a:rPr lang="en-GB" dirty="0" err="1"/>
              <a:t>ultimele</a:t>
            </a:r>
            <a:r>
              <a:rPr lang="en-GB" dirty="0"/>
              <a:t> </a:t>
            </a:r>
            <a:r>
              <a:rPr lang="en-GB" dirty="0" err="1"/>
              <a:t>mesaje</a:t>
            </a:r>
            <a:r>
              <a:rPr lang="en-GB" dirty="0"/>
              <a:t> de la server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actualizează</a:t>
            </a:r>
            <a:r>
              <a:rPr lang="en-GB" dirty="0"/>
              <a:t> </a:t>
            </a:r>
            <a:r>
              <a:rPr lang="en-GB" dirty="0" err="1"/>
              <a:t>fereastra</a:t>
            </a:r>
            <a:r>
              <a:rPr lang="en-GB" dirty="0"/>
              <a:t> </a:t>
            </a:r>
            <a:r>
              <a:rPr lang="en-GB" dirty="0" err="1"/>
              <a:t>chatului</a:t>
            </a:r>
            <a:r>
              <a:rPr lang="en-GB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97A329-FB43-3239-BB6A-2983965CC987}"/>
              </a:ext>
            </a:extLst>
          </p:cNvPr>
          <p:cNvSpPr txBox="1"/>
          <p:nvPr/>
        </p:nvSpPr>
        <p:spPr>
          <a:xfrm>
            <a:off x="5026628" y="2325122"/>
            <a:ext cx="6096000" cy="1206484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85000" lnSpcReduction="10000"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6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err="1"/>
              <a:t>urlencode</a:t>
            </a:r>
            <a:r>
              <a:rPr lang="en-GB" b="0" dirty="0"/>
              <a:t> </a:t>
            </a:r>
            <a:r>
              <a:rPr lang="en-GB" b="0" dirty="0" err="1"/>
              <a:t>transformă</a:t>
            </a:r>
            <a:r>
              <a:rPr lang="en-GB" b="0" dirty="0"/>
              <a:t> </a:t>
            </a:r>
            <a:r>
              <a:rPr lang="en-GB" b="0" dirty="0" err="1"/>
              <a:t>caracterele</a:t>
            </a:r>
            <a:r>
              <a:rPr lang="en-GB" b="0" dirty="0"/>
              <a:t> </a:t>
            </a:r>
            <a:r>
              <a:rPr lang="en-GB" b="0" dirty="0" err="1"/>
              <a:t>speciale</a:t>
            </a:r>
            <a:r>
              <a:rPr lang="en-GB" b="0" dirty="0"/>
              <a:t> </a:t>
            </a:r>
            <a:r>
              <a:rPr lang="en-GB" b="0" dirty="0" err="1"/>
              <a:t>în</a:t>
            </a:r>
            <a:r>
              <a:rPr lang="en-GB" b="0" dirty="0"/>
              <a:t> forma URL encoded, de </a:t>
            </a:r>
            <a:r>
              <a:rPr lang="en-GB" b="0" dirty="0" err="1"/>
              <a:t>exemplu</a:t>
            </a:r>
            <a:r>
              <a:rPr lang="en-GB" b="0" dirty="0"/>
              <a:t>:</a:t>
            </a:r>
          </a:p>
          <a:p>
            <a:endParaRPr lang="en-GB" b="0" dirty="0"/>
          </a:p>
          <a:p>
            <a:r>
              <a:rPr lang="en-GB" b="0" dirty="0"/>
              <a:t>Salut Paul! → Salut+Paul%21</a:t>
            </a:r>
          </a:p>
          <a:p>
            <a:endParaRPr lang="en-GB" b="0" dirty="0"/>
          </a:p>
          <a:p>
            <a:r>
              <a:rPr lang="en-GB" b="0" dirty="0" err="1"/>
              <a:t>Pentru</a:t>
            </a:r>
            <a:r>
              <a:rPr lang="en-GB" b="0" dirty="0"/>
              <a:t> </a:t>
            </a:r>
            <a:r>
              <a:rPr lang="en-GB" b="0" dirty="0" err="1"/>
              <a:t>fișiere</a:t>
            </a:r>
            <a:r>
              <a:rPr lang="en-GB" b="0" dirty="0"/>
              <a:t> </a:t>
            </a:r>
            <a:r>
              <a:rPr lang="en-GB" b="0" dirty="0" err="1"/>
              <a:t>binare</a:t>
            </a:r>
            <a:r>
              <a:rPr lang="en-GB" b="0" dirty="0"/>
              <a:t> se </a:t>
            </a:r>
            <a:r>
              <a:rPr lang="en-GB" b="0" dirty="0" err="1"/>
              <a:t>folosește</a:t>
            </a:r>
            <a:r>
              <a:rPr lang="en-GB" b="0" dirty="0"/>
              <a:t> de </a:t>
            </a:r>
            <a:r>
              <a:rPr lang="en-GB" b="0" dirty="0" err="1"/>
              <a:t>obicei</a:t>
            </a:r>
            <a:r>
              <a:rPr lang="en-GB" b="0" dirty="0"/>
              <a:t> multipart/form-data, nu </a:t>
            </a:r>
            <a:r>
              <a:rPr lang="en-GB" b="0" dirty="0" err="1"/>
              <a:t>urlencode</a:t>
            </a:r>
            <a:r>
              <a:rPr lang="en-GB" b="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CD5CD-D800-B552-9BEA-A837CB2145A0}"/>
              </a:ext>
            </a:extLst>
          </p:cNvPr>
          <p:cNvSpPr txBox="1"/>
          <p:nvPr/>
        </p:nvSpPr>
        <p:spPr>
          <a:xfrm>
            <a:off x="5026628" y="1026555"/>
            <a:ext cx="6096000" cy="758606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6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err="1"/>
              <a:t>trimite_la_server</a:t>
            </a:r>
            <a:r>
              <a:rPr lang="en-GB" dirty="0"/>
              <a:t>(</a:t>
            </a:r>
            <a:r>
              <a:rPr lang="en-GB" dirty="0" err="1"/>
              <a:t>actiune</a:t>
            </a:r>
            <a:r>
              <a:rPr lang="en-GB" dirty="0"/>
              <a:t>, </a:t>
            </a:r>
            <a:r>
              <a:rPr lang="en-GB" dirty="0" err="1"/>
              <a:t>mesaj</a:t>
            </a:r>
            <a:r>
              <a:rPr lang="en-GB" dirty="0"/>
              <a:t>) </a:t>
            </a:r>
            <a:r>
              <a:rPr lang="en-GB" b="0" dirty="0" err="1"/>
              <a:t>ia</a:t>
            </a:r>
            <a:r>
              <a:rPr lang="en-GB" b="0" dirty="0"/>
              <a:t> </a:t>
            </a:r>
            <a:r>
              <a:rPr lang="en-GB" b="0" dirty="0" err="1"/>
              <a:t>acțiunea</a:t>
            </a:r>
            <a:r>
              <a:rPr lang="en-GB" b="0" dirty="0"/>
              <a:t>, </a:t>
            </a:r>
            <a:r>
              <a:rPr lang="en-GB" b="0" dirty="0" err="1"/>
              <a:t>numele</a:t>
            </a:r>
            <a:r>
              <a:rPr lang="en-GB" b="0" dirty="0"/>
              <a:t> </a:t>
            </a:r>
            <a:r>
              <a:rPr lang="en-GB" b="0" dirty="0" err="1"/>
              <a:t>și</a:t>
            </a:r>
            <a:r>
              <a:rPr lang="en-GB" b="0" dirty="0"/>
              <a:t> </a:t>
            </a:r>
            <a:r>
              <a:rPr lang="en-GB" b="0" dirty="0" err="1"/>
              <a:t>mesajul</a:t>
            </a:r>
            <a:r>
              <a:rPr lang="en-GB" b="0" dirty="0"/>
              <a:t>, le </a:t>
            </a:r>
            <a:r>
              <a:rPr lang="en-GB" b="0" dirty="0" err="1"/>
              <a:t>transformă</a:t>
            </a:r>
            <a:r>
              <a:rPr lang="en-GB" b="0" dirty="0"/>
              <a:t> </a:t>
            </a:r>
            <a:r>
              <a:rPr lang="en-GB" b="0" dirty="0" err="1"/>
              <a:t>în</a:t>
            </a:r>
            <a:r>
              <a:rPr lang="en-GB" b="0" dirty="0"/>
              <a:t> date HTTP, le </a:t>
            </a:r>
            <a:r>
              <a:rPr lang="en-GB" b="0" dirty="0" err="1"/>
              <a:t>trimite</a:t>
            </a:r>
            <a:r>
              <a:rPr lang="en-GB" b="0" dirty="0"/>
              <a:t> </a:t>
            </a:r>
            <a:r>
              <a:rPr lang="en-GB" b="0" dirty="0" err="1"/>
              <a:t>prin</a:t>
            </a:r>
            <a:r>
              <a:rPr lang="en-GB" b="0" dirty="0"/>
              <a:t> POST la </a:t>
            </a:r>
            <a:r>
              <a:rPr lang="en-GB" b="0" dirty="0" err="1"/>
              <a:t>serverul</a:t>
            </a:r>
            <a:r>
              <a:rPr lang="en-GB" b="0" dirty="0"/>
              <a:t> PHP </a:t>
            </a:r>
            <a:r>
              <a:rPr lang="en-GB" b="0" dirty="0" err="1"/>
              <a:t>și</a:t>
            </a:r>
            <a:r>
              <a:rPr lang="en-GB" b="0" dirty="0"/>
              <a:t> </a:t>
            </a:r>
            <a:r>
              <a:rPr lang="en-GB" b="0" dirty="0" err="1"/>
              <a:t>întoarce</a:t>
            </a:r>
            <a:r>
              <a:rPr lang="en-GB" b="0" dirty="0"/>
              <a:t> </a:t>
            </a:r>
            <a:r>
              <a:rPr lang="en-GB" b="0" dirty="0" err="1"/>
              <a:t>textul</a:t>
            </a:r>
            <a:r>
              <a:rPr lang="en-GB" b="0" dirty="0"/>
              <a:t> </a:t>
            </a:r>
            <a:r>
              <a:rPr lang="en-GB" b="0" dirty="0" err="1"/>
              <a:t>primit</a:t>
            </a:r>
            <a:r>
              <a:rPr lang="en-GB" b="0" dirty="0"/>
              <a:t> ca </a:t>
            </a:r>
            <a:r>
              <a:rPr lang="en-GB" b="0" dirty="0" err="1"/>
              <a:t>răspuns</a:t>
            </a:r>
            <a:r>
              <a:rPr lang="en-GB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91465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942B4-ADA9-263F-A6B8-990BA93A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70CFF1-8899-C787-224C-3F0B19E1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2919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8AC012-8AB3-42AE-F6C1-CA3059EE4925}"/>
              </a:ext>
            </a:extLst>
          </p:cNvPr>
          <p:cNvSpPr txBox="1"/>
          <p:nvPr/>
        </p:nvSpPr>
        <p:spPr>
          <a:xfrm>
            <a:off x="4641850" y="784295"/>
            <a:ext cx="6096000" cy="519740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6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err="1"/>
              <a:t>fereastra</a:t>
            </a:r>
            <a:r>
              <a:rPr lang="en-GB" dirty="0"/>
              <a:t> = </a:t>
            </a:r>
            <a:r>
              <a:rPr lang="en-GB" dirty="0" err="1"/>
              <a:t>tk.Tk</a:t>
            </a:r>
            <a:r>
              <a:rPr lang="en-GB" dirty="0"/>
              <a:t>()</a:t>
            </a:r>
            <a:br>
              <a:rPr lang="en-GB" dirty="0"/>
            </a:br>
            <a:r>
              <a:rPr lang="en-GB" b="0" dirty="0" err="1"/>
              <a:t>Creează</a:t>
            </a:r>
            <a:r>
              <a:rPr lang="en-GB" b="0" dirty="0"/>
              <a:t> </a:t>
            </a:r>
            <a:r>
              <a:rPr lang="en-GB" b="0" dirty="0" err="1"/>
              <a:t>fereastra</a:t>
            </a:r>
            <a:r>
              <a:rPr lang="en-GB" b="0" dirty="0"/>
              <a:t> </a:t>
            </a:r>
            <a:r>
              <a:rPr lang="en-GB" b="0" dirty="0" err="1"/>
              <a:t>principală</a:t>
            </a:r>
            <a:r>
              <a:rPr lang="en-GB" b="0" dirty="0"/>
              <a:t> a </a:t>
            </a:r>
            <a:r>
              <a:rPr lang="en-GB" b="0" dirty="0" err="1"/>
              <a:t>aplicației</a:t>
            </a:r>
            <a:r>
              <a:rPr lang="en-GB" b="0" dirty="0"/>
              <a:t>.</a:t>
            </a:r>
          </a:p>
          <a:p>
            <a:endParaRPr lang="en-GB" b="0" dirty="0"/>
          </a:p>
          <a:p>
            <a:r>
              <a:rPr lang="en-GB" dirty="0" err="1"/>
              <a:t>fereastra.title</a:t>
            </a:r>
            <a:r>
              <a:rPr lang="en-GB" dirty="0"/>
              <a:t>("Chat NBD Python")</a:t>
            </a:r>
            <a:br>
              <a:rPr lang="en-GB" dirty="0"/>
            </a:br>
            <a:r>
              <a:rPr lang="en-GB" b="0" dirty="0" err="1"/>
              <a:t>Setează</a:t>
            </a:r>
            <a:r>
              <a:rPr lang="en-GB" b="0" dirty="0"/>
              <a:t> </a:t>
            </a:r>
            <a:r>
              <a:rPr lang="en-GB" b="0" dirty="0" err="1"/>
              <a:t>titlul</a:t>
            </a:r>
            <a:r>
              <a:rPr lang="en-GB" b="0" dirty="0"/>
              <a:t> </a:t>
            </a:r>
            <a:r>
              <a:rPr lang="en-GB" b="0" dirty="0" err="1"/>
              <a:t>ferestrei</a:t>
            </a:r>
            <a:r>
              <a:rPr lang="en-GB" b="0" dirty="0"/>
              <a:t>.</a:t>
            </a:r>
          </a:p>
          <a:p>
            <a:endParaRPr lang="en-GB" b="0" dirty="0"/>
          </a:p>
          <a:p>
            <a:r>
              <a:rPr lang="en-GB" dirty="0" err="1"/>
              <a:t>fereastra.geometry</a:t>
            </a:r>
            <a:r>
              <a:rPr lang="en-GB" dirty="0"/>
              <a:t>("800x600")</a:t>
            </a:r>
            <a:br>
              <a:rPr lang="en-GB" dirty="0"/>
            </a:br>
            <a:r>
              <a:rPr lang="en-GB" b="0" dirty="0" err="1"/>
              <a:t>Setează</a:t>
            </a:r>
            <a:r>
              <a:rPr lang="en-GB" b="0" dirty="0"/>
              <a:t> </a:t>
            </a:r>
            <a:r>
              <a:rPr lang="en-GB" b="0" dirty="0" err="1"/>
              <a:t>dimensiunea</a:t>
            </a:r>
            <a:r>
              <a:rPr lang="en-GB" b="0" dirty="0"/>
              <a:t> </a:t>
            </a:r>
            <a:r>
              <a:rPr lang="en-GB" b="0" dirty="0" err="1"/>
              <a:t>ferestrei</a:t>
            </a:r>
            <a:r>
              <a:rPr lang="en-GB" b="0" dirty="0"/>
              <a:t> la 800×600.</a:t>
            </a:r>
          </a:p>
          <a:p>
            <a:endParaRPr lang="en-GB" b="0" dirty="0"/>
          </a:p>
          <a:p>
            <a:r>
              <a:rPr lang="en-GB" dirty="0" err="1"/>
              <a:t>tk.Label</a:t>
            </a:r>
            <a:r>
              <a:rPr lang="en-GB" dirty="0"/>
              <a:t>(... text="</a:t>
            </a:r>
            <a:r>
              <a:rPr lang="en-GB" dirty="0" err="1"/>
              <a:t>Nume</a:t>
            </a:r>
            <a:r>
              <a:rPr lang="en-GB" dirty="0"/>
              <a:t>:").pack()</a:t>
            </a:r>
            <a:br>
              <a:rPr lang="en-GB" dirty="0"/>
            </a:br>
            <a:r>
              <a:rPr lang="en-GB" b="0" dirty="0" err="1"/>
              <a:t>Afișează</a:t>
            </a:r>
            <a:r>
              <a:rPr lang="en-GB" b="0" dirty="0"/>
              <a:t> </a:t>
            </a:r>
            <a:r>
              <a:rPr lang="en-GB" b="0" dirty="0" err="1"/>
              <a:t>eticheta</a:t>
            </a:r>
            <a:r>
              <a:rPr lang="en-GB" b="0" dirty="0"/>
              <a:t> „</a:t>
            </a:r>
            <a:r>
              <a:rPr lang="en-GB" b="0" dirty="0" err="1"/>
              <a:t>Nume</a:t>
            </a:r>
            <a:r>
              <a:rPr lang="en-GB" b="0" dirty="0"/>
              <a:t>:”.</a:t>
            </a:r>
          </a:p>
          <a:p>
            <a:endParaRPr lang="en-GB" b="0" dirty="0"/>
          </a:p>
          <a:p>
            <a:r>
              <a:rPr lang="en-GB" dirty="0" err="1"/>
              <a:t>camp_nume</a:t>
            </a:r>
            <a:r>
              <a:rPr lang="en-GB" dirty="0"/>
              <a:t> = </a:t>
            </a:r>
            <a:r>
              <a:rPr lang="en-GB" dirty="0" err="1"/>
              <a:t>tk.Entry</a:t>
            </a:r>
            <a:r>
              <a:rPr lang="en-GB" dirty="0"/>
              <a:t>(...)</a:t>
            </a:r>
            <a:br>
              <a:rPr lang="en-GB" dirty="0"/>
            </a:br>
            <a:r>
              <a:rPr lang="en-GB" b="0" dirty="0" err="1"/>
              <a:t>Creează</a:t>
            </a:r>
            <a:r>
              <a:rPr lang="en-GB" b="0" dirty="0"/>
              <a:t> </a:t>
            </a:r>
            <a:r>
              <a:rPr lang="en-GB" b="0" dirty="0" err="1"/>
              <a:t>câmpul</a:t>
            </a:r>
            <a:r>
              <a:rPr lang="en-GB" b="0" dirty="0"/>
              <a:t> </a:t>
            </a:r>
            <a:r>
              <a:rPr lang="en-GB" b="0" dirty="0" err="1"/>
              <a:t>unde</a:t>
            </a:r>
            <a:r>
              <a:rPr lang="en-GB" b="0" dirty="0"/>
              <a:t> </a:t>
            </a:r>
            <a:r>
              <a:rPr lang="en-GB" b="0" dirty="0" err="1"/>
              <a:t>utilizatorul</a:t>
            </a:r>
            <a:r>
              <a:rPr lang="en-GB" b="0" dirty="0"/>
              <a:t> introduce </a:t>
            </a:r>
            <a:r>
              <a:rPr lang="en-GB" b="0" dirty="0" err="1"/>
              <a:t>numele</a:t>
            </a:r>
            <a:r>
              <a:rPr lang="en-GB" b="0" dirty="0"/>
              <a:t>.</a:t>
            </a:r>
          </a:p>
          <a:p>
            <a:endParaRPr lang="en-GB" b="0" dirty="0"/>
          </a:p>
          <a:p>
            <a:r>
              <a:rPr lang="en-GB" dirty="0" err="1"/>
              <a:t>camp_nume.pack</a:t>
            </a:r>
            <a:r>
              <a:rPr lang="en-GB" dirty="0"/>
              <a:t>(...)</a:t>
            </a:r>
            <a:br>
              <a:rPr lang="en-GB" dirty="0"/>
            </a:br>
            <a:r>
              <a:rPr lang="en-GB" b="0" dirty="0" err="1"/>
              <a:t>Afișează</a:t>
            </a:r>
            <a:r>
              <a:rPr lang="en-GB" b="0" dirty="0"/>
              <a:t> </a:t>
            </a:r>
            <a:r>
              <a:rPr lang="en-GB" b="0" dirty="0" err="1"/>
              <a:t>câmpul</a:t>
            </a:r>
            <a:r>
              <a:rPr lang="en-GB" b="0" dirty="0"/>
              <a:t> de </a:t>
            </a:r>
            <a:r>
              <a:rPr lang="en-GB" b="0" dirty="0" err="1"/>
              <a:t>nume</a:t>
            </a:r>
            <a:r>
              <a:rPr lang="en-GB" b="0" dirty="0"/>
              <a:t> </a:t>
            </a:r>
            <a:r>
              <a:rPr lang="en-GB" b="0" dirty="0" err="1"/>
              <a:t>în</a:t>
            </a:r>
            <a:r>
              <a:rPr lang="en-GB" b="0" dirty="0"/>
              <a:t> </a:t>
            </a:r>
            <a:r>
              <a:rPr lang="en-GB" b="0" dirty="0" err="1"/>
              <a:t>fereastră</a:t>
            </a:r>
            <a:r>
              <a:rPr lang="en-GB" b="0" dirty="0"/>
              <a:t>.</a:t>
            </a:r>
          </a:p>
          <a:p>
            <a:endParaRPr lang="en-GB" b="0" dirty="0"/>
          </a:p>
          <a:p>
            <a:r>
              <a:rPr lang="en-GB" dirty="0" err="1"/>
              <a:t>zona_chat</a:t>
            </a:r>
            <a:r>
              <a:rPr lang="en-GB" dirty="0"/>
              <a:t> = </a:t>
            </a:r>
            <a:r>
              <a:rPr lang="en-GB" dirty="0" err="1"/>
              <a:t>tk.Text</a:t>
            </a:r>
            <a:r>
              <a:rPr lang="en-GB" dirty="0"/>
              <a:t>(...)</a:t>
            </a:r>
            <a:br>
              <a:rPr lang="en-GB" dirty="0"/>
            </a:br>
            <a:r>
              <a:rPr lang="en-GB" b="0" dirty="0" err="1"/>
              <a:t>Creează</a:t>
            </a:r>
            <a:r>
              <a:rPr lang="en-GB" b="0" dirty="0"/>
              <a:t> zona </a:t>
            </a:r>
            <a:r>
              <a:rPr lang="en-GB" b="0" dirty="0" err="1"/>
              <a:t>unde</a:t>
            </a:r>
            <a:r>
              <a:rPr lang="en-GB" b="0" dirty="0"/>
              <a:t> apar </a:t>
            </a:r>
            <a:r>
              <a:rPr lang="en-GB" b="0" dirty="0" err="1"/>
              <a:t>mesajele</a:t>
            </a:r>
            <a:r>
              <a:rPr lang="en-GB" b="0" dirty="0"/>
              <a:t> </a:t>
            </a:r>
            <a:r>
              <a:rPr lang="en-GB" b="0" dirty="0" err="1"/>
              <a:t>chatului</a:t>
            </a:r>
            <a:r>
              <a:rPr lang="en-GB" b="0" dirty="0"/>
              <a:t>.</a:t>
            </a:r>
          </a:p>
          <a:p>
            <a:endParaRPr lang="en-GB" b="0" dirty="0"/>
          </a:p>
          <a:p>
            <a:r>
              <a:rPr lang="en-GB" dirty="0" err="1"/>
              <a:t>zona_chat.pack</a:t>
            </a:r>
            <a:r>
              <a:rPr lang="en-GB" dirty="0"/>
              <a:t>(...)</a:t>
            </a:r>
            <a:br>
              <a:rPr lang="en-GB" dirty="0"/>
            </a:br>
            <a:r>
              <a:rPr lang="en-GB" b="0" dirty="0" err="1"/>
              <a:t>Afișează</a:t>
            </a:r>
            <a:r>
              <a:rPr lang="en-GB" b="0" dirty="0"/>
              <a:t> zona de chat </a:t>
            </a:r>
            <a:r>
              <a:rPr lang="en-GB" b="0" dirty="0" err="1"/>
              <a:t>și</a:t>
            </a:r>
            <a:r>
              <a:rPr lang="en-GB" b="0" dirty="0"/>
              <a:t> o </a:t>
            </a:r>
            <a:r>
              <a:rPr lang="en-GB" b="0" dirty="0" err="1"/>
              <a:t>extinde</a:t>
            </a:r>
            <a:r>
              <a:rPr lang="en-GB" b="0" dirty="0"/>
              <a:t> </a:t>
            </a:r>
            <a:r>
              <a:rPr lang="en-GB" b="0" dirty="0" err="1"/>
              <a:t>în</a:t>
            </a:r>
            <a:r>
              <a:rPr lang="en-GB" b="0" dirty="0"/>
              <a:t> </a:t>
            </a:r>
            <a:r>
              <a:rPr lang="en-GB" b="0" dirty="0" err="1"/>
              <a:t>fereastră</a:t>
            </a:r>
            <a:r>
              <a:rPr lang="en-GB" b="0" dirty="0"/>
              <a:t>.</a:t>
            </a:r>
          </a:p>
          <a:p>
            <a:endParaRPr lang="en-GB" b="0" dirty="0"/>
          </a:p>
          <a:p>
            <a:r>
              <a:rPr lang="en-GB" dirty="0" err="1"/>
              <a:t>tk.Label</a:t>
            </a:r>
            <a:r>
              <a:rPr lang="en-GB" dirty="0"/>
              <a:t>(... text="</a:t>
            </a:r>
            <a:r>
              <a:rPr lang="en-GB" dirty="0" err="1"/>
              <a:t>Mesaj</a:t>
            </a:r>
            <a:r>
              <a:rPr lang="en-GB" dirty="0"/>
              <a:t>:").pack()</a:t>
            </a:r>
            <a:br>
              <a:rPr lang="en-GB" dirty="0"/>
            </a:br>
            <a:r>
              <a:rPr lang="en-GB" b="0" dirty="0" err="1"/>
              <a:t>Afișează</a:t>
            </a:r>
            <a:r>
              <a:rPr lang="en-GB" b="0" dirty="0"/>
              <a:t> </a:t>
            </a:r>
            <a:r>
              <a:rPr lang="en-GB" b="0" dirty="0" err="1"/>
              <a:t>eticheta</a:t>
            </a:r>
            <a:r>
              <a:rPr lang="en-GB" b="0" dirty="0"/>
              <a:t> „</a:t>
            </a:r>
            <a:r>
              <a:rPr lang="en-GB" b="0" dirty="0" err="1"/>
              <a:t>Mesaj</a:t>
            </a:r>
            <a:r>
              <a:rPr lang="en-GB" b="0" dirty="0"/>
              <a:t>:”.</a:t>
            </a:r>
          </a:p>
          <a:p>
            <a:endParaRPr lang="en-GB" b="0" dirty="0"/>
          </a:p>
          <a:p>
            <a:r>
              <a:rPr lang="en-GB" dirty="0" err="1"/>
              <a:t>camp_mesaj</a:t>
            </a:r>
            <a:r>
              <a:rPr lang="en-GB" dirty="0"/>
              <a:t> = </a:t>
            </a:r>
            <a:r>
              <a:rPr lang="en-GB" dirty="0" err="1"/>
              <a:t>tk.Entry</a:t>
            </a:r>
            <a:r>
              <a:rPr lang="en-GB" dirty="0"/>
              <a:t>(...)</a:t>
            </a:r>
            <a:br>
              <a:rPr lang="en-GB" dirty="0"/>
            </a:br>
            <a:r>
              <a:rPr lang="en-GB" b="0" dirty="0" err="1"/>
              <a:t>Creează</a:t>
            </a:r>
            <a:r>
              <a:rPr lang="en-GB" b="0" dirty="0"/>
              <a:t> </a:t>
            </a:r>
            <a:r>
              <a:rPr lang="en-GB" b="0" dirty="0" err="1"/>
              <a:t>câmpul</a:t>
            </a:r>
            <a:r>
              <a:rPr lang="en-GB" b="0" dirty="0"/>
              <a:t> </a:t>
            </a:r>
            <a:r>
              <a:rPr lang="en-GB" b="0" dirty="0" err="1"/>
              <a:t>unde</a:t>
            </a:r>
            <a:r>
              <a:rPr lang="en-GB" b="0" dirty="0"/>
              <a:t> </a:t>
            </a:r>
            <a:r>
              <a:rPr lang="en-GB" b="0" dirty="0" err="1"/>
              <a:t>utilizatorul</a:t>
            </a:r>
            <a:r>
              <a:rPr lang="en-GB" b="0" dirty="0"/>
              <a:t> </a:t>
            </a:r>
            <a:r>
              <a:rPr lang="en-GB" b="0" dirty="0" err="1"/>
              <a:t>scrie</a:t>
            </a:r>
            <a:r>
              <a:rPr lang="en-GB" b="0" dirty="0"/>
              <a:t> </a:t>
            </a:r>
            <a:r>
              <a:rPr lang="en-GB" b="0" dirty="0" err="1"/>
              <a:t>mesajul</a:t>
            </a:r>
            <a:r>
              <a:rPr lang="en-GB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0934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C13A8-0A3A-5AF0-BA25-638035047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4574DF-4490-ECB1-805A-CD514A619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91938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FADA2E-EBAA-7A21-09BA-8E69B0A735F1}"/>
              </a:ext>
            </a:extLst>
          </p:cNvPr>
          <p:cNvSpPr txBox="1"/>
          <p:nvPr/>
        </p:nvSpPr>
        <p:spPr>
          <a:xfrm>
            <a:off x="4064000" y="484456"/>
            <a:ext cx="7004050" cy="5675044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6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err="1"/>
              <a:t>camp_mesaj.pack</a:t>
            </a:r>
            <a:r>
              <a:rPr lang="en-GB" dirty="0"/>
              <a:t>(...)</a:t>
            </a:r>
            <a:br>
              <a:rPr lang="en-GB" dirty="0"/>
            </a:br>
            <a:r>
              <a:rPr lang="en-GB" b="0" dirty="0" err="1"/>
              <a:t>Afișează</a:t>
            </a:r>
            <a:r>
              <a:rPr lang="en-GB" b="0" dirty="0"/>
              <a:t> </a:t>
            </a:r>
            <a:r>
              <a:rPr lang="en-GB" b="0" dirty="0" err="1"/>
              <a:t>câmpul</a:t>
            </a:r>
            <a:r>
              <a:rPr lang="en-GB" b="0" dirty="0"/>
              <a:t> </a:t>
            </a:r>
            <a:r>
              <a:rPr lang="en-GB" b="0" dirty="0" err="1"/>
              <a:t>pentru</a:t>
            </a:r>
            <a:r>
              <a:rPr lang="en-GB" b="0" dirty="0"/>
              <a:t> </a:t>
            </a:r>
            <a:r>
              <a:rPr lang="en-GB" b="0" dirty="0" err="1"/>
              <a:t>scrierea</a:t>
            </a:r>
            <a:r>
              <a:rPr lang="en-GB" b="0" dirty="0"/>
              <a:t> </a:t>
            </a:r>
            <a:r>
              <a:rPr lang="en-GB" b="0" dirty="0" err="1"/>
              <a:t>mesajului</a:t>
            </a:r>
            <a:r>
              <a:rPr lang="en-GB" b="0" dirty="0"/>
              <a:t>.</a:t>
            </a:r>
          </a:p>
          <a:p>
            <a:endParaRPr lang="en-GB" b="0" dirty="0"/>
          </a:p>
          <a:p>
            <a:r>
              <a:rPr lang="en-GB" dirty="0" err="1"/>
              <a:t>camp_mesaj.bind</a:t>
            </a:r>
            <a:r>
              <a:rPr lang="en-GB" dirty="0"/>
              <a:t>("&lt;Return&gt;", ...)</a:t>
            </a:r>
            <a:br>
              <a:rPr lang="en-GB" dirty="0"/>
            </a:br>
            <a:r>
              <a:rPr lang="en-GB" b="0" dirty="0" err="1"/>
              <a:t>Trimite</a:t>
            </a:r>
            <a:r>
              <a:rPr lang="en-GB" b="0" dirty="0"/>
              <a:t> </a:t>
            </a:r>
            <a:r>
              <a:rPr lang="en-GB" b="0" dirty="0" err="1"/>
              <a:t>mesajul</a:t>
            </a:r>
            <a:r>
              <a:rPr lang="en-GB" b="0" dirty="0"/>
              <a:t> </a:t>
            </a:r>
            <a:r>
              <a:rPr lang="en-GB" b="0" dirty="0" err="1"/>
              <a:t>când</a:t>
            </a:r>
            <a:r>
              <a:rPr lang="en-GB" b="0" dirty="0"/>
              <a:t> </a:t>
            </a:r>
            <a:r>
              <a:rPr lang="en-GB" b="0" dirty="0" err="1"/>
              <a:t>utilizatorul</a:t>
            </a:r>
            <a:r>
              <a:rPr lang="en-GB" b="0" dirty="0"/>
              <a:t> </a:t>
            </a:r>
            <a:r>
              <a:rPr lang="en-GB" b="0" dirty="0" err="1"/>
              <a:t>apasă</a:t>
            </a:r>
            <a:r>
              <a:rPr lang="en-GB" b="0" dirty="0"/>
              <a:t> Enter.</a:t>
            </a:r>
          </a:p>
          <a:p>
            <a:endParaRPr lang="en-GB" b="0" dirty="0"/>
          </a:p>
          <a:p>
            <a:r>
              <a:rPr lang="en-GB" dirty="0" err="1"/>
              <a:t>cadru_butoane</a:t>
            </a:r>
            <a:r>
              <a:rPr lang="en-GB" dirty="0"/>
              <a:t> = </a:t>
            </a:r>
            <a:r>
              <a:rPr lang="en-GB" dirty="0" err="1"/>
              <a:t>tk.Frame</a:t>
            </a:r>
            <a:r>
              <a:rPr lang="en-GB" dirty="0"/>
              <a:t>(</a:t>
            </a:r>
            <a:r>
              <a:rPr lang="en-GB" dirty="0" err="1"/>
              <a:t>fereastra</a:t>
            </a:r>
            <a:r>
              <a:rPr lang="en-GB" dirty="0"/>
              <a:t>)</a:t>
            </a:r>
            <a:br>
              <a:rPr lang="en-GB" dirty="0"/>
            </a:br>
            <a:r>
              <a:rPr lang="en-GB" b="0" dirty="0" err="1"/>
              <a:t>Creează</a:t>
            </a:r>
            <a:r>
              <a:rPr lang="en-GB" b="0" dirty="0"/>
              <a:t> un container </a:t>
            </a:r>
            <a:r>
              <a:rPr lang="en-GB" b="0" dirty="0" err="1"/>
              <a:t>pentru</a:t>
            </a:r>
            <a:r>
              <a:rPr lang="en-GB" b="0" dirty="0"/>
              <a:t> </a:t>
            </a:r>
            <a:r>
              <a:rPr lang="en-GB" b="0" dirty="0" err="1"/>
              <a:t>butoane</a:t>
            </a:r>
            <a:r>
              <a:rPr lang="en-GB" b="0" dirty="0"/>
              <a:t>.</a:t>
            </a:r>
          </a:p>
          <a:p>
            <a:endParaRPr lang="en-GB" b="0" dirty="0"/>
          </a:p>
          <a:p>
            <a:r>
              <a:rPr lang="en-GB" dirty="0" err="1"/>
              <a:t>cadru_butoane.pack</a:t>
            </a:r>
            <a:r>
              <a:rPr lang="en-GB" dirty="0"/>
              <a:t>(...)</a:t>
            </a:r>
            <a:br>
              <a:rPr lang="en-GB" dirty="0"/>
            </a:br>
            <a:r>
              <a:rPr lang="en-GB" b="0" dirty="0" err="1"/>
              <a:t>Afișează</a:t>
            </a:r>
            <a:r>
              <a:rPr lang="en-GB" b="0" dirty="0"/>
              <a:t> </a:t>
            </a:r>
            <a:r>
              <a:rPr lang="en-GB" b="0" dirty="0" err="1"/>
              <a:t>containerul</a:t>
            </a:r>
            <a:r>
              <a:rPr lang="en-GB" b="0" dirty="0"/>
              <a:t> </a:t>
            </a:r>
            <a:r>
              <a:rPr lang="en-GB" b="0" dirty="0" err="1"/>
              <a:t>butoanelor</a:t>
            </a:r>
            <a:r>
              <a:rPr lang="en-GB" b="0" dirty="0"/>
              <a:t>.</a:t>
            </a:r>
          </a:p>
          <a:p>
            <a:endParaRPr lang="en-GB" b="0" dirty="0"/>
          </a:p>
          <a:p>
            <a:r>
              <a:rPr lang="en-GB" dirty="0" err="1"/>
              <a:t>buton_trimite</a:t>
            </a:r>
            <a:r>
              <a:rPr lang="en-GB" dirty="0"/>
              <a:t> = </a:t>
            </a:r>
            <a:r>
              <a:rPr lang="en-GB" dirty="0" err="1"/>
              <a:t>tk.Button</a:t>
            </a:r>
            <a:r>
              <a:rPr lang="en-GB" dirty="0"/>
              <a:t>(...)</a:t>
            </a:r>
            <a:br>
              <a:rPr lang="en-GB" dirty="0"/>
            </a:br>
            <a:r>
              <a:rPr lang="en-GB" b="0" dirty="0" err="1"/>
              <a:t>Creează</a:t>
            </a:r>
            <a:r>
              <a:rPr lang="en-GB" b="0" dirty="0"/>
              <a:t> </a:t>
            </a:r>
            <a:r>
              <a:rPr lang="en-GB" b="0" dirty="0" err="1"/>
              <a:t>butonul</a:t>
            </a:r>
            <a:r>
              <a:rPr lang="en-GB" b="0" dirty="0"/>
              <a:t> „TRIMITE”.</a:t>
            </a:r>
          </a:p>
          <a:p>
            <a:endParaRPr lang="en-GB" b="0" dirty="0"/>
          </a:p>
          <a:p>
            <a:r>
              <a:rPr lang="en-GB" dirty="0"/>
              <a:t>command=</a:t>
            </a:r>
            <a:r>
              <a:rPr lang="en-GB" dirty="0" err="1"/>
              <a:t>trimite_mesaj</a:t>
            </a:r>
            <a:br>
              <a:rPr lang="en-GB" dirty="0"/>
            </a:br>
            <a:r>
              <a:rPr lang="en-GB" b="0" dirty="0" err="1"/>
              <a:t>Leagă</a:t>
            </a:r>
            <a:r>
              <a:rPr lang="en-GB" b="0" dirty="0"/>
              <a:t> </a:t>
            </a:r>
            <a:r>
              <a:rPr lang="en-GB" b="0" dirty="0" err="1"/>
              <a:t>butonul</a:t>
            </a:r>
            <a:r>
              <a:rPr lang="en-GB" b="0" dirty="0"/>
              <a:t> de </a:t>
            </a:r>
            <a:r>
              <a:rPr lang="en-GB" b="0" dirty="0" err="1"/>
              <a:t>funcția</a:t>
            </a:r>
            <a:r>
              <a:rPr lang="en-GB" b="0" dirty="0"/>
              <a:t> care </a:t>
            </a:r>
            <a:r>
              <a:rPr lang="en-GB" b="0" dirty="0" err="1"/>
              <a:t>trimite</a:t>
            </a:r>
            <a:r>
              <a:rPr lang="en-GB" b="0" dirty="0"/>
              <a:t> </a:t>
            </a:r>
            <a:r>
              <a:rPr lang="en-GB" b="0" dirty="0" err="1"/>
              <a:t>mesajul</a:t>
            </a:r>
            <a:r>
              <a:rPr lang="en-GB" b="0" dirty="0"/>
              <a:t>.</a:t>
            </a:r>
          </a:p>
          <a:p>
            <a:endParaRPr lang="en-GB" b="0" dirty="0"/>
          </a:p>
          <a:p>
            <a:r>
              <a:rPr lang="en-GB" dirty="0" err="1"/>
              <a:t>buton_trimite.pack</a:t>
            </a:r>
            <a:r>
              <a:rPr lang="en-GB" dirty="0"/>
              <a:t>(...)</a:t>
            </a:r>
            <a:br>
              <a:rPr lang="en-GB" dirty="0"/>
            </a:br>
            <a:r>
              <a:rPr lang="en-GB" b="0" dirty="0" err="1"/>
              <a:t>Afișează</a:t>
            </a:r>
            <a:r>
              <a:rPr lang="en-GB" b="0" dirty="0"/>
              <a:t> </a:t>
            </a:r>
            <a:r>
              <a:rPr lang="en-GB" b="0" dirty="0" err="1"/>
              <a:t>butonul</a:t>
            </a:r>
            <a:r>
              <a:rPr lang="en-GB" b="0" dirty="0"/>
              <a:t> </a:t>
            </a:r>
            <a:r>
              <a:rPr lang="en-GB" b="0" dirty="0" err="1"/>
              <a:t>în</a:t>
            </a:r>
            <a:r>
              <a:rPr lang="en-GB" b="0" dirty="0"/>
              <a:t> </a:t>
            </a:r>
            <a:r>
              <a:rPr lang="en-GB" b="0" dirty="0" err="1"/>
              <a:t>fereastră</a:t>
            </a:r>
            <a:r>
              <a:rPr lang="en-GB" b="0" dirty="0"/>
              <a:t>.</a:t>
            </a:r>
          </a:p>
          <a:p>
            <a:endParaRPr lang="en-GB" b="0" dirty="0"/>
          </a:p>
          <a:p>
            <a:r>
              <a:rPr lang="en-GB" dirty="0" err="1"/>
              <a:t>buton_actualizare</a:t>
            </a:r>
            <a:r>
              <a:rPr lang="en-GB" dirty="0"/>
              <a:t> = </a:t>
            </a:r>
            <a:r>
              <a:rPr lang="en-GB" dirty="0" err="1"/>
              <a:t>tk.Button</a:t>
            </a:r>
            <a:r>
              <a:rPr lang="en-GB" dirty="0"/>
              <a:t>(...)</a:t>
            </a:r>
            <a:br>
              <a:rPr lang="en-GB" dirty="0"/>
            </a:br>
            <a:r>
              <a:rPr lang="en-GB" b="0" dirty="0" err="1"/>
              <a:t>Creează</a:t>
            </a:r>
            <a:r>
              <a:rPr lang="en-GB" b="0" dirty="0"/>
              <a:t> </a:t>
            </a:r>
            <a:r>
              <a:rPr lang="en-GB" b="0" dirty="0" err="1"/>
              <a:t>butonul</a:t>
            </a:r>
            <a:r>
              <a:rPr lang="en-GB" b="0" dirty="0"/>
              <a:t> „ACTUALIZEAZA CHAT”.</a:t>
            </a:r>
          </a:p>
          <a:p>
            <a:endParaRPr lang="en-GB" b="0" dirty="0"/>
          </a:p>
          <a:p>
            <a:r>
              <a:rPr lang="en-GB" dirty="0"/>
              <a:t>command=</a:t>
            </a:r>
            <a:r>
              <a:rPr lang="en-GB" dirty="0" err="1"/>
              <a:t>actualizeaza_chat</a:t>
            </a:r>
            <a:br>
              <a:rPr lang="en-GB" dirty="0"/>
            </a:br>
            <a:r>
              <a:rPr lang="en-GB" b="0" dirty="0" err="1"/>
              <a:t>Leagă</a:t>
            </a:r>
            <a:r>
              <a:rPr lang="en-GB" b="0" dirty="0"/>
              <a:t> </a:t>
            </a:r>
            <a:r>
              <a:rPr lang="en-GB" b="0" dirty="0" err="1"/>
              <a:t>butonul</a:t>
            </a:r>
            <a:r>
              <a:rPr lang="en-GB" b="0" dirty="0"/>
              <a:t> de </a:t>
            </a:r>
            <a:r>
              <a:rPr lang="en-GB" b="0" dirty="0" err="1"/>
              <a:t>funcția</a:t>
            </a:r>
            <a:r>
              <a:rPr lang="en-GB" b="0" dirty="0"/>
              <a:t> care cere </a:t>
            </a:r>
            <a:r>
              <a:rPr lang="en-GB" b="0" dirty="0" err="1"/>
              <a:t>ultimele</a:t>
            </a:r>
            <a:r>
              <a:rPr lang="en-GB" b="0" dirty="0"/>
              <a:t> </a:t>
            </a:r>
            <a:r>
              <a:rPr lang="en-GB" b="0" dirty="0" err="1"/>
              <a:t>mesaje</a:t>
            </a:r>
            <a:r>
              <a:rPr lang="en-GB" b="0" dirty="0"/>
              <a:t> de la server.</a:t>
            </a:r>
          </a:p>
          <a:p>
            <a:endParaRPr lang="en-GB" b="0" dirty="0"/>
          </a:p>
          <a:p>
            <a:r>
              <a:rPr lang="en-GB" dirty="0" err="1"/>
              <a:t>buton_actualizare.pack</a:t>
            </a:r>
            <a:r>
              <a:rPr lang="en-GB" dirty="0"/>
              <a:t>(...)</a:t>
            </a:r>
            <a:br>
              <a:rPr lang="en-GB" dirty="0"/>
            </a:br>
            <a:r>
              <a:rPr lang="en-GB" b="0" dirty="0" err="1"/>
              <a:t>Afișează</a:t>
            </a:r>
            <a:r>
              <a:rPr lang="en-GB" b="0" dirty="0"/>
              <a:t> </a:t>
            </a:r>
            <a:r>
              <a:rPr lang="en-GB" b="0" dirty="0" err="1"/>
              <a:t>butonul</a:t>
            </a:r>
            <a:r>
              <a:rPr lang="en-GB" b="0" dirty="0"/>
              <a:t> </a:t>
            </a:r>
            <a:r>
              <a:rPr lang="en-GB" b="0" dirty="0" err="1"/>
              <a:t>în</a:t>
            </a:r>
            <a:r>
              <a:rPr lang="en-GB" b="0" dirty="0"/>
              <a:t> </a:t>
            </a:r>
            <a:r>
              <a:rPr lang="en-GB" b="0" dirty="0" err="1"/>
              <a:t>fereastră</a:t>
            </a:r>
            <a:r>
              <a:rPr lang="en-GB" b="0" dirty="0"/>
              <a:t>.</a:t>
            </a:r>
          </a:p>
          <a:p>
            <a:endParaRPr lang="en-GB" b="0" dirty="0"/>
          </a:p>
          <a:p>
            <a:r>
              <a:rPr lang="en-GB" dirty="0" err="1"/>
              <a:t>fereastra.mainloop</a:t>
            </a:r>
            <a:r>
              <a:rPr lang="en-GB" dirty="0"/>
              <a:t>()</a:t>
            </a:r>
            <a:br>
              <a:rPr lang="en-GB" dirty="0"/>
            </a:br>
            <a:r>
              <a:rPr lang="en-GB" b="0" dirty="0" err="1"/>
              <a:t>Pornește</a:t>
            </a:r>
            <a:r>
              <a:rPr lang="en-GB" b="0" dirty="0"/>
              <a:t> </a:t>
            </a:r>
            <a:r>
              <a:rPr lang="en-GB" b="0" dirty="0" err="1"/>
              <a:t>bucla</a:t>
            </a:r>
            <a:r>
              <a:rPr lang="en-GB" b="0" dirty="0"/>
              <a:t> </a:t>
            </a:r>
            <a:r>
              <a:rPr lang="en-GB" b="0" dirty="0" err="1"/>
              <a:t>principală</a:t>
            </a:r>
            <a:r>
              <a:rPr lang="en-GB" b="0" dirty="0"/>
              <a:t> a </a:t>
            </a:r>
            <a:r>
              <a:rPr lang="en-GB" b="0" dirty="0" err="1"/>
              <a:t>interfeței</a:t>
            </a:r>
            <a:r>
              <a:rPr lang="en-GB" b="0" dirty="0"/>
              <a:t> </a:t>
            </a:r>
            <a:r>
              <a:rPr lang="en-GB" b="0" dirty="0" err="1"/>
              <a:t>grafice</a:t>
            </a:r>
            <a:r>
              <a:rPr lang="en-GB" b="0" dirty="0"/>
              <a:t> </a:t>
            </a:r>
            <a:r>
              <a:rPr lang="en-GB" b="0" dirty="0" err="1"/>
              <a:t>și</a:t>
            </a:r>
            <a:r>
              <a:rPr lang="en-GB" b="0" dirty="0"/>
              <a:t> </a:t>
            </a:r>
            <a:r>
              <a:rPr lang="en-GB" b="0" dirty="0" err="1"/>
              <a:t>menține</a:t>
            </a:r>
            <a:r>
              <a:rPr lang="en-GB" b="0" dirty="0"/>
              <a:t> </a:t>
            </a:r>
            <a:r>
              <a:rPr lang="en-GB" b="0" dirty="0" err="1"/>
              <a:t>aplicația</a:t>
            </a:r>
            <a:r>
              <a:rPr lang="en-GB" b="0" dirty="0"/>
              <a:t> </a:t>
            </a:r>
            <a:r>
              <a:rPr lang="en-GB" b="0" dirty="0" err="1"/>
              <a:t>deschisă</a:t>
            </a:r>
            <a:r>
              <a:rPr lang="en-GB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22001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6B9A7D-A769-D817-BA91-A8C8169C8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41273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3FC563-2633-9B8F-F442-D6DC9723E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789" y="141459"/>
            <a:ext cx="5604279" cy="44240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90DA8BF-26AC-8292-0DCA-B12C49709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747" y="5141056"/>
            <a:ext cx="3835217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Testare:</a:t>
            </a:r>
            <a:br>
              <a:rPr lang="en-US" dirty="0"/>
            </a:br>
            <a:r>
              <a:rPr lang="en-US" dirty="0" err="1"/>
              <a:t>Clienti</a:t>
            </a:r>
            <a:r>
              <a:rPr lang="en-US" dirty="0"/>
              <a:t> - Server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E83683-0C84-52B2-E9C7-EAA14388BBA2}"/>
              </a:ext>
            </a:extLst>
          </p:cNvPr>
          <p:cNvCxnSpPr>
            <a:cxnSpLocks/>
          </p:cNvCxnSpPr>
          <p:nvPr/>
        </p:nvCxnSpPr>
        <p:spPr>
          <a:xfrm>
            <a:off x="7091534" y="5788283"/>
            <a:ext cx="495253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737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D05F7-6DBE-9532-A934-04F1F9CEC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3671679F-EF96-813F-D6B6-DBA471709802}"/>
              </a:ext>
            </a:extLst>
          </p:cNvPr>
          <p:cNvSpPr/>
          <p:nvPr/>
        </p:nvSpPr>
        <p:spPr>
          <a:xfrm>
            <a:off x="1748078" y="979590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73A562-2E2B-D507-B7CB-CD2429B4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278" y="2120208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Verificare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integritate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documente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1124A4-96AB-5115-84F7-2D163BE83549}"/>
              </a:ext>
            </a:extLst>
          </p:cNvPr>
          <p:cNvGrpSpPr/>
          <p:nvPr/>
        </p:nvGrpSpPr>
        <p:grpSpPr>
          <a:xfrm>
            <a:off x="2229216" y="5025525"/>
            <a:ext cx="7368924" cy="961619"/>
            <a:chOff x="2327526" y="5538642"/>
            <a:chExt cx="7368924" cy="96161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5188A39-CC5D-7901-DA9F-1F0CDA506D5A}"/>
                </a:ext>
              </a:extLst>
            </p:cNvPr>
            <p:cNvSpPr/>
            <p:nvPr/>
          </p:nvSpPr>
          <p:spPr>
            <a:xfrm>
              <a:off x="2327526" y="5756431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Client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8A2DC41-DDA1-75F2-8194-017367666AD7}"/>
                </a:ext>
              </a:extLst>
            </p:cNvPr>
            <p:cNvSpPr/>
            <p:nvPr/>
          </p:nvSpPr>
          <p:spPr>
            <a:xfrm>
              <a:off x="7512415" y="5756430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Server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6E2F67-FEA2-56BF-7FC9-BBF03396F483}"/>
                </a:ext>
              </a:extLst>
            </p:cNvPr>
            <p:cNvSpPr txBox="1"/>
            <p:nvPr/>
          </p:nvSpPr>
          <p:spPr>
            <a:xfrm>
              <a:off x="5643916" y="5538642"/>
              <a:ext cx="12450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rgbClr val="E97132">
                      <a:lumMod val="60000"/>
                      <a:lumOff val="40000"/>
                    </a:srgbClr>
                  </a:solidFill>
                  <a:latin typeface="Aptos" panose="02110004020202020204"/>
                </a:rPr>
                <a:t>t</a:t>
              </a:r>
              <a:r>
                <a:rPr lang="en-GB" dirty="0" err="1">
                  <a:solidFill>
                    <a:srgbClr val="E97132">
                      <a:lumMod val="60000"/>
                      <a:lumOff val="40000"/>
                    </a:srgbClr>
                  </a:solidFill>
                  <a:latin typeface="Aptos" panose="02110004020202020204"/>
                </a:rPr>
                <a:t>ext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6BC674C-A87D-8DE5-B4D3-7F08D0517E6F}"/>
                </a:ext>
              </a:extLst>
            </p:cNvPr>
            <p:cNvSpPr txBox="1"/>
            <p:nvPr/>
          </p:nvSpPr>
          <p:spPr>
            <a:xfrm>
              <a:off x="5518835" y="6130929"/>
              <a:ext cx="11586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P:port</a:t>
              </a:r>
            </a:p>
          </p:txBody>
        </p:sp>
        <p:sp>
          <p:nvSpPr>
            <p:cNvPr id="10" name="Arrow: Left-Right 9">
              <a:extLst>
                <a:ext uri="{FF2B5EF4-FFF2-40B4-BE49-F238E27FC236}">
                  <a16:creationId xmlns:a16="http://schemas.microsoft.com/office/drawing/2014/main" id="{004938F9-214C-E937-2412-2B3543788AD7}"/>
                </a:ext>
              </a:extLst>
            </p:cNvPr>
            <p:cNvSpPr/>
            <p:nvPr/>
          </p:nvSpPr>
          <p:spPr>
            <a:xfrm>
              <a:off x="4627689" y="5857142"/>
              <a:ext cx="2743200" cy="357739"/>
            </a:xfrm>
            <a:prstGeom prst="left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8837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239474B6-13D7-350A-88EA-0E24683CC8A8}"/>
              </a:ext>
            </a:extLst>
          </p:cNvPr>
          <p:cNvSpPr/>
          <p:nvPr/>
        </p:nvSpPr>
        <p:spPr>
          <a:xfrm>
            <a:off x="6025829" y="1874255"/>
            <a:ext cx="5862293" cy="3349008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3578C-E115-2FC3-F927-FF9807D5B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Server care verifică hash-uri documente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315071-3CCC-E37D-95A5-9B0A12A59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94" y="2000561"/>
            <a:ext cx="5093561" cy="23198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C7BB06-7135-69E4-0DBE-0FD6886F3A49}"/>
              </a:ext>
            </a:extLst>
          </p:cNvPr>
          <p:cNvCxnSpPr>
            <a:cxnSpLocks/>
          </p:cNvCxnSpPr>
          <p:nvPr/>
        </p:nvCxnSpPr>
        <p:spPr>
          <a:xfrm>
            <a:off x="329753" y="1538625"/>
            <a:ext cx="11333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4DBEBA-8E01-B8A4-FCD3-90F6085BDA18}"/>
              </a:ext>
            </a:extLst>
          </p:cNvPr>
          <p:cNvSpPr/>
          <p:nvPr/>
        </p:nvSpPr>
        <p:spPr>
          <a:xfrm>
            <a:off x="6362883" y="3799799"/>
            <a:ext cx="1485169" cy="55916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 1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74316C-5C71-6441-9840-669605417B4D}"/>
              </a:ext>
            </a:extLst>
          </p:cNvPr>
          <p:cNvSpPr/>
          <p:nvPr/>
        </p:nvSpPr>
        <p:spPr>
          <a:xfrm>
            <a:off x="7899034" y="2219454"/>
            <a:ext cx="2184035" cy="55916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Server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5D3584-9B06-CA68-A403-6316B08A6695}"/>
              </a:ext>
            </a:extLst>
          </p:cNvPr>
          <p:cNvSpPr txBox="1"/>
          <p:nvPr/>
        </p:nvSpPr>
        <p:spPr>
          <a:xfrm>
            <a:off x="8119826" y="4320457"/>
            <a:ext cx="1485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Trimite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fisier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orice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mediu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E97132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046F37B9-DC9B-EACF-117F-6AFDB0D0C82B}"/>
              </a:ext>
            </a:extLst>
          </p:cNvPr>
          <p:cNvSpPr/>
          <p:nvPr/>
        </p:nvSpPr>
        <p:spPr>
          <a:xfrm rot="2951901">
            <a:off x="9671242" y="3131862"/>
            <a:ext cx="905621" cy="357739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B8FB56-98E4-6128-F0F4-965C90239AD2}"/>
              </a:ext>
            </a:extLst>
          </p:cNvPr>
          <p:cNvSpPr/>
          <p:nvPr/>
        </p:nvSpPr>
        <p:spPr>
          <a:xfrm>
            <a:off x="10025508" y="3799799"/>
            <a:ext cx="1581470" cy="55916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 2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A52E5C92-510C-461A-0914-C3E11C340442}"/>
              </a:ext>
            </a:extLst>
          </p:cNvPr>
          <p:cNvSpPr/>
          <p:nvPr/>
        </p:nvSpPr>
        <p:spPr>
          <a:xfrm rot="18902134">
            <a:off x="7460386" y="3131864"/>
            <a:ext cx="905621" cy="357739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76A0D6D-DAFA-9160-D186-0C58E4810D79}"/>
              </a:ext>
            </a:extLst>
          </p:cNvPr>
          <p:cNvSpPr/>
          <p:nvPr/>
        </p:nvSpPr>
        <p:spPr>
          <a:xfrm>
            <a:off x="8025669" y="3926412"/>
            <a:ext cx="1820989" cy="37497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E00121-AAE4-AC44-DB2B-9EC82D2054E3}"/>
              </a:ext>
            </a:extLst>
          </p:cNvPr>
          <p:cNvSpPr txBox="1"/>
          <p:nvPr/>
        </p:nvSpPr>
        <p:spPr>
          <a:xfrm>
            <a:off x="6223183" y="2827547"/>
            <a:ext cx="1587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stampileaza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E97132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D32A1D-6499-5477-06A6-112799ABF447}"/>
              </a:ext>
            </a:extLst>
          </p:cNvPr>
          <p:cNvSpPr txBox="1"/>
          <p:nvPr/>
        </p:nvSpPr>
        <p:spPr>
          <a:xfrm>
            <a:off x="10300275" y="2902956"/>
            <a:ext cx="1587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verifica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E97132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634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AF91A-2104-BBEE-CF16-AF56170E1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72" y="365125"/>
            <a:ext cx="10515600" cy="1325563"/>
          </a:xfrm>
        </p:spPr>
        <p:txBody>
          <a:bodyPr/>
          <a:lstStyle/>
          <a:p>
            <a:r>
              <a:rPr lang="en-US" dirty="0" err="1"/>
              <a:t>Stampilare</a:t>
            </a:r>
            <a:r>
              <a:rPr lang="en-US" dirty="0"/>
              <a:t> </a:t>
            </a:r>
            <a:r>
              <a:rPr lang="en-US" dirty="0" err="1"/>
              <a:t>fisier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E9106-E754-B318-3C3C-981B83702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44" y="3102167"/>
            <a:ext cx="4587578" cy="22561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43BBA5-726D-4B20-0E05-B31F3F10F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456" y="3102167"/>
            <a:ext cx="6505600" cy="22591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09BDE5-B08D-7354-66C1-4A44151E2464}"/>
              </a:ext>
            </a:extLst>
          </p:cNvPr>
          <p:cNvSpPr txBox="1"/>
          <p:nvPr/>
        </p:nvSpPr>
        <p:spPr>
          <a:xfrm>
            <a:off x="450663" y="2436833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C:\Users\Paul\Desktop\NBD UPB\angajati.csv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22B5BC-326B-6619-C9A7-B006483917A9}"/>
              </a:ext>
            </a:extLst>
          </p:cNvPr>
          <p:cNvCxnSpPr>
            <a:cxnSpLocks/>
          </p:cNvCxnSpPr>
          <p:nvPr/>
        </p:nvCxnSpPr>
        <p:spPr>
          <a:xfrm>
            <a:off x="460944" y="1558361"/>
            <a:ext cx="11333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984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3AD52-727C-1DFF-ED14-900281C47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5885-43C3-708C-AE30-F061A657D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62" y="365125"/>
            <a:ext cx="10515600" cy="1325563"/>
          </a:xfrm>
        </p:spPr>
        <p:txBody>
          <a:bodyPr/>
          <a:lstStyle/>
          <a:p>
            <a:r>
              <a:rPr lang="en-US" dirty="0" err="1"/>
              <a:t>Verificare</a:t>
            </a:r>
            <a:r>
              <a:rPr lang="en-US" dirty="0"/>
              <a:t> </a:t>
            </a:r>
            <a:r>
              <a:rPr lang="en-US" dirty="0" err="1"/>
              <a:t>fisier</a:t>
            </a:r>
            <a:r>
              <a:rPr lang="en-US" dirty="0"/>
              <a:t> </a:t>
            </a:r>
            <a:r>
              <a:rPr lang="en-US" dirty="0" err="1"/>
              <a:t>primit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BF8C38-7FBC-CFFF-6FBE-CE2902E1F2D2}"/>
              </a:ext>
            </a:extLst>
          </p:cNvPr>
          <p:cNvSpPr txBox="1"/>
          <p:nvPr/>
        </p:nvSpPr>
        <p:spPr>
          <a:xfrm>
            <a:off x="450662" y="2535509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C:\Users\Paul\Desktop\NBD UPB\angajati.csv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12222B-5F94-BB07-859D-E735BD336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62" y="3102167"/>
            <a:ext cx="6861265" cy="22591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48CAEA-E2B9-68AC-0068-AF82BD12290A}"/>
              </a:ext>
            </a:extLst>
          </p:cNvPr>
          <p:cNvCxnSpPr>
            <a:cxnSpLocks/>
          </p:cNvCxnSpPr>
          <p:nvPr/>
        </p:nvCxnSpPr>
        <p:spPr>
          <a:xfrm>
            <a:off x="450662" y="1610987"/>
            <a:ext cx="11333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07C3A27-F585-7C6F-D0C6-AF0A2EE2B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633" y="205025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5918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FF54E-E45B-693E-46D6-B148AA143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6220" y="0"/>
            <a:ext cx="3617580" cy="953871"/>
          </a:xfrm>
        </p:spPr>
        <p:txBody>
          <a:bodyPr/>
          <a:lstStyle/>
          <a:p>
            <a:pPr algn="ctr"/>
            <a:r>
              <a:rPr lang="en-US" dirty="0"/>
              <a:t>client.py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FC21C2-CF9F-5981-90D7-1D6C6BC3F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31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9712F4-508A-8F6A-7C01-87B9F9A46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975" y="180260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12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4134-DF79-011D-197F-B7F3CB3C6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50E99A0A-4F3E-D45F-F9D2-9E3F1FB20A1F}"/>
              </a:ext>
            </a:extLst>
          </p:cNvPr>
          <p:cNvSpPr/>
          <p:nvPr/>
        </p:nvSpPr>
        <p:spPr>
          <a:xfrm>
            <a:off x="1748078" y="979590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05199F-5481-9EB3-4F11-57739CB6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278" y="2120208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Execuție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la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distanță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Python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prin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PHP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F8B96D-F22D-32DF-C887-0A88AE6391D1}"/>
              </a:ext>
            </a:extLst>
          </p:cNvPr>
          <p:cNvGrpSpPr/>
          <p:nvPr/>
        </p:nvGrpSpPr>
        <p:grpSpPr>
          <a:xfrm>
            <a:off x="2229216" y="5025525"/>
            <a:ext cx="7368924" cy="961619"/>
            <a:chOff x="2327526" y="5538642"/>
            <a:chExt cx="7368924" cy="96161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087AF33-BA04-9B23-4405-3AF17953CF19}"/>
                </a:ext>
              </a:extLst>
            </p:cNvPr>
            <p:cNvSpPr/>
            <p:nvPr/>
          </p:nvSpPr>
          <p:spPr>
            <a:xfrm>
              <a:off x="2327526" y="5756431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Client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E213B78-5E25-D196-D9CF-7E5D202A352F}"/>
                </a:ext>
              </a:extLst>
            </p:cNvPr>
            <p:cNvSpPr/>
            <p:nvPr/>
          </p:nvSpPr>
          <p:spPr>
            <a:xfrm>
              <a:off x="7512415" y="5756430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Server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F077CD-7910-69F1-35D9-5541EBDE0BF2}"/>
                </a:ext>
              </a:extLst>
            </p:cNvPr>
            <p:cNvSpPr txBox="1"/>
            <p:nvPr/>
          </p:nvSpPr>
          <p:spPr>
            <a:xfrm>
              <a:off x="5643916" y="5538642"/>
              <a:ext cx="12450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</a:t>
              </a:r>
              <a:r>
                <a:rPr kumimoji="0" lang="en-GB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ext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109FFAC-352F-2B2D-0C54-AA4F8F257423}"/>
                </a:ext>
              </a:extLst>
            </p:cNvPr>
            <p:cNvSpPr txBox="1"/>
            <p:nvPr/>
          </p:nvSpPr>
          <p:spPr>
            <a:xfrm>
              <a:off x="5518835" y="6130929"/>
              <a:ext cx="11586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P:port</a:t>
              </a:r>
            </a:p>
          </p:txBody>
        </p:sp>
        <p:sp>
          <p:nvSpPr>
            <p:cNvPr id="10" name="Arrow: Left-Right 9">
              <a:extLst>
                <a:ext uri="{FF2B5EF4-FFF2-40B4-BE49-F238E27FC236}">
                  <a16:creationId xmlns:a16="http://schemas.microsoft.com/office/drawing/2014/main" id="{B8143827-4322-5C58-46B1-1E1B977B7AD2}"/>
                </a:ext>
              </a:extLst>
            </p:cNvPr>
            <p:cNvSpPr/>
            <p:nvPr/>
          </p:nvSpPr>
          <p:spPr>
            <a:xfrm>
              <a:off x="4627689" y="5857142"/>
              <a:ext cx="2743200" cy="357739"/>
            </a:xfrm>
            <a:prstGeom prst="left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23425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9DA8-8B28-BB2F-C182-EF4FC1C1D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576" y="365125"/>
            <a:ext cx="6104223" cy="1325563"/>
          </a:xfr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client.py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9C8C27-2AA7-9927-3158-857571614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3901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D24CE3-1F03-7326-4B52-5AA78FE8B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52" y="225980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7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DA73-AAB8-E3A2-C193-7ADFF5AFE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46E259-3479-0C67-F3B7-DCB100E74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64" y="128127"/>
            <a:ext cx="9202434" cy="6601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068F6F-B5F1-EDD2-FE76-3F33C4AB4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9092" y="365125"/>
            <a:ext cx="3334708" cy="1325563"/>
          </a:xfr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index.php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2347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6B8AF-4647-D6FF-E40B-7E26A9A6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0E4CD-66C7-49EF-43E9-699FCED7F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3326" y="2424169"/>
            <a:ext cx="3591268" cy="2167566"/>
          </a:xfrm>
          <a:solidFill>
            <a:schemeClr val="accent2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Script popup de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executat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pe server, la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cerere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D3AA9-FB6D-57D9-44CB-C0690AFDD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94707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7B5ACA3-61C6-AAA2-9DD6-13ACC41AB824}"/>
              </a:ext>
            </a:extLst>
          </p:cNvPr>
          <p:cNvSpPr txBox="1">
            <a:spLocks/>
          </p:cNvSpPr>
          <p:nvPr/>
        </p:nvSpPr>
        <p:spPr>
          <a:xfrm>
            <a:off x="7703325" y="371704"/>
            <a:ext cx="3591267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fereastra.py</a:t>
            </a:r>
          </a:p>
        </p:txBody>
      </p:sp>
    </p:spTree>
    <p:extLst>
      <p:ext uri="{BB962C8B-B14F-4D97-AF65-F5344CB8AC3E}">
        <p14:creationId xmlns:p14="http://schemas.microsoft.com/office/powerpoint/2010/main" val="3033670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98A0F456-6C56-261C-C94A-A2DED67C0DE7}"/>
              </a:ext>
            </a:extLst>
          </p:cNvPr>
          <p:cNvSpPr/>
          <p:nvPr/>
        </p:nvSpPr>
        <p:spPr>
          <a:xfrm>
            <a:off x="478992" y="1062412"/>
            <a:ext cx="10961424" cy="5430463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02748-E2E9-4716-5F58-F1372A97E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107"/>
            <a:ext cx="10515600" cy="919293"/>
          </a:xfrm>
        </p:spPr>
        <p:txBody>
          <a:bodyPr/>
          <a:lstStyle/>
          <a:p>
            <a:r>
              <a:rPr lang="en-US" dirty="0"/>
              <a:t>Testare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F8D1F-BA05-9E52-C8A6-B1AABD721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85" y="2719103"/>
            <a:ext cx="6075818" cy="22103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E4C5AA-0DDF-F571-349D-3A87AF5BF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739" y="2715737"/>
            <a:ext cx="3597218" cy="22136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7A4A17E-498D-DEF4-4FB7-B506DD616383}"/>
              </a:ext>
            </a:extLst>
          </p:cNvPr>
          <p:cNvGrpSpPr/>
          <p:nvPr/>
        </p:nvGrpSpPr>
        <p:grpSpPr>
          <a:xfrm>
            <a:off x="3431205" y="1290997"/>
            <a:ext cx="7368924" cy="961619"/>
            <a:chOff x="2327526" y="5538642"/>
            <a:chExt cx="7368924" cy="96161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929BAF2-94CF-2E2B-E485-0A8B5E1D68A4}"/>
                </a:ext>
              </a:extLst>
            </p:cNvPr>
            <p:cNvSpPr/>
            <p:nvPr/>
          </p:nvSpPr>
          <p:spPr>
            <a:xfrm>
              <a:off x="2327526" y="5756431"/>
              <a:ext cx="2184035" cy="559165"/>
            </a:xfrm>
            <a:prstGeom prst="round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Client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E78E2BB-A85A-4112-8F02-6F5C1AF7212E}"/>
                </a:ext>
              </a:extLst>
            </p:cNvPr>
            <p:cNvSpPr/>
            <p:nvPr/>
          </p:nvSpPr>
          <p:spPr>
            <a:xfrm>
              <a:off x="7512415" y="5756430"/>
              <a:ext cx="2184035" cy="559165"/>
            </a:xfrm>
            <a:prstGeom prst="round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Server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032E24-A9CF-3563-CB07-7525974083BD}"/>
                </a:ext>
              </a:extLst>
            </p:cNvPr>
            <p:cNvSpPr txBox="1"/>
            <p:nvPr/>
          </p:nvSpPr>
          <p:spPr>
            <a:xfrm>
              <a:off x="5643916" y="5538642"/>
              <a:ext cx="124501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</a:t>
              </a:r>
              <a:r>
                <a:rPr kumimoji="0" lang="en-GB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ext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5BF888-973F-2FA3-295C-AFAF5F6D3C0D}"/>
                </a:ext>
              </a:extLst>
            </p:cNvPr>
            <p:cNvSpPr txBox="1"/>
            <p:nvPr/>
          </p:nvSpPr>
          <p:spPr>
            <a:xfrm>
              <a:off x="5518835" y="6130929"/>
              <a:ext cx="115862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P:port</a:t>
              </a:r>
            </a:p>
          </p:txBody>
        </p:sp>
        <p:sp>
          <p:nvSpPr>
            <p:cNvPr id="13" name="Arrow: Left-Right 12">
              <a:extLst>
                <a:ext uri="{FF2B5EF4-FFF2-40B4-BE49-F238E27FC236}">
                  <a16:creationId xmlns:a16="http://schemas.microsoft.com/office/drawing/2014/main" id="{CAA4DA47-C7FF-55BE-EDAC-7C9AD79A8455}"/>
                </a:ext>
              </a:extLst>
            </p:cNvPr>
            <p:cNvSpPr/>
            <p:nvPr/>
          </p:nvSpPr>
          <p:spPr>
            <a:xfrm>
              <a:off x="4627689" y="5857142"/>
              <a:ext cx="2743200" cy="357739"/>
            </a:xfrm>
            <a:prstGeom prst="leftRightArrow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867E1FB8-A1B2-06C4-40EE-40A72830B56D}"/>
              </a:ext>
            </a:extLst>
          </p:cNvPr>
          <p:cNvSpPr txBox="1">
            <a:spLocks/>
          </p:cNvSpPr>
          <p:nvPr/>
        </p:nvSpPr>
        <p:spPr>
          <a:xfrm>
            <a:off x="7440739" y="4929410"/>
            <a:ext cx="3591267" cy="97801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fereastra.py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A5E00F8-95E7-D722-9AD1-9BBF21FC1222}"/>
              </a:ext>
            </a:extLst>
          </p:cNvPr>
          <p:cNvSpPr txBox="1">
            <a:spLocks/>
          </p:cNvSpPr>
          <p:nvPr/>
        </p:nvSpPr>
        <p:spPr>
          <a:xfrm>
            <a:off x="1095934" y="4929410"/>
            <a:ext cx="6075818" cy="97801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client.py</a:t>
            </a:r>
          </a:p>
        </p:txBody>
      </p:sp>
    </p:spTree>
    <p:extLst>
      <p:ext uri="{BB962C8B-B14F-4D97-AF65-F5344CB8AC3E}">
        <p14:creationId xmlns:p14="http://schemas.microsoft.com/office/powerpoint/2010/main" val="42507507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CA840-BB85-BAE1-DD43-BF2DDDFE8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B1DC969E-3F77-BE36-E064-2937FBB1C4EE}"/>
              </a:ext>
            </a:extLst>
          </p:cNvPr>
          <p:cNvSpPr/>
          <p:nvPr/>
        </p:nvSpPr>
        <p:spPr>
          <a:xfrm>
            <a:off x="1748078" y="979590"/>
            <a:ext cx="8461626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0B53FA-0D68-DABE-7043-1FE9FFD5E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002" y="2097983"/>
            <a:ext cx="7959725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Execuție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la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distanta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a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fisierelor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compilate</a:t>
            </a:r>
            <a:br>
              <a:rPr lang="en-GB" sz="7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(*.exe)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526C09-4590-A152-FF55-FD0B2EA316A3}"/>
              </a:ext>
            </a:extLst>
          </p:cNvPr>
          <p:cNvGrpSpPr/>
          <p:nvPr/>
        </p:nvGrpSpPr>
        <p:grpSpPr>
          <a:xfrm>
            <a:off x="2229216" y="5025525"/>
            <a:ext cx="7368924" cy="961619"/>
            <a:chOff x="2327526" y="5538642"/>
            <a:chExt cx="7368924" cy="96161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8E89E17-F038-A882-9454-8F8EA14A7928}"/>
                </a:ext>
              </a:extLst>
            </p:cNvPr>
            <p:cNvSpPr/>
            <p:nvPr/>
          </p:nvSpPr>
          <p:spPr>
            <a:xfrm>
              <a:off x="2327526" y="5756431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Client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9712F25-739E-EB4E-1506-F3BEE8631EC3}"/>
                </a:ext>
              </a:extLst>
            </p:cNvPr>
            <p:cNvSpPr/>
            <p:nvPr/>
          </p:nvSpPr>
          <p:spPr>
            <a:xfrm>
              <a:off x="7512415" y="5756430"/>
              <a:ext cx="2184035" cy="5591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Server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7ED78C-7E38-71AF-3BB8-F15261F51F19}"/>
                </a:ext>
              </a:extLst>
            </p:cNvPr>
            <p:cNvSpPr txBox="1"/>
            <p:nvPr/>
          </p:nvSpPr>
          <p:spPr>
            <a:xfrm>
              <a:off x="5643916" y="5538642"/>
              <a:ext cx="12450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</a:t>
              </a:r>
              <a:r>
                <a:rPr kumimoji="0" lang="en-GB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ext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738278-46F5-D18B-804D-4A51A0D08A38}"/>
                </a:ext>
              </a:extLst>
            </p:cNvPr>
            <p:cNvSpPr txBox="1"/>
            <p:nvPr/>
          </p:nvSpPr>
          <p:spPr>
            <a:xfrm>
              <a:off x="5518835" y="6130929"/>
              <a:ext cx="11586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P:port</a:t>
              </a:r>
            </a:p>
          </p:txBody>
        </p:sp>
        <p:sp>
          <p:nvSpPr>
            <p:cNvPr id="10" name="Arrow: Left-Right 9">
              <a:extLst>
                <a:ext uri="{FF2B5EF4-FFF2-40B4-BE49-F238E27FC236}">
                  <a16:creationId xmlns:a16="http://schemas.microsoft.com/office/drawing/2014/main" id="{04423F7D-4AC6-E2D1-BA74-663162C226F9}"/>
                </a:ext>
              </a:extLst>
            </p:cNvPr>
            <p:cNvSpPr/>
            <p:nvPr/>
          </p:nvSpPr>
          <p:spPr>
            <a:xfrm>
              <a:off x="4627689" y="5857142"/>
              <a:ext cx="2743200" cy="357739"/>
            </a:xfrm>
            <a:prstGeom prst="left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41490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4F334-7812-C1D0-5DAE-906AA4A5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Compilare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CD11DE-ABAC-0A19-ED73-227C23D458FD}"/>
              </a:ext>
            </a:extLst>
          </p:cNvPr>
          <p:cNvSpPr txBox="1"/>
          <p:nvPr/>
        </p:nvSpPr>
        <p:spPr>
          <a:xfrm>
            <a:off x="909467" y="2178106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pip install pyinstaller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887F1F-6000-1C6F-8717-02946F076F4F}"/>
              </a:ext>
            </a:extLst>
          </p:cNvPr>
          <p:cNvSpPr txBox="1"/>
          <p:nvPr/>
        </p:nvSpPr>
        <p:spPr>
          <a:xfrm>
            <a:off x="909467" y="2644886"/>
            <a:ext cx="7846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pyinstaller --</a:t>
            </a:r>
            <a:r>
              <a:rPr lang="en-GB" dirty="0" err="1"/>
              <a:t>onefile</a:t>
            </a:r>
            <a:r>
              <a:rPr lang="en-GB" dirty="0"/>
              <a:t> --windowed c:/xampp/htdocs/exe/fereastra.py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EF3DA1-1A1E-3AAF-6FCD-226A14EC3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00" y="3243522"/>
            <a:ext cx="6471479" cy="29927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C80BA5-ED9B-66D6-4472-C5AB505EB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735" y="440310"/>
            <a:ext cx="7622276" cy="14110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E10199-8DD1-2FAA-8532-DBD6DB9C6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873" y="3243522"/>
            <a:ext cx="3419738" cy="21044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6E5765-ACE5-1CA6-FB79-E0277B56E5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6873" y="5772176"/>
            <a:ext cx="2114845" cy="419158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15FEC64C-9B08-1167-DBE4-3AD792A664E4}"/>
              </a:ext>
            </a:extLst>
          </p:cNvPr>
          <p:cNvSpPr/>
          <p:nvPr/>
        </p:nvSpPr>
        <p:spPr>
          <a:xfrm flipH="1">
            <a:off x="10203672" y="5772176"/>
            <a:ext cx="1132938" cy="419158"/>
          </a:xfrm>
          <a:prstGeom prst="rightArrow">
            <a:avLst>
              <a:gd name="adj1" fmla="val 50000"/>
              <a:gd name="adj2" fmla="val 100222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421668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0E6DB-1023-78C0-7832-7F2388DC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CD64F0FA-8021-EC22-17D4-11581FD53E63}"/>
              </a:ext>
            </a:extLst>
          </p:cNvPr>
          <p:cNvSpPr/>
          <p:nvPr/>
        </p:nvSpPr>
        <p:spPr>
          <a:xfrm>
            <a:off x="478992" y="1062412"/>
            <a:ext cx="10961424" cy="5430463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AF463-8B96-7578-FAA6-9D5E41EC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107"/>
            <a:ext cx="10515600" cy="919293"/>
          </a:xfrm>
        </p:spPr>
        <p:txBody>
          <a:bodyPr/>
          <a:lstStyle/>
          <a:p>
            <a:r>
              <a:rPr lang="en-US" dirty="0"/>
              <a:t>Testare </a:t>
            </a:r>
            <a:r>
              <a:rPr lang="en-US" dirty="0" err="1"/>
              <a:t>este</a:t>
            </a:r>
            <a:r>
              <a:rPr lang="en-US" dirty="0"/>
              <a:t> la </a:t>
            </a:r>
            <a:r>
              <a:rPr lang="en-US" dirty="0" err="1"/>
              <a:t>fel</a:t>
            </a:r>
            <a:r>
              <a:rPr lang="en-US" dirty="0"/>
              <a:t> ca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precedenta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CC463-B749-266D-1108-90A94FE2F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85" y="2719103"/>
            <a:ext cx="6075818" cy="22103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D84FF1-762B-F5D9-D880-E8DE0CBE8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739" y="2715737"/>
            <a:ext cx="3597218" cy="22136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5AEAE38-CF42-1F0D-A9F5-758823A5A84F}"/>
              </a:ext>
            </a:extLst>
          </p:cNvPr>
          <p:cNvGrpSpPr/>
          <p:nvPr/>
        </p:nvGrpSpPr>
        <p:grpSpPr>
          <a:xfrm>
            <a:off x="6762613" y="1290997"/>
            <a:ext cx="4037516" cy="721999"/>
            <a:chOff x="2327526" y="5538642"/>
            <a:chExt cx="7368924" cy="96161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DA77DEF-DE89-C491-469C-E62EBC617567}"/>
                </a:ext>
              </a:extLst>
            </p:cNvPr>
            <p:cNvSpPr/>
            <p:nvPr/>
          </p:nvSpPr>
          <p:spPr>
            <a:xfrm>
              <a:off x="2327526" y="5756431"/>
              <a:ext cx="2184035" cy="559165"/>
            </a:xfrm>
            <a:prstGeom prst="round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Client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3D7E65D-4672-88BB-FE41-2EEDD984A66D}"/>
                </a:ext>
              </a:extLst>
            </p:cNvPr>
            <p:cNvSpPr/>
            <p:nvPr/>
          </p:nvSpPr>
          <p:spPr>
            <a:xfrm>
              <a:off x="7512415" y="5756430"/>
              <a:ext cx="2184035" cy="559165"/>
            </a:xfrm>
            <a:prstGeom prst="round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Server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463E37-FE7D-20C6-29F6-0119FAD79BAD}"/>
                </a:ext>
              </a:extLst>
            </p:cNvPr>
            <p:cNvSpPr txBox="1"/>
            <p:nvPr/>
          </p:nvSpPr>
          <p:spPr>
            <a:xfrm>
              <a:off x="5643916" y="5538642"/>
              <a:ext cx="1245010" cy="3484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ext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FBF300-478D-DA7C-1528-5D9B02B0D574}"/>
                </a:ext>
              </a:extLst>
            </p:cNvPr>
            <p:cNvSpPr txBox="1"/>
            <p:nvPr/>
          </p:nvSpPr>
          <p:spPr>
            <a:xfrm>
              <a:off x="5518835" y="6130929"/>
              <a:ext cx="115862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P:port</a:t>
              </a:r>
            </a:p>
          </p:txBody>
        </p:sp>
        <p:sp>
          <p:nvSpPr>
            <p:cNvPr id="13" name="Arrow: Left-Right 12">
              <a:extLst>
                <a:ext uri="{FF2B5EF4-FFF2-40B4-BE49-F238E27FC236}">
                  <a16:creationId xmlns:a16="http://schemas.microsoft.com/office/drawing/2014/main" id="{DDE7C7A4-767A-C264-F84A-F5BFDFEBE8E2}"/>
                </a:ext>
              </a:extLst>
            </p:cNvPr>
            <p:cNvSpPr/>
            <p:nvPr/>
          </p:nvSpPr>
          <p:spPr>
            <a:xfrm>
              <a:off x="4627689" y="5857142"/>
              <a:ext cx="2743200" cy="357739"/>
            </a:xfrm>
            <a:prstGeom prst="leftRightArrow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6E0E5805-8669-426F-63FA-EA931FEA6C73}"/>
              </a:ext>
            </a:extLst>
          </p:cNvPr>
          <p:cNvSpPr txBox="1">
            <a:spLocks/>
          </p:cNvSpPr>
          <p:nvPr/>
        </p:nvSpPr>
        <p:spPr>
          <a:xfrm>
            <a:off x="7440739" y="4929410"/>
            <a:ext cx="3591267" cy="97801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fereastra.exe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48EF174-817D-7D3D-1F45-D1F0E6996EAD}"/>
              </a:ext>
            </a:extLst>
          </p:cNvPr>
          <p:cNvSpPr txBox="1">
            <a:spLocks/>
          </p:cNvSpPr>
          <p:nvPr/>
        </p:nvSpPr>
        <p:spPr>
          <a:xfrm>
            <a:off x="1095934" y="4929410"/>
            <a:ext cx="6075818" cy="97801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client.py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466A5-1832-B1CB-064F-835A2AF39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133" y="1414161"/>
            <a:ext cx="3861401" cy="92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3285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45CF7-1C91-8859-1C1C-5BA0A39F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07F115-27D4-6409-4402-BE5AE6167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650" y="2018509"/>
            <a:ext cx="3670069" cy="3968262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34E66020-5D37-54F4-5532-A744C8C185B9}"/>
              </a:ext>
            </a:extLst>
          </p:cNvPr>
          <p:cNvSpPr/>
          <p:nvPr/>
        </p:nvSpPr>
        <p:spPr>
          <a:xfrm>
            <a:off x="3807181" y="1160913"/>
            <a:ext cx="2392659" cy="893518"/>
          </a:xfrm>
          <a:prstGeom prst="wedgeRoundRectCallout">
            <a:avLst>
              <a:gd name="adj1" fmla="val 47328"/>
              <a:gd name="adj2" fmla="val 113468"/>
              <a:gd name="adj3" fmla="val 1666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Ză end!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365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1597</Words>
  <Application>Microsoft Office PowerPoint</Application>
  <PresentationFormat>Widescreen</PresentationFormat>
  <Paragraphs>243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Aptos</vt:lpstr>
      <vt:lpstr>Aptos Display</vt:lpstr>
      <vt:lpstr>Arial</vt:lpstr>
      <vt:lpstr>Calibri</vt:lpstr>
      <vt:lpstr>Courier New</vt:lpstr>
      <vt:lpstr>Office Theme</vt:lpstr>
      <vt:lpstr>1_Office Theme</vt:lpstr>
      <vt:lpstr>Sisteme Client-Server și Execuție la Distanță în Python</vt:lpstr>
      <vt:lpstr>Cuprins</vt:lpstr>
      <vt:lpstr>Titluri sectiuni:</vt:lpstr>
      <vt:lpstr>endpoint HTTP</vt:lpstr>
      <vt:lpstr>Server local XAMPP</vt:lpstr>
      <vt:lpstr>Trimiterea de mesaje text pe serverul de la distanta</vt:lpstr>
      <vt:lpstr>Serverul central asteapta mesaje de la client …</vt:lpstr>
      <vt:lpstr>Mesajele se trimit din consola:</vt:lpstr>
      <vt:lpstr>Scrieti partea de client:</vt:lpstr>
      <vt:lpstr>Wireshark ! de ce criptari?</vt:lpstr>
      <vt:lpstr>Injectie trend</vt:lpstr>
      <vt:lpstr>Injectie de valori</vt:lpstr>
      <vt:lpstr>Rezultat !</vt:lpstr>
      <vt:lpstr>Upload de fisiere pe serverul de la distanta</vt:lpstr>
      <vt:lpstr>Upload de fisiere pe serverul de la distanta:</vt:lpstr>
      <vt:lpstr>Transferul se face din consola:</vt:lpstr>
      <vt:lpstr>Dupa primirea fisierului:</vt:lpstr>
      <vt:lpstr>PowerPoint Presentation</vt:lpstr>
      <vt:lpstr>Upload + răspuns structurat + info fișier primit.</vt:lpstr>
      <vt:lpstr>Exercitiu! Ne mutam pe endpoint-ul:</vt:lpstr>
      <vt:lpstr>Modificati client.py prin adaugarea modulului de salvare a raspunsului in fisier JSON</vt:lpstr>
      <vt:lpstr>Upload + răspuns structurat + listă de fișiere primite.</vt:lpstr>
      <vt:lpstr>Ne mutam pe: upload_si_primeste_lista_json</vt:lpstr>
      <vt:lpstr>Chat</vt:lpstr>
      <vt:lpstr>Server</vt:lpstr>
      <vt:lpstr>PowerPoint Presentation</vt:lpstr>
      <vt:lpstr>PowerPoint Presentation</vt:lpstr>
      <vt:lpstr>PowerPoint Presentation</vt:lpstr>
      <vt:lpstr>Testare: Clienti - Server</vt:lpstr>
      <vt:lpstr>Verificare integritate documente</vt:lpstr>
      <vt:lpstr>Server care verifică hash-uri documente</vt:lpstr>
      <vt:lpstr>Stampilare fisier</vt:lpstr>
      <vt:lpstr>Verificare fisier primit</vt:lpstr>
      <vt:lpstr>client.py</vt:lpstr>
      <vt:lpstr>Execuție la distanță Python prin PHP</vt:lpstr>
      <vt:lpstr>client.py</vt:lpstr>
      <vt:lpstr>index.php</vt:lpstr>
      <vt:lpstr>Script popup de executat pe server, la cerere!</vt:lpstr>
      <vt:lpstr>Testare</vt:lpstr>
      <vt:lpstr>Execuție la distanta a fisierelor compilate (*.exe)</vt:lpstr>
      <vt:lpstr>Compilare</vt:lpstr>
      <vt:lpstr>Testare este la fel ca cea precedenta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Gagniuc</dc:creator>
  <cp:lastModifiedBy>Paul Gagniuc</cp:lastModifiedBy>
  <cp:revision>85</cp:revision>
  <dcterms:created xsi:type="dcterms:W3CDTF">2026-05-27T15:31:03Z</dcterms:created>
  <dcterms:modified xsi:type="dcterms:W3CDTF">2026-07-09T23:23:04Z</dcterms:modified>
</cp:coreProperties>
</file>